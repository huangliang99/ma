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56" r:id="rId2"/>
  </p:sldMasterIdLst>
  <p:notesMasterIdLst>
    <p:notesMasterId r:id="rId20"/>
  </p:notesMasterIdLst>
  <p:handoutMasterIdLst>
    <p:handoutMasterId r:id="rId21"/>
  </p:handoutMasterIdLst>
  <p:sldIdLst>
    <p:sldId id="285" r:id="rId3"/>
    <p:sldId id="314" r:id="rId4"/>
    <p:sldId id="319" r:id="rId5"/>
    <p:sldId id="315" r:id="rId6"/>
    <p:sldId id="320" r:id="rId7"/>
    <p:sldId id="318" r:id="rId8"/>
    <p:sldId id="321" r:id="rId9"/>
    <p:sldId id="316" r:id="rId10"/>
    <p:sldId id="325" r:id="rId11"/>
    <p:sldId id="329" r:id="rId12"/>
    <p:sldId id="322" r:id="rId13"/>
    <p:sldId id="328" r:id="rId14"/>
    <p:sldId id="324" r:id="rId15"/>
    <p:sldId id="323" r:id="rId16"/>
    <p:sldId id="326" r:id="rId17"/>
    <p:sldId id="327" r:id="rId18"/>
    <p:sldId id="313" r:id="rId19"/>
  </p:sldIdLst>
  <p:sldSz cx="12190413" cy="6858000"/>
  <p:notesSz cx="6797675" cy="9926638"/>
  <p:custDataLst>
    <p:tags r:id="rId22"/>
  </p:custDataLst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6" userDrawn="1">
          <p15:clr>
            <a:srgbClr val="A4A3A4"/>
          </p15:clr>
        </p15:guide>
        <p15:guide id="2" orient="horz" pos="725" userDrawn="1">
          <p15:clr>
            <a:srgbClr val="A4A3A4"/>
          </p15:clr>
        </p15:guide>
        <p15:guide id="3" orient="horz" pos="3706" userDrawn="1">
          <p15:clr>
            <a:srgbClr val="A4A3A4"/>
          </p15:clr>
        </p15:guide>
        <p15:guide id="4" pos="242" userDrawn="1">
          <p15:clr>
            <a:srgbClr val="A4A3A4"/>
          </p15:clr>
        </p15:guide>
        <p15:guide id="5" pos="3782" userDrawn="1">
          <p15:clr>
            <a:srgbClr val="A4A3A4"/>
          </p15:clr>
        </p15:guide>
        <p15:guide id="6" pos="7437" userDrawn="1">
          <p15:clr>
            <a:srgbClr val="A4A3A4"/>
          </p15:clr>
        </p15:guide>
        <p15:guide id="7" pos="427" userDrawn="1">
          <p15:clr>
            <a:srgbClr val="A4A3A4"/>
          </p15:clr>
        </p15:guide>
        <p15:guide id="8" pos="7263" userDrawn="1">
          <p15:clr>
            <a:srgbClr val="A4A3A4"/>
          </p15:clr>
        </p15:guide>
        <p15:guide id="9" pos="3912" userDrawn="1">
          <p15:clr>
            <a:srgbClr val="A4A3A4"/>
          </p15:clr>
        </p15:guide>
        <p15:guide id="10" pos="38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0BBE7"/>
    <a:srgbClr val="275AAD"/>
    <a:srgbClr val="BEDAF0"/>
    <a:srgbClr val="FFFFFF"/>
    <a:srgbClr val="00549F"/>
    <a:srgbClr val="8EBAE5"/>
    <a:srgbClr val="336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86441" autoAdjust="0"/>
  </p:normalViewPr>
  <p:slideViewPr>
    <p:cSldViewPr snapToGrid="0" showGuides="1">
      <p:cViewPr varScale="1">
        <p:scale>
          <a:sx n="90" d="100"/>
          <a:sy n="90" d="100"/>
        </p:scale>
        <p:origin x="219" y="38"/>
      </p:cViewPr>
      <p:guideLst>
        <p:guide orient="horz" pos="2216"/>
        <p:guide orient="horz" pos="725"/>
        <p:guide orient="horz" pos="3706"/>
        <p:guide pos="242"/>
        <p:guide pos="3782"/>
        <p:guide pos="7437"/>
        <p:guide pos="427"/>
        <p:guide pos="7263"/>
        <p:guide pos="3912"/>
        <p:guide pos="38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21" tIns="44111" rIns="88221" bIns="44111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294" y="1"/>
            <a:ext cx="2945862" cy="497333"/>
          </a:xfrm>
          <a:prstGeom prst="rect">
            <a:avLst/>
          </a:prstGeom>
        </p:spPr>
        <p:txBody>
          <a:bodyPr vert="horz" lIns="88221" tIns="44111" rIns="88221" bIns="44111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97B89D5-5017-4396-A2CE-F1C12124EE0F}" type="datetimeFigureOut">
              <a:rPr lang="de-DE"/>
              <a:t>26.06.2026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9305"/>
            <a:ext cx="2945862" cy="497333"/>
          </a:xfrm>
          <a:prstGeom prst="rect">
            <a:avLst/>
          </a:prstGeom>
        </p:spPr>
        <p:txBody>
          <a:bodyPr vert="horz" lIns="88221" tIns="44111" rIns="88221" bIns="44111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294" y="9429305"/>
            <a:ext cx="2945862" cy="497333"/>
          </a:xfrm>
          <a:prstGeom prst="rect">
            <a:avLst/>
          </a:prstGeom>
        </p:spPr>
        <p:txBody>
          <a:bodyPr vert="horz" wrap="square" lIns="88221" tIns="44111" rIns="88221" bIns="44111" numCol="1" anchor="b" anchorCtr="0" compatLnSpc="1"/>
          <a:lstStyle>
            <a:lvl1pPr algn="r" eaLnBrk="1" hangingPunct="1">
              <a:defRPr sz="100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248FB1AA-A6AA-4E9E-8BA1-59AC7FC9D727}" type="slidenum">
              <a:rPr lang="de-DE" altLang="de-DE"/>
              <a:t>‹#›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21" tIns="44111" rIns="88221" bIns="44111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294" y="1"/>
            <a:ext cx="2945862" cy="497333"/>
          </a:xfrm>
          <a:prstGeom prst="rect">
            <a:avLst/>
          </a:prstGeom>
        </p:spPr>
        <p:txBody>
          <a:bodyPr vert="horz" lIns="88221" tIns="44111" rIns="88221" bIns="44111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+mn-lt"/>
              </a:defRPr>
            </a:lvl1pPr>
          </a:lstStyle>
          <a:p>
            <a:pPr>
              <a:defRPr/>
            </a:pPr>
            <a:fld id="{4EEC745E-66A0-4F49-903C-36561B63B5F1}" type="datetimeFigureOut">
              <a:rPr lang="de-DE"/>
              <a:t>26.06.2026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221" tIns="44111" rIns="88221" bIns="44111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64" y="4777782"/>
            <a:ext cx="5438748" cy="3907834"/>
          </a:xfrm>
          <a:prstGeom prst="rect">
            <a:avLst/>
          </a:prstGeom>
        </p:spPr>
        <p:txBody>
          <a:bodyPr vert="horz" lIns="88221" tIns="44111" rIns="88221" bIns="44111" rtlCol="0"/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305"/>
            <a:ext cx="2945862" cy="497333"/>
          </a:xfrm>
          <a:prstGeom prst="rect">
            <a:avLst/>
          </a:prstGeom>
        </p:spPr>
        <p:txBody>
          <a:bodyPr vert="horz" lIns="88221" tIns="44111" rIns="88221" bIns="44111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294" y="9429305"/>
            <a:ext cx="2945862" cy="497333"/>
          </a:xfrm>
          <a:prstGeom prst="rect">
            <a:avLst/>
          </a:prstGeom>
        </p:spPr>
        <p:txBody>
          <a:bodyPr vert="horz" wrap="square" lIns="88221" tIns="44111" rIns="88221" bIns="44111" numCol="1" anchor="b" anchorCtr="0" compatLnSpc="1"/>
          <a:lstStyle>
            <a:lvl1pPr algn="r" eaLnBrk="1" hangingPunct="1">
              <a:defRPr sz="100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0DA392A4-A5B0-45A3-B126-38BB4DB33CBB}" type="slidenum">
              <a:rPr lang="de-DE" altLang="de-DE"/>
              <a:t>‹#›</a:t>
            </a:fld>
            <a:endParaRPr lang="de-DE" alt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oleObject" Target="../embeddings/oleObject2.bin"/><Relationship Id="rId7" Type="http://schemas.openxmlformats.org/officeDocument/2006/relationships/image" Target="../media/image4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2.emf"/><Relationship Id="rId5" Type="http://schemas.openxmlformats.org/officeDocument/2006/relationships/image" Target="../media/image3.png"/><Relationship Id="rId10" Type="http://schemas.openxmlformats.org/officeDocument/2006/relationships/image" Target="../media/image7.jpeg"/><Relationship Id="rId4" Type="http://schemas.openxmlformats.org/officeDocument/2006/relationships/image" Target="../media/image1.emf"/><Relationship Id="rId9" Type="http://schemas.openxmlformats.org/officeDocument/2006/relationships/image" Target="../media/image6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6" Type="http://schemas.openxmlformats.org/officeDocument/2006/relationships/image" Target="../media/image2.emf"/><Relationship Id="rId5" Type="http://schemas.openxmlformats.org/officeDocument/2006/relationships/image" Target="../media/image8.jpeg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oleObject" Target="../embeddings/oleObject5.bin"/><Relationship Id="rId7" Type="http://schemas.openxmlformats.org/officeDocument/2006/relationships/image" Target="../media/image4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10" Type="http://schemas.openxmlformats.org/officeDocument/2006/relationships/image" Target="../media/image7.jpeg"/><Relationship Id="rId4" Type="http://schemas.openxmlformats.org/officeDocument/2006/relationships/image" Target="../media/image1.emf"/><Relationship Id="rId9" Type="http://schemas.openxmlformats.org/officeDocument/2006/relationships/image" Target="../media/image6.jpe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7.xml"/><Relationship Id="rId6" Type="http://schemas.openxmlformats.org/officeDocument/2006/relationships/image" Target="../media/image10.jpeg"/><Relationship Id="rId5" Type="http://schemas.openxmlformats.org/officeDocument/2006/relationships/image" Target="../media/image2.emf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.xml"/><Relationship Id="rId6" Type="http://schemas.openxmlformats.org/officeDocument/2006/relationships/image" Target="../media/image2.emf"/><Relationship Id="rId5" Type="http://schemas.openxmlformats.org/officeDocument/2006/relationships/image" Target="../media/image8.jpeg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Objekt 15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9525" imgH="9525" progId="TCLayout.ActiveDocument.1">
                  <p:embed/>
                </p:oleObj>
              </mc:Choice>
              <mc:Fallback>
                <p:oleObj name="think-cell Folie" r:id="rId3" imgW="9525" imgH="9525" progId="TCLayout.ActiveDocument.1">
                  <p:embed/>
                  <p:pic>
                    <p:nvPicPr>
                      <p:cNvPr id="0" name="图片 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0" name="Grafik 19"/>
          <p:cNvPicPr>
            <a:picLocks noChangeAspect="1"/>
          </p:cNvPicPr>
          <p:nvPr userDrawn="1"/>
        </p:nvPicPr>
        <p:blipFill rotWithShape="1">
          <a:blip r:embed="rId5" cstate="hqprint"/>
          <a:srcRect/>
          <a:stretch>
            <a:fillRect/>
          </a:stretch>
        </p:blipFill>
        <p:spPr>
          <a:xfrm>
            <a:off x="9971531" y="-6889"/>
            <a:ext cx="2239901" cy="1902117"/>
          </a:xfrm>
          <a:prstGeom prst="rect">
            <a:avLst/>
          </a:prstGeom>
        </p:spPr>
      </p:pic>
      <p:sp>
        <p:nvSpPr>
          <p:cNvPr id="13" name="Untertitel 2"/>
          <p:cNvSpPr txBox="1"/>
          <p:nvPr/>
        </p:nvSpPr>
        <p:spPr>
          <a:xfrm>
            <a:off x="383950" y="6076425"/>
            <a:ext cx="6650934" cy="648524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None/>
              <a:tabLst>
                <a:tab pos="4318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None/>
              <a:tabLst>
                <a:tab pos="647700" algn="l"/>
              </a:tabLs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None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ctr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1400" b="1" noProof="0" dirty="0">
                <a:solidFill>
                  <a:srgbClr val="00549F"/>
                </a:solidFill>
                <a:latin typeface="+mn-lt"/>
              </a:rPr>
              <a:t>Center for Ageing, Reliability and Lifetime Prediction of Electrochemical and Power Electronic Systems (CARL)</a:t>
            </a:r>
            <a:endParaRPr lang="de-DE" sz="1400" b="1" noProof="0" dirty="0">
              <a:solidFill>
                <a:srgbClr val="00549F"/>
              </a:solidFill>
              <a:latin typeface="+mn-lt"/>
            </a:endParaRPr>
          </a:p>
        </p:txBody>
      </p:sp>
      <p:sp>
        <p:nvSpPr>
          <p:cNvPr id="26" name="Title 1"/>
          <p:cNvSpPr>
            <a:spLocks noGrp="1"/>
          </p:cNvSpPr>
          <p:nvPr>
            <p:ph type="ctrTitle" hasCustomPrompt="1"/>
          </p:nvPr>
        </p:nvSpPr>
        <p:spPr>
          <a:xfrm>
            <a:off x="383950" y="2487599"/>
            <a:ext cx="11422513" cy="127477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algn="l">
              <a:defRPr sz="3200" b="1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7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83950" y="3857624"/>
            <a:ext cx="11422513" cy="6096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28" name="Fußzeilenplatzhalter 2"/>
          <p:cNvSpPr>
            <a:spLocks noGrp="1"/>
          </p:cNvSpPr>
          <p:nvPr>
            <p:ph type="ftr" sz="quarter" idx="11"/>
          </p:nvPr>
        </p:nvSpPr>
        <p:spPr>
          <a:xfrm>
            <a:off x="383950" y="4980225"/>
            <a:ext cx="11425513" cy="524824"/>
          </a:xfr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29" name="Datumsplatzhalter 1"/>
          <p:cNvSpPr>
            <a:spLocks noGrp="1"/>
          </p:cNvSpPr>
          <p:nvPr>
            <p:ph type="dt" sz="half" idx="12"/>
          </p:nvPr>
        </p:nvSpPr>
        <p:spPr>
          <a:xfrm>
            <a:off x="383950" y="4675425"/>
            <a:ext cx="11425513" cy="306150"/>
          </a:xfrm>
        </p:spPr>
        <p:txBody>
          <a:bodyPr/>
          <a:lstStyle>
            <a:lvl1pPr algn="l">
              <a:defRPr sz="2000">
                <a:solidFill>
                  <a:schemeClr val="tx1"/>
                </a:solidFill>
              </a:defRPr>
            </a:lvl1pPr>
          </a:lstStyle>
          <a:p>
            <a:pPr algn="l"/>
            <a:fld id="{D7F12259-4066-44C3-AC08-F5ADAE7E0447}" type="datetime5">
              <a:rPr lang="zh-CN" altLang="en-US" smtClean="0"/>
              <a:t>2026/6/26</a:t>
            </a:fld>
            <a:endParaRPr lang="de-DE" dirty="0"/>
          </a:p>
        </p:txBody>
      </p:sp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6" cstate="print"/>
          <a:stretch>
            <a:fillRect/>
          </a:stretch>
        </p:blipFill>
        <p:spPr>
          <a:xfrm>
            <a:off x="7780427" y="5882400"/>
            <a:ext cx="4136919" cy="975600"/>
          </a:xfrm>
          <a:prstGeom prst="rect">
            <a:avLst/>
          </a:prstGeom>
        </p:spPr>
      </p:pic>
      <p:pic>
        <p:nvPicPr>
          <p:cNvPr id="23" name="Grafik 22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21020" y="-6889"/>
            <a:ext cx="2798307" cy="1908213"/>
          </a:xfrm>
          <a:prstGeom prst="rect">
            <a:avLst/>
          </a:prstGeom>
        </p:spPr>
      </p:pic>
      <p:pic>
        <p:nvPicPr>
          <p:cNvPr id="24" name="Grafik 23"/>
          <p:cNvPicPr>
            <a:picLocks noChangeAspect="1"/>
          </p:cNvPicPr>
          <p:nvPr userDrawn="1"/>
        </p:nvPicPr>
        <p:blipFill>
          <a:blip r:embed="rId8" cstate="hqprint"/>
          <a:stretch>
            <a:fillRect/>
          </a:stretch>
        </p:blipFill>
        <p:spPr>
          <a:xfrm>
            <a:off x="2777287" y="-6889"/>
            <a:ext cx="1436612" cy="1908000"/>
          </a:xfrm>
          <a:prstGeom prst="rect">
            <a:avLst/>
          </a:prstGeom>
        </p:spPr>
      </p:pic>
      <p:pic>
        <p:nvPicPr>
          <p:cNvPr id="30" name="Grafik 29"/>
          <p:cNvPicPr>
            <a:picLocks noChangeAspect="1"/>
          </p:cNvPicPr>
          <p:nvPr userDrawn="1"/>
        </p:nvPicPr>
        <p:blipFill rotWithShape="1">
          <a:blip r:embed="rId9" cstate="hqprint"/>
          <a:srcRect/>
          <a:stretch>
            <a:fillRect/>
          </a:stretch>
        </p:blipFill>
        <p:spPr>
          <a:xfrm>
            <a:off x="4213899" y="-6889"/>
            <a:ext cx="2491702" cy="1908000"/>
          </a:xfrm>
          <a:prstGeom prst="rect">
            <a:avLst/>
          </a:prstGeom>
        </p:spPr>
      </p:pic>
      <p:pic>
        <p:nvPicPr>
          <p:cNvPr id="32" name="Grafik 31"/>
          <p:cNvPicPr>
            <a:picLocks noChangeAspect="1"/>
          </p:cNvPicPr>
          <p:nvPr userDrawn="1"/>
        </p:nvPicPr>
        <p:blipFill rotWithShape="1">
          <a:blip r:embed="rId10" cstate="hqprint"/>
          <a:srcRect/>
          <a:stretch>
            <a:fillRect/>
          </a:stretch>
        </p:blipFill>
        <p:spPr>
          <a:xfrm>
            <a:off x="6660046" y="-6889"/>
            <a:ext cx="3321996" cy="1908000"/>
          </a:xfrm>
          <a:prstGeom prst="rect">
            <a:avLst/>
          </a:prstGeom>
        </p:spPr>
      </p:pic>
      <p:sp>
        <p:nvSpPr>
          <p:cNvPr id="11" name="Textfeld 10"/>
          <p:cNvSpPr txBox="1"/>
          <p:nvPr userDrawn="1"/>
        </p:nvSpPr>
        <p:spPr>
          <a:xfrm>
            <a:off x="0" y="1845525"/>
            <a:ext cx="12196800" cy="246221"/>
          </a:xfrm>
          <a:prstGeom prst="rect">
            <a:avLst/>
          </a:prstGeom>
          <a:solidFill>
            <a:srgbClr val="00549F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dirty="0">
                <a:solidFill>
                  <a:schemeClr val="bg1"/>
                </a:solidFill>
              </a:rPr>
              <a:t>Alterung     •     Modelle     •     Diagnostik     •     Packdesign     •     Elektromobilität     •     Stationäre Energiespeicher     •     Energiesystemanalyse</a:t>
            </a:r>
          </a:p>
        </p:txBody>
      </p:sp>
    </p:spTree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Varia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9525" imgH="9525" progId="TCLayout.ActiveDocument.1">
                  <p:embed/>
                </p:oleObj>
              </mc:Choice>
              <mc:Fallback>
                <p:oleObj name="think-cell Folie" r:id="rId3" imgW="9525" imgH="9525" progId="TCLayout.ActiveDocument.1">
                  <p:embed/>
                  <p:pic>
                    <p:nvPicPr>
                      <p:cNvPr id="0" name="图片 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Grafik 1"/>
          <p:cNvPicPr>
            <a:picLocks noChangeAspect="1"/>
          </p:cNvPicPr>
          <p:nvPr userDrawn="1"/>
        </p:nvPicPr>
        <p:blipFill rotWithShape="1">
          <a:blip r:embed="rId5" cstate="hqprint"/>
          <a:srcRect/>
          <a:stretch>
            <a:fillRect/>
          </a:stretch>
        </p:blipFill>
        <p:spPr>
          <a:xfrm>
            <a:off x="-1588" y="0"/>
            <a:ext cx="12192000" cy="2724150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383950" y="2725724"/>
            <a:ext cx="11422513" cy="127477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algn="l">
              <a:defRPr sz="3200" b="1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83950" y="4095749"/>
            <a:ext cx="11422513" cy="6096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11" name="Fußzeilenplatzhalter 2"/>
          <p:cNvSpPr>
            <a:spLocks noGrp="1"/>
          </p:cNvSpPr>
          <p:nvPr>
            <p:ph type="ftr" sz="quarter" idx="11"/>
          </p:nvPr>
        </p:nvSpPr>
        <p:spPr>
          <a:xfrm>
            <a:off x="383950" y="5218350"/>
            <a:ext cx="11425513" cy="524824"/>
          </a:xfr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Liang Huang</a:t>
            </a:r>
          </a:p>
        </p:txBody>
      </p:sp>
      <p:sp>
        <p:nvSpPr>
          <p:cNvPr id="12" name="Datumsplatzhalter 1"/>
          <p:cNvSpPr>
            <a:spLocks noGrp="1"/>
          </p:cNvSpPr>
          <p:nvPr>
            <p:ph type="dt" sz="half" idx="12"/>
          </p:nvPr>
        </p:nvSpPr>
        <p:spPr>
          <a:xfrm>
            <a:off x="383950" y="4913550"/>
            <a:ext cx="11425513" cy="306150"/>
          </a:xfrm>
        </p:spPr>
        <p:txBody>
          <a:bodyPr/>
          <a:lstStyle>
            <a:lvl1pPr algn="l">
              <a:defRPr sz="2000">
                <a:solidFill>
                  <a:schemeClr val="tx1"/>
                </a:solidFill>
              </a:defRPr>
            </a:lvl1pPr>
          </a:lstStyle>
          <a:p>
            <a:pPr algn="l"/>
            <a:fld id="{6D3069C6-0311-4A39-8CC1-DA405FE38D0C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14" name="Untertitel 2"/>
          <p:cNvSpPr txBox="1"/>
          <p:nvPr userDrawn="1"/>
        </p:nvSpPr>
        <p:spPr>
          <a:xfrm>
            <a:off x="383950" y="6076425"/>
            <a:ext cx="6650934" cy="648524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None/>
              <a:tabLst>
                <a:tab pos="4318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None/>
              <a:tabLst>
                <a:tab pos="647700" algn="l"/>
              </a:tabLs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None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ctr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1400" b="1" noProof="0" dirty="0">
                <a:solidFill>
                  <a:srgbClr val="00549F"/>
                </a:solidFill>
                <a:latin typeface="+mn-lt"/>
              </a:rPr>
              <a:t>Center for Ageing, Reliability and Lifetime Prediction of Electrochemical and Power Electronic Systems (CARL)</a:t>
            </a:r>
            <a:endParaRPr lang="de-DE" sz="1400" b="1" noProof="0" dirty="0">
              <a:solidFill>
                <a:srgbClr val="00549F"/>
              </a:solidFill>
              <a:latin typeface="+mn-lt"/>
            </a:endParaRP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6" cstate="print"/>
          <a:stretch>
            <a:fillRect/>
          </a:stretch>
        </p:blipFill>
        <p:spPr>
          <a:xfrm>
            <a:off x="7780427" y="5882400"/>
            <a:ext cx="4136919" cy="975600"/>
          </a:xfrm>
          <a:prstGeom prst="rect">
            <a:avLst/>
          </a:prstGeom>
        </p:spPr>
      </p:pic>
    </p:spTree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Gerader Verbinder 11"/>
          <p:cNvCxnSpPr/>
          <p:nvPr/>
        </p:nvCxnSpPr>
        <p:spPr>
          <a:xfrm>
            <a:off x="383068" y="6202363"/>
            <a:ext cx="114242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hteck 3"/>
          <p:cNvSpPr/>
          <p:nvPr/>
        </p:nvSpPr>
        <p:spPr>
          <a:xfrm>
            <a:off x="6249086" y="2124077"/>
            <a:ext cx="5561876" cy="375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/>
          <p:cNvSpPr/>
          <p:nvPr/>
        </p:nvSpPr>
        <p:spPr>
          <a:xfrm>
            <a:off x="392649" y="2124076"/>
            <a:ext cx="5561876" cy="37566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Title 1"/>
          <p:cNvSpPr txBox="1"/>
          <p:nvPr/>
        </p:nvSpPr>
        <p:spPr>
          <a:xfrm>
            <a:off x="383068" y="801688"/>
            <a:ext cx="11424279" cy="1004154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 baseline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fontAlgn="auto">
              <a:spcAft>
                <a:spcPts val="0"/>
              </a:spcAft>
              <a:defRPr/>
            </a:pPr>
            <a:r>
              <a:rPr lang="de-DE" dirty="0">
                <a:solidFill>
                  <a:srgbClr val="00549F"/>
                </a:solidFill>
              </a:rPr>
              <a:t>Vielen Dank</a:t>
            </a:r>
            <a:br>
              <a:rPr lang="de-DE" dirty="0">
                <a:solidFill>
                  <a:srgbClr val="00549F"/>
                </a:solidFill>
              </a:rPr>
            </a:br>
            <a:r>
              <a:rPr lang="de-DE" dirty="0">
                <a:solidFill>
                  <a:srgbClr val="00549F"/>
                </a:solidFill>
              </a:rPr>
              <a:t>für Ihre Aufmerksamkeit</a:t>
            </a:r>
            <a:endParaRPr lang="en-US" dirty="0">
              <a:solidFill>
                <a:srgbClr val="00549F"/>
              </a:solidFill>
            </a:endParaRPr>
          </a:p>
        </p:txBody>
      </p:sp>
      <p:pic>
        <p:nvPicPr>
          <p:cNvPr id="10" name="Grafik 9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955573" y="4878751"/>
            <a:ext cx="952500" cy="952500"/>
          </a:xfrm>
          <a:prstGeom prst="rect">
            <a:avLst/>
          </a:prstGeom>
        </p:spPr>
      </p:pic>
      <p:sp>
        <p:nvSpPr>
          <p:cNvPr id="17" name="Textplatzhalter 3"/>
          <p:cNvSpPr txBox="1"/>
          <p:nvPr/>
        </p:nvSpPr>
        <p:spPr>
          <a:xfrm>
            <a:off x="392649" y="2133599"/>
            <a:ext cx="5561876" cy="3745278"/>
          </a:xfrm>
          <a:prstGeom prst="rect">
            <a:avLst/>
          </a:prstGeom>
        </p:spPr>
        <p:txBody>
          <a:bodyPr lIns="90000" tIns="36000" rIns="90000" bIns="3600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1600" b="1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864235" indent="-21590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864235" indent="-215900" algn="l" rtl="0" eaLnBrk="1" fontAlgn="base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Kontakt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Lehrstuhl für Elektrochemische Energiewandlung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und Speichersystemtechnik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Univ.-Prof. Dr. </a:t>
            </a:r>
            <a:r>
              <a:rPr kumimoji="0" lang="de-DE" sz="1400" b="0" i="0" u="none" strike="noStrike" kern="120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rer</a:t>
            </a: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 nat. Dirk Uwe Sauer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RWTH Aachen University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Campus-Boulevard 89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52074 Aachen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GERMANY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www.isea.rwth-aachen.de</a:t>
            </a:r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Textplatzhalter 3"/>
          <p:cNvSpPr txBox="1"/>
          <p:nvPr/>
        </p:nvSpPr>
        <p:spPr>
          <a:xfrm>
            <a:off x="6245471" y="2133599"/>
            <a:ext cx="5561876" cy="3745278"/>
          </a:xfrm>
          <a:prstGeom prst="rect">
            <a:avLst/>
          </a:prstGeom>
        </p:spPr>
        <p:txBody>
          <a:bodyPr lIns="90000" tIns="36000" rIns="90000" bIns="3600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1600" b="1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864235" indent="-21590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864235" indent="-215900" algn="l" rtl="0" eaLnBrk="1" fontAlgn="base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Wir danken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" name="Textplatzhalter 23"/>
          <p:cNvSpPr>
            <a:spLocks noGrp="1"/>
          </p:cNvSpPr>
          <p:nvPr>
            <p:ph type="body" sz="quarter" idx="10" hasCustomPrompt="1"/>
          </p:nvPr>
        </p:nvSpPr>
        <p:spPr>
          <a:xfrm>
            <a:off x="392649" y="2828926"/>
            <a:ext cx="3886694" cy="7334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baseline="0"/>
            </a:lvl1pPr>
          </a:lstStyle>
          <a:p>
            <a:pPr lvl="0"/>
            <a:r>
              <a:rPr lang="en-US" dirty="0"/>
              <a:t>Tel.: +49 241 80-XXXXX</a:t>
            </a:r>
            <a:br>
              <a:rPr lang="en-US" dirty="0"/>
            </a:br>
            <a:r>
              <a:rPr lang="en-US" dirty="0"/>
              <a:t>xxx@isea.rwth-aachen.de</a:t>
            </a:r>
            <a:br>
              <a:rPr lang="en-US" dirty="0"/>
            </a:br>
            <a:r>
              <a:rPr lang="en-US" dirty="0"/>
              <a:t>batteries@isea.rwth-aachen.de</a:t>
            </a:r>
          </a:p>
        </p:txBody>
      </p:sp>
      <p:sp>
        <p:nvSpPr>
          <p:cNvPr id="26" name="Bildplatzhalter 25"/>
          <p:cNvSpPr>
            <a:spLocks noGrp="1"/>
          </p:cNvSpPr>
          <p:nvPr>
            <p:ph type="pic" sz="quarter" idx="11" hasCustomPrompt="1"/>
          </p:nvPr>
        </p:nvSpPr>
        <p:spPr>
          <a:xfrm>
            <a:off x="4811297" y="2124075"/>
            <a:ext cx="1137452" cy="146262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/>
            </a:lvl1pPr>
          </a:lstStyle>
          <a:p>
            <a:r>
              <a:rPr lang="de-DE" dirty="0"/>
              <a:t>Eigenes Foto durch Klicken hinzufügen</a:t>
            </a:r>
            <a:endParaRPr lang="en-US" dirty="0"/>
          </a:p>
        </p:txBody>
      </p:sp>
      <p:sp>
        <p:nvSpPr>
          <p:cNvPr id="28" name="Fußzeilenplatzhalter 27"/>
          <p:cNvSpPr>
            <a:spLocks noGrp="1"/>
          </p:cNvSpPr>
          <p:nvPr>
            <p:ph type="ftr" sz="quarter" idx="13"/>
          </p:nvPr>
        </p:nvSpPr>
        <p:spPr>
          <a:xfrm>
            <a:off x="392649" y="2570401"/>
            <a:ext cx="3886694" cy="334725"/>
          </a:xfrm>
        </p:spPr>
        <p:txBody>
          <a:bodyPr lIns="90000" tIns="90000" rIns="90000" bIns="90000"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31" name="Bildplatzhalter 30"/>
          <p:cNvSpPr>
            <a:spLocks noGrp="1"/>
          </p:cNvSpPr>
          <p:nvPr>
            <p:ph type="pic" sz="quarter" idx="14" hasCustomPrompt="1"/>
          </p:nvPr>
        </p:nvSpPr>
        <p:spPr>
          <a:xfrm>
            <a:off x="6361869" y="2571750"/>
            <a:ext cx="2591663" cy="154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Partnerlogo durch Klicken hinzufügen</a:t>
            </a:r>
            <a:endParaRPr lang="en-US" dirty="0"/>
          </a:p>
        </p:txBody>
      </p:sp>
      <p:sp>
        <p:nvSpPr>
          <p:cNvPr id="18" name="Bildplatzhalter 30"/>
          <p:cNvSpPr>
            <a:spLocks noGrp="1"/>
          </p:cNvSpPr>
          <p:nvPr>
            <p:ph type="pic" sz="quarter" idx="15" hasCustomPrompt="1"/>
          </p:nvPr>
        </p:nvSpPr>
        <p:spPr>
          <a:xfrm>
            <a:off x="9092013" y="2571750"/>
            <a:ext cx="2591663" cy="154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Partnerlogo durch Klicken hinzufügen</a:t>
            </a:r>
            <a:endParaRPr lang="en-US" dirty="0"/>
          </a:p>
        </p:txBody>
      </p:sp>
      <p:sp>
        <p:nvSpPr>
          <p:cNvPr id="19" name="Bildplatzhalter 30"/>
          <p:cNvSpPr>
            <a:spLocks noGrp="1"/>
          </p:cNvSpPr>
          <p:nvPr>
            <p:ph type="pic" sz="quarter" idx="16" hasCustomPrompt="1"/>
          </p:nvPr>
        </p:nvSpPr>
        <p:spPr>
          <a:xfrm>
            <a:off x="6361869" y="4229100"/>
            <a:ext cx="2591663" cy="154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Partnerlogo durch Klicken hinzufügen</a:t>
            </a:r>
            <a:endParaRPr lang="en-US" dirty="0"/>
          </a:p>
        </p:txBody>
      </p:sp>
      <p:sp>
        <p:nvSpPr>
          <p:cNvPr id="21" name="Bildplatzhalter 30"/>
          <p:cNvSpPr>
            <a:spLocks noGrp="1"/>
          </p:cNvSpPr>
          <p:nvPr>
            <p:ph type="pic" sz="quarter" idx="17" hasCustomPrompt="1"/>
          </p:nvPr>
        </p:nvSpPr>
        <p:spPr>
          <a:xfrm>
            <a:off x="9092013" y="4229100"/>
            <a:ext cx="2591663" cy="154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Partnerlogo durch Klicken hinzufügen</a:t>
            </a:r>
            <a:endParaRPr lang="en-US" dirty="0"/>
          </a:p>
        </p:txBody>
      </p:sp>
      <p:cxnSp>
        <p:nvCxnSpPr>
          <p:cNvPr id="22" name="Gerader Verbinder 11"/>
          <p:cNvCxnSpPr/>
          <p:nvPr userDrawn="1"/>
        </p:nvCxnSpPr>
        <p:spPr>
          <a:xfrm>
            <a:off x="383068" y="6202363"/>
            <a:ext cx="114242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137882" y="6205415"/>
            <a:ext cx="2778300" cy="655200"/>
          </a:xfrm>
          <a:prstGeom prst="rect">
            <a:avLst/>
          </a:prstGeom>
        </p:spPr>
      </p:pic>
    </p:spTree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383950" y="201600"/>
            <a:ext cx="11422513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Inhaltsplatzhalter 2"/>
          <p:cNvSpPr>
            <a:spLocks noGrp="1"/>
          </p:cNvSpPr>
          <p:nvPr>
            <p:ph idx="1" hasCustomPrompt="1"/>
          </p:nvPr>
        </p:nvSpPr>
        <p:spPr>
          <a:xfrm>
            <a:off x="383950" y="1151999"/>
            <a:ext cx="11422513" cy="4731276"/>
          </a:xfrm>
          <a:prstGeom prst="rect">
            <a:avLst/>
          </a:prstGeom>
        </p:spPr>
        <p:txBody>
          <a:bodyPr lIns="0" tIns="0" rIns="0" bIns="0"/>
          <a:lstStyle>
            <a:lvl1pPr marL="215900" indent="-215900">
              <a:spcBef>
                <a:spcPts val="0"/>
              </a:spcBef>
              <a:spcAft>
                <a:spcPts val="450"/>
              </a:spcAft>
              <a:buFont typeface="Arial" panose="020B0604020202020204" pitchFamily="34" charset="0"/>
              <a:buChar char="■"/>
              <a:defRPr sz="2000"/>
            </a:lvl1pPr>
            <a:lvl2pPr marL="431800" indent="-215900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□"/>
              <a:defRPr sz="1800"/>
            </a:lvl2pPr>
            <a:lvl3pPr marL="647700" indent="-215900">
              <a:spcBef>
                <a:spcPts val="0"/>
              </a:spcBef>
              <a:spcAft>
                <a:spcPts val="350"/>
              </a:spcAft>
              <a:buFont typeface="Arial" panose="020B0604020202020204" pitchFamily="34" charset="0"/>
              <a:buChar char="■"/>
              <a:defRPr sz="1800"/>
            </a:lvl3pPr>
            <a:lvl4pPr marL="863600" indent="-215900">
              <a:spcBef>
                <a:spcPts val="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/>
            </a:lvl4pPr>
            <a:lvl5pPr marL="1080135" indent="-215900">
              <a:spcBef>
                <a:spcPts val="0"/>
              </a:spcBef>
              <a:spcAft>
                <a:spcPts val="25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1" name="Datumsplatzhalter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l"/>
            <a:fld id="{F887C18F-21B2-48B8-9586-9343C0AE58EE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13" name="Foliennummernplatzhalt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383950" y="201600"/>
            <a:ext cx="11422513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Inhaltsplatzhalter 2"/>
          <p:cNvSpPr>
            <a:spLocks noGrp="1"/>
          </p:cNvSpPr>
          <p:nvPr>
            <p:ph idx="1" hasCustomPrompt="1"/>
          </p:nvPr>
        </p:nvSpPr>
        <p:spPr>
          <a:xfrm>
            <a:off x="383950" y="1151999"/>
            <a:ext cx="5620068" cy="4731275"/>
          </a:xfrm>
          <a:prstGeom prst="rect">
            <a:avLst/>
          </a:prstGeom>
        </p:spPr>
        <p:txBody>
          <a:bodyPr lIns="0" tIns="0" rIns="0" bIns="0"/>
          <a:lstStyle>
            <a:lvl1pPr marL="215900" indent="-215900">
              <a:spcBef>
                <a:spcPts val="0"/>
              </a:spcBef>
              <a:spcAft>
                <a:spcPts val="450"/>
              </a:spcAft>
              <a:buFont typeface="Arial" panose="020B0604020202020204" pitchFamily="34" charset="0"/>
              <a:buChar char="■"/>
              <a:defRPr sz="2000"/>
            </a:lvl1pPr>
            <a:lvl2pPr marL="431800" indent="-215900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□"/>
              <a:defRPr sz="1800"/>
            </a:lvl2pPr>
            <a:lvl3pPr marL="647700" indent="-215900">
              <a:spcBef>
                <a:spcPts val="0"/>
              </a:spcBef>
              <a:spcAft>
                <a:spcPts val="350"/>
              </a:spcAft>
              <a:buFont typeface="Arial" panose="020B0604020202020204" pitchFamily="34" charset="0"/>
              <a:buChar char="■"/>
              <a:defRPr sz="1800"/>
            </a:lvl3pPr>
            <a:lvl4pPr marL="863600" indent="-215900">
              <a:spcBef>
                <a:spcPts val="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/>
            </a:lvl4pPr>
            <a:lvl5pPr marL="1080135" indent="-215900">
              <a:spcBef>
                <a:spcPts val="0"/>
              </a:spcBef>
              <a:spcAft>
                <a:spcPts val="25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1" name="Inhaltsplatzhalter 2"/>
          <p:cNvSpPr>
            <a:spLocks noGrp="1"/>
          </p:cNvSpPr>
          <p:nvPr>
            <p:ph idx="13" hasCustomPrompt="1"/>
          </p:nvPr>
        </p:nvSpPr>
        <p:spPr>
          <a:xfrm>
            <a:off x="6191194" y="1151999"/>
            <a:ext cx="5620068" cy="4731275"/>
          </a:xfrm>
          <a:prstGeom prst="rect">
            <a:avLst/>
          </a:prstGeom>
        </p:spPr>
        <p:txBody>
          <a:bodyPr lIns="0" tIns="0" rIns="0" bIns="0"/>
          <a:lstStyle>
            <a:lvl1pPr marL="215900" indent="-215900">
              <a:spcBef>
                <a:spcPts val="0"/>
              </a:spcBef>
              <a:spcAft>
                <a:spcPts val="450"/>
              </a:spcAft>
              <a:buFont typeface="Arial" panose="020B0604020202020204" pitchFamily="34" charset="0"/>
              <a:buChar char="■"/>
              <a:defRPr sz="2000"/>
            </a:lvl1pPr>
            <a:lvl2pPr marL="431800" indent="-215900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□"/>
              <a:defRPr sz="1800"/>
            </a:lvl2pPr>
            <a:lvl3pPr marL="647700" indent="-215900">
              <a:spcBef>
                <a:spcPts val="0"/>
              </a:spcBef>
              <a:spcAft>
                <a:spcPts val="350"/>
              </a:spcAft>
              <a:buFont typeface="Arial" panose="020B0604020202020204" pitchFamily="34" charset="0"/>
              <a:buChar char="■"/>
              <a:defRPr sz="1800"/>
            </a:lvl3pPr>
            <a:lvl4pPr marL="863600" indent="-215900">
              <a:spcBef>
                <a:spcPts val="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/>
            </a:lvl4pPr>
            <a:lvl5pPr marL="1080135" indent="-215900">
              <a:spcBef>
                <a:spcPts val="0"/>
              </a:spcBef>
              <a:spcAft>
                <a:spcPts val="25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 algn="l"/>
            <a:fld id="{E5AF013B-EAD8-4321-9A97-347E14C68B05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383950" y="201600"/>
            <a:ext cx="11422513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Datumsplatzhalter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l"/>
            <a:fld id="{D3F884E6-7726-4AAA-A0CE-C180A27151DE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13" name="Foliennummernplatzhalt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Objekt 2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9525" imgH="9525" progId="TCLayout.ActiveDocument.1">
                  <p:embed/>
                </p:oleObj>
              </mc:Choice>
              <mc:Fallback>
                <p:oleObj name="think-cell Folie" r:id="rId3" imgW="9525" imgH="9525" progId="TCLayout.ActiveDocument.1">
                  <p:embed/>
                  <p:pic>
                    <p:nvPicPr>
                      <p:cNvPr id="0" name="图片 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4" name="Grafik 23"/>
          <p:cNvPicPr>
            <a:picLocks noChangeAspect="1"/>
          </p:cNvPicPr>
          <p:nvPr userDrawn="1"/>
        </p:nvPicPr>
        <p:blipFill>
          <a:blip r:embed="rId5" cstate="print"/>
          <a:stretch>
            <a:fillRect/>
          </a:stretch>
        </p:blipFill>
        <p:spPr>
          <a:xfrm>
            <a:off x="7780427" y="5882400"/>
            <a:ext cx="4136919" cy="975600"/>
          </a:xfrm>
          <a:prstGeom prst="rect">
            <a:avLst/>
          </a:prstGeom>
        </p:spPr>
      </p:pic>
      <p:sp>
        <p:nvSpPr>
          <p:cNvPr id="19" name="Untertitel 2"/>
          <p:cNvSpPr txBox="1"/>
          <p:nvPr userDrawn="1"/>
        </p:nvSpPr>
        <p:spPr>
          <a:xfrm>
            <a:off x="383950" y="6076425"/>
            <a:ext cx="6650934" cy="648524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None/>
              <a:tabLst>
                <a:tab pos="4318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None/>
              <a:tabLst>
                <a:tab pos="647700" algn="l"/>
              </a:tabLs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None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ctr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400" b="1" baseline="0" noProof="0" dirty="0">
                <a:solidFill>
                  <a:schemeClr val="tx2"/>
                </a:solidFill>
              </a:rPr>
              <a:t>Center for Ageing, Reliability and Lifetime Prediction of Electrochemical and Power Electronic Systems (CARL)</a:t>
            </a:r>
            <a:endParaRPr lang="de-DE" sz="1400" b="1" noProof="0" dirty="0">
              <a:solidFill>
                <a:schemeClr val="tx2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383950" y="2487599"/>
            <a:ext cx="11422513" cy="127477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algn="l">
              <a:defRPr sz="3200" b="1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Titelmasterformat durch Klicken bearbeiten</a:t>
            </a:r>
            <a:endParaRPr lang="en-US" dirty="0"/>
          </a:p>
        </p:txBody>
      </p:sp>
      <p:sp>
        <p:nvSpPr>
          <p:cNvPr id="15" name="Subtitle 2"/>
          <p:cNvSpPr>
            <a:spLocks noGrp="1"/>
          </p:cNvSpPr>
          <p:nvPr>
            <p:ph type="subTitle" idx="1"/>
          </p:nvPr>
        </p:nvSpPr>
        <p:spPr>
          <a:xfrm>
            <a:off x="383950" y="3857624"/>
            <a:ext cx="11422513" cy="6096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en-US" dirty="0"/>
          </a:p>
        </p:txBody>
      </p:sp>
      <p:sp>
        <p:nvSpPr>
          <p:cNvPr id="20" name="Fußzeilenplatzhalter 2"/>
          <p:cNvSpPr>
            <a:spLocks noGrp="1"/>
          </p:cNvSpPr>
          <p:nvPr>
            <p:ph type="ftr" sz="quarter" idx="11"/>
          </p:nvPr>
        </p:nvSpPr>
        <p:spPr>
          <a:xfrm>
            <a:off x="383950" y="4980225"/>
            <a:ext cx="11425513" cy="52482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21" name="Datumsplatzhalter 1"/>
          <p:cNvSpPr>
            <a:spLocks noGrp="1"/>
          </p:cNvSpPr>
          <p:nvPr>
            <p:ph type="dt" sz="half" idx="12"/>
          </p:nvPr>
        </p:nvSpPr>
        <p:spPr>
          <a:xfrm>
            <a:off x="383950" y="4675425"/>
            <a:ext cx="11425513" cy="306150"/>
          </a:xfrm>
          <a:prstGeom prst="rect">
            <a:avLst/>
          </a:prstGeom>
        </p:spPr>
        <p:txBody>
          <a:bodyPr/>
          <a:lstStyle>
            <a:lvl1pPr algn="l">
              <a:defRPr sz="2000">
                <a:solidFill>
                  <a:schemeClr val="tx1"/>
                </a:solidFill>
              </a:defRPr>
            </a:lvl1pPr>
          </a:lstStyle>
          <a:p>
            <a:pPr algn="l"/>
            <a:fld id="{11769DE8-88E0-424A-87BD-6924D1146258}" type="datetime5">
              <a:rPr lang="zh-CN" altLang="en-US" smtClean="0"/>
              <a:t>2026/6/26</a:t>
            </a:fld>
            <a:endParaRPr lang="de-DE" dirty="0"/>
          </a:p>
        </p:txBody>
      </p:sp>
      <p:pic>
        <p:nvPicPr>
          <p:cNvPr id="25" name="Grafik 24"/>
          <p:cNvPicPr>
            <a:picLocks noChangeAspect="1"/>
          </p:cNvPicPr>
          <p:nvPr userDrawn="1"/>
        </p:nvPicPr>
        <p:blipFill rotWithShape="1">
          <a:blip r:embed="rId6" cstate="hqprint"/>
          <a:srcRect/>
          <a:stretch>
            <a:fillRect/>
          </a:stretch>
        </p:blipFill>
        <p:spPr>
          <a:xfrm>
            <a:off x="9971531" y="-6889"/>
            <a:ext cx="2239901" cy="1902117"/>
          </a:xfrm>
          <a:prstGeom prst="rect">
            <a:avLst/>
          </a:prstGeom>
        </p:spPr>
      </p:pic>
      <p:pic>
        <p:nvPicPr>
          <p:cNvPr id="26" name="Grafik 25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21020" y="-6889"/>
            <a:ext cx="2798307" cy="1908213"/>
          </a:xfrm>
          <a:prstGeom prst="rect">
            <a:avLst/>
          </a:prstGeom>
        </p:spPr>
      </p:pic>
      <p:pic>
        <p:nvPicPr>
          <p:cNvPr id="29" name="Grafik 28"/>
          <p:cNvPicPr>
            <a:picLocks noChangeAspect="1"/>
          </p:cNvPicPr>
          <p:nvPr userDrawn="1"/>
        </p:nvPicPr>
        <p:blipFill>
          <a:blip r:embed="rId8" cstate="hqprint"/>
          <a:stretch>
            <a:fillRect/>
          </a:stretch>
        </p:blipFill>
        <p:spPr>
          <a:xfrm>
            <a:off x="2777287" y="-6889"/>
            <a:ext cx="1436612" cy="1908000"/>
          </a:xfrm>
          <a:prstGeom prst="rect">
            <a:avLst/>
          </a:prstGeom>
        </p:spPr>
      </p:pic>
      <p:pic>
        <p:nvPicPr>
          <p:cNvPr id="30" name="Grafik 29"/>
          <p:cNvPicPr>
            <a:picLocks noChangeAspect="1"/>
          </p:cNvPicPr>
          <p:nvPr userDrawn="1"/>
        </p:nvPicPr>
        <p:blipFill rotWithShape="1">
          <a:blip r:embed="rId9" cstate="hqprint"/>
          <a:srcRect/>
          <a:stretch>
            <a:fillRect/>
          </a:stretch>
        </p:blipFill>
        <p:spPr>
          <a:xfrm>
            <a:off x="4213899" y="-6889"/>
            <a:ext cx="2491702" cy="1908000"/>
          </a:xfrm>
          <a:prstGeom prst="rect">
            <a:avLst/>
          </a:prstGeom>
        </p:spPr>
      </p:pic>
      <p:pic>
        <p:nvPicPr>
          <p:cNvPr id="31" name="Grafik 30"/>
          <p:cNvPicPr>
            <a:picLocks noChangeAspect="1"/>
          </p:cNvPicPr>
          <p:nvPr userDrawn="1"/>
        </p:nvPicPr>
        <p:blipFill rotWithShape="1">
          <a:blip r:embed="rId10" cstate="hqprint"/>
          <a:srcRect/>
          <a:stretch>
            <a:fillRect/>
          </a:stretch>
        </p:blipFill>
        <p:spPr>
          <a:xfrm>
            <a:off x="6660046" y="-6889"/>
            <a:ext cx="3321996" cy="1908000"/>
          </a:xfrm>
          <a:prstGeom prst="rect">
            <a:avLst/>
          </a:prstGeom>
        </p:spPr>
      </p:pic>
      <p:sp>
        <p:nvSpPr>
          <p:cNvPr id="28" name="Textfeld 27"/>
          <p:cNvSpPr txBox="1"/>
          <p:nvPr userDrawn="1"/>
        </p:nvSpPr>
        <p:spPr>
          <a:xfrm>
            <a:off x="0" y="1845525"/>
            <a:ext cx="12196800" cy="246221"/>
          </a:xfrm>
          <a:prstGeom prst="rect">
            <a:avLst/>
          </a:prstGeom>
          <a:solidFill>
            <a:srgbClr val="00549F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1000" noProof="0" dirty="0">
                <a:solidFill>
                  <a:schemeClr val="bg1"/>
                </a:solidFill>
              </a:rPr>
              <a:t>Ageing     •     Models     •     Diagnostics     •     Pack Design     •     </a:t>
            </a:r>
            <a:r>
              <a:rPr lang="en-US" sz="1000" noProof="0" dirty="0" err="1">
                <a:solidFill>
                  <a:schemeClr val="bg1"/>
                </a:solidFill>
              </a:rPr>
              <a:t>Electromobility</a:t>
            </a:r>
            <a:r>
              <a:rPr lang="en-US" sz="1000" noProof="0" dirty="0">
                <a:solidFill>
                  <a:schemeClr val="bg1"/>
                </a:solidFill>
              </a:rPr>
              <a:t>     •     Stationary Energy Storage     •     Energy System Analysis</a:t>
            </a:r>
          </a:p>
        </p:txBody>
      </p:sp>
    </p:spTree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Objekt 2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9525" imgH="9525" progId="TCLayout.ActiveDocument.1">
                  <p:embed/>
                </p:oleObj>
              </mc:Choice>
              <mc:Fallback>
                <p:oleObj name="think-cell Folie" r:id="rId3" imgW="9525" imgH="9525" progId="TCLayout.ActiveDocument.1">
                  <p:embed/>
                  <p:pic>
                    <p:nvPicPr>
                      <p:cNvPr id="0" name="Objekt 2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4" name="Grafik 23"/>
          <p:cNvPicPr>
            <a:picLocks noChangeAspect="1"/>
          </p:cNvPicPr>
          <p:nvPr userDrawn="1"/>
        </p:nvPicPr>
        <p:blipFill>
          <a:blip r:embed="rId5" cstate="print"/>
          <a:stretch>
            <a:fillRect/>
          </a:stretch>
        </p:blipFill>
        <p:spPr>
          <a:xfrm>
            <a:off x="7780427" y="5882400"/>
            <a:ext cx="4136919" cy="975600"/>
          </a:xfrm>
          <a:prstGeom prst="rect">
            <a:avLst/>
          </a:prstGeom>
        </p:spPr>
      </p:pic>
      <p:sp>
        <p:nvSpPr>
          <p:cNvPr id="19" name="Untertitel 2"/>
          <p:cNvSpPr txBox="1"/>
          <p:nvPr userDrawn="1"/>
        </p:nvSpPr>
        <p:spPr>
          <a:xfrm>
            <a:off x="383950" y="6076425"/>
            <a:ext cx="6650934" cy="648524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None/>
              <a:tabLst>
                <a:tab pos="4318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None/>
              <a:tabLst>
                <a:tab pos="647700" algn="l"/>
              </a:tabLs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None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ctr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400" b="1" baseline="0" noProof="0" dirty="0">
                <a:solidFill>
                  <a:schemeClr val="tx2"/>
                </a:solidFill>
              </a:rPr>
              <a:t>Center for Ageing, Reliability and Lifetime Prediction of Electrochemical and Power Electronic Systems (CARL)</a:t>
            </a:r>
            <a:endParaRPr lang="de-DE" sz="1400" b="1" noProof="0" dirty="0">
              <a:solidFill>
                <a:schemeClr val="tx2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383950" y="2487599"/>
            <a:ext cx="11422513" cy="127477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algn="l">
              <a:defRPr sz="3200" b="1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Titelmasterformat durch Klicken bearbeiten</a:t>
            </a:r>
            <a:endParaRPr lang="en-US" dirty="0"/>
          </a:p>
        </p:txBody>
      </p:sp>
      <p:sp>
        <p:nvSpPr>
          <p:cNvPr id="15" name="Subtitle 2"/>
          <p:cNvSpPr>
            <a:spLocks noGrp="1"/>
          </p:cNvSpPr>
          <p:nvPr>
            <p:ph type="subTitle" idx="1"/>
          </p:nvPr>
        </p:nvSpPr>
        <p:spPr>
          <a:xfrm>
            <a:off x="383950" y="3857624"/>
            <a:ext cx="11422513" cy="6096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en-US" dirty="0"/>
          </a:p>
        </p:txBody>
      </p:sp>
      <p:sp>
        <p:nvSpPr>
          <p:cNvPr id="20" name="Fußzeilenplatzhalter 2"/>
          <p:cNvSpPr>
            <a:spLocks noGrp="1"/>
          </p:cNvSpPr>
          <p:nvPr>
            <p:ph type="ftr" sz="quarter" idx="11"/>
          </p:nvPr>
        </p:nvSpPr>
        <p:spPr>
          <a:xfrm>
            <a:off x="383950" y="4980225"/>
            <a:ext cx="11425513" cy="52482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21" name="Datumsplatzhalter 1"/>
          <p:cNvSpPr>
            <a:spLocks noGrp="1"/>
          </p:cNvSpPr>
          <p:nvPr>
            <p:ph type="dt" sz="half" idx="12"/>
          </p:nvPr>
        </p:nvSpPr>
        <p:spPr>
          <a:xfrm>
            <a:off x="383950" y="4675425"/>
            <a:ext cx="11425513" cy="306150"/>
          </a:xfrm>
          <a:prstGeom prst="rect">
            <a:avLst/>
          </a:prstGeom>
        </p:spPr>
        <p:txBody>
          <a:bodyPr/>
          <a:lstStyle>
            <a:lvl1pPr algn="l">
              <a:defRPr sz="2000">
                <a:solidFill>
                  <a:schemeClr val="tx1"/>
                </a:solidFill>
              </a:defRPr>
            </a:lvl1pPr>
          </a:lstStyle>
          <a:p>
            <a:pPr algn="l"/>
            <a:fld id="{11769DE8-88E0-424A-87BD-6924D1146258}" type="datetime5">
              <a:rPr lang="zh-CN" altLang="en-US" smtClean="0"/>
              <a:t>2026/6/26</a:t>
            </a:fld>
            <a:endParaRPr lang="de-DE" dirty="0"/>
          </a:p>
        </p:txBody>
      </p:sp>
      <p:pic>
        <p:nvPicPr>
          <p:cNvPr id="16" name="Grafik 15"/>
          <p:cNvPicPr>
            <a:picLocks noChangeAspect="1"/>
          </p:cNvPicPr>
          <p:nvPr userDrawn="1"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4" b="31438"/>
          <a:stretch>
            <a:fillRect/>
          </a:stretch>
        </p:blipFill>
        <p:spPr>
          <a:xfrm>
            <a:off x="0" y="0"/>
            <a:ext cx="12190413" cy="2768838"/>
          </a:xfrm>
          <a:prstGeom prst="rect">
            <a:avLst/>
          </a:prstGeom>
        </p:spPr>
      </p:pic>
    </p:spTree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Vari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9525" imgH="9525" progId="TCLayout.ActiveDocument.1">
                  <p:embed/>
                </p:oleObj>
              </mc:Choice>
              <mc:Fallback>
                <p:oleObj name="think-cell Folie" r:id="rId3" imgW="9525" imgH="9525" progId="TCLayout.ActiveDocument.1">
                  <p:embed/>
                  <p:pic>
                    <p:nvPicPr>
                      <p:cNvPr id="0" name="图片 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Untertitel 2"/>
          <p:cNvSpPr txBox="1"/>
          <p:nvPr/>
        </p:nvSpPr>
        <p:spPr>
          <a:xfrm>
            <a:off x="383950" y="6076425"/>
            <a:ext cx="6650934" cy="648524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None/>
              <a:tabLst>
                <a:tab pos="4318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None/>
              <a:tabLst>
                <a:tab pos="647700" algn="l"/>
              </a:tabLs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None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ctr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400" b="1" baseline="0" noProof="0" dirty="0">
                <a:solidFill>
                  <a:schemeClr val="tx2"/>
                </a:solidFill>
              </a:rPr>
              <a:t>Center for Ageing, Reliability and Lifetime Prediction of Electrochemical and Power Electronic Systems (CARL)</a:t>
            </a:r>
            <a:endParaRPr lang="de-DE" sz="1400" b="1" noProof="0" dirty="0">
              <a:solidFill>
                <a:schemeClr val="tx2"/>
              </a:solidFill>
            </a:endParaRPr>
          </a:p>
        </p:txBody>
      </p:sp>
      <p:pic>
        <p:nvPicPr>
          <p:cNvPr id="4" name="Grafik 2"/>
          <p:cNvPicPr>
            <a:picLocks noChangeAspect="1"/>
          </p:cNvPicPr>
          <p:nvPr userDrawn="1"/>
        </p:nvPicPr>
        <p:blipFill rotWithShape="1">
          <a:blip r:embed="rId5" cstate="hqprint"/>
          <a:srcRect/>
          <a:stretch>
            <a:fillRect/>
          </a:stretch>
        </p:blipFill>
        <p:spPr>
          <a:xfrm>
            <a:off x="-1588" y="0"/>
            <a:ext cx="12192000" cy="2724150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383950" y="2725724"/>
            <a:ext cx="11422513" cy="127477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algn="l">
              <a:defRPr sz="3200" b="1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83950" y="4095749"/>
            <a:ext cx="11422513" cy="6096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7" name="Fußzeilenplatzhalter 2"/>
          <p:cNvSpPr>
            <a:spLocks noGrp="1"/>
          </p:cNvSpPr>
          <p:nvPr>
            <p:ph type="ftr" sz="quarter" idx="11"/>
          </p:nvPr>
        </p:nvSpPr>
        <p:spPr>
          <a:xfrm>
            <a:off x="383950" y="5218350"/>
            <a:ext cx="11425513" cy="524824"/>
          </a:xfr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Liang Huang</a:t>
            </a:r>
          </a:p>
        </p:txBody>
      </p:sp>
      <p:sp>
        <p:nvSpPr>
          <p:cNvPr id="8" name="Datumsplatzhalter 1"/>
          <p:cNvSpPr>
            <a:spLocks noGrp="1"/>
          </p:cNvSpPr>
          <p:nvPr>
            <p:ph type="dt" sz="half" idx="12"/>
          </p:nvPr>
        </p:nvSpPr>
        <p:spPr>
          <a:xfrm>
            <a:off x="383950" y="4913550"/>
            <a:ext cx="11425513" cy="306150"/>
          </a:xfrm>
        </p:spPr>
        <p:txBody>
          <a:bodyPr/>
          <a:lstStyle>
            <a:lvl1pPr algn="l">
              <a:defRPr sz="2000">
                <a:solidFill>
                  <a:schemeClr val="tx1"/>
                </a:solidFill>
              </a:defRPr>
            </a:lvl1pPr>
          </a:lstStyle>
          <a:p>
            <a:pPr algn="l"/>
            <a:fld id="{6D3069C6-0311-4A39-8CC1-DA405FE38D0C}" type="datetime5">
              <a:rPr lang="zh-CN" altLang="en-US" smtClean="0"/>
              <a:t>2026/6/26</a:t>
            </a:fld>
            <a:endParaRPr lang="de-DE" dirty="0"/>
          </a:p>
        </p:txBody>
      </p:sp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6" cstate="print"/>
          <a:stretch>
            <a:fillRect/>
          </a:stretch>
        </p:blipFill>
        <p:spPr>
          <a:xfrm>
            <a:off x="7780427" y="5882400"/>
            <a:ext cx="4136919" cy="975600"/>
          </a:xfrm>
          <a:prstGeom prst="rect">
            <a:avLst/>
          </a:prstGeom>
        </p:spPr>
      </p:pic>
    </p:spTree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in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 txBox="1"/>
          <p:nvPr/>
        </p:nvSpPr>
        <p:spPr>
          <a:xfrm>
            <a:off x="383068" y="801688"/>
            <a:ext cx="11424279" cy="1079500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 baseline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fontAlgn="auto">
              <a:spcAft>
                <a:spcPts val="0"/>
              </a:spcAft>
              <a:defRPr/>
            </a:pPr>
            <a:r>
              <a:rPr lang="en-US" noProof="0" dirty="0"/>
              <a:t>Thank you</a:t>
            </a:r>
            <a:br>
              <a:rPr lang="en-US" noProof="0" dirty="0"/>
            </a:br>
            <a:r>
              <a:rPr lang="en-US" noProof="0" dirty="0"/>
              <a:t>for your attention</a:t>
            </a:r>
          </a:p>
        </p:txBody>
      </p:sp>
      <p:cxnSp>
        <p:nvCxnSpPr>
          <p:cNvPr id="18" name="Gerader Verbinder 11"/>
          <p:cNvCxnSpPr/>
          <p:nvPr/>
        </p:nvCxnSpPr>
        <p:spPr>
          <a:xfrm>
            <a:off x="383068" y="6202363"/>
            <a:ext cx="114242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hteck 18"/>
          <p:cNvSpPr/>
          <p:nvPr/>
        </p:nvSpPr>
        <p:spPr>
          <a:xfrm>
            <a:off x="6249086" y="2124077"/>
            <a:ext cx="5561876" cy="375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/>
          <p:cNvSpPr/>
          <p:nvPr/>
        </p:nvSpPr>
        <p:spPr>
          <a:xfrm>
            <a:off x="392649" y="2124076"/>
            <a:ext cx="5561876" cy="37566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1" name="Grafik 20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955573" y="4878751"/>
            <a:ext cx="952500" cy="952500"/>
          </a:xfrm>
          <a:prstGeom prst="rect">
            <a:avLst/>
          </a:prstGeom>
        </p:spPr>
      </p:pic>
      <p:sp>
        <p:nvSpPr>
          <p:cNvPr id="22" name="Textplatzhalter 3"/>
          <p:cNvSpPr txBox="1"/>
          <p:nvPr/>
        </p:nvSpPr>
        <p:spPr>
          <a:xfrm>
            <a:off x="392649" y="2133599"/>
            <a:ext cx="5561876" cy="3745278"/>
          </a:xfrm>
          <a:prstGeom prst="rect">
            <a:avLst/>
          </a:prstGeom>
        </p:spPr>
        <p:txBody>
          <a:bodyPr lIns="90000" tIns="36000" rIns="90000" bIns="3600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1600" b="1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864235" indent="-21590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864235" indent="-215900" algn="l" rtl="0" eaLnBrk="1" fontAlgn="base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Contact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Chair for Electrochemical Energy Conversion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and Storage Systems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Univ.-Prof. Dr.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 nat. Dirk Uwe Sauer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RWTH Aachen University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Campus-Boulevard 89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52074 Aachen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GERMANY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www.isea.rwth-aachen.de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3" name="Textplatzhalter 3"/>
          <p:cNvSpPr txBox="1"/>
          <p:nvPr/>
        </p:nvSpPr>
        <p:spPr>
          <a:xfrm>
            <a:off x="6245471" y="2133599"/>
            <a:ext cx="5561876" cy="3745278"/>
          </a:xfrm>
          <a:prstGeom prst="rect">
            <a:avLst/>
          </a:prstGeom>
        </p:spPr>
        <p:txBody>
          <a:bodyPr lIns="90000" tIns="36000" rIns="90000" bIns="3600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1600" b="1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864235" indent="-21590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864235" indent="-215900" algn="l" rtl="0" eaLnBrk="1" fontAlgn="base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We thank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" name="Textplatzhalter 23"/>
          <p:cNvSpPr>
            <a:spLocks noGrp="1"/>
          </p:cNvSpPr>
          <p:nvPr>
            <p:ph type="body" sz="quarter" idx="10" hasCustomPrompt="1"/>
          </p:nvPr>
        </p:nvSpPr>
        <p:spPr>
          <a:xfrm>
            <a:off x="392649" y="2828926"/>
            <a:ext cx="3886694" cy="733425"/>
          </a:xfrm>
          <a:prstGeom prst="rect">
            <a:avLst/>
          </a:prstGeom>
        </p:spPr>
        <p:txBody>
          <a:bodyPr/>
          <a:lstStyle>
            <a:lvl1pPr marL="0" marR="0" indent="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 sz="1400" b="0" baseline="0"/>
            </a:lvl1pPr>
          </a:lstStyle>
          <a:p>
            <a:pPr lvl="0"/>
            <a:r>
              <a:rPr lang="de-DE" noProof="0" dirty="0"/>
              <a:t>Tel.: +49 241 80-XXXXX</a:t>
            </a:r>
            <a:br>
              <a:rPr lang="de-DE" noProof="0" dirty="0"/>
            </a:br>
            <a:r>
              <a:rPr lang="de-DE" noProof="0" dirty="0"/>
              <a:t>xxx@isea.rwth-aachen.de</a:t>
            </a:r>
            <a:br>
              <a:rPr lang="de-DE" noProof="0" dirty="0"/>
            </a:br>
            <a:r>
              <a:rPr lang="de-DE" noProof="0" dirty="0"/>
              <a:t>batteries@isea.rwth-aachen.de</a:t>
            </a:r>
          </a:p>
        </p:txBody>
      </p:sp>
      <p:sp>
        <p:nvSpPr>
          <p:cNvPr id="26" name="Fußzeilenplatzhalter 27"/>
          <p:cNvSpPr>
            <a:spLocks noGrp="1"/>
          </p:cNvSpPr>
          <p:nvPr>
            <p:ph type="ftr" sz="quarter" idx="13"/>
          </p:nvPr>
        </p:nvSpPr>
        <p:spPr>
          <a:xfrm>
            <a:off x="392649" y="2570401"/>
            <a:ext cx="3886694" cy="334725"/>
          </a:xfrm>
          <a:prstGeom prst="rect">
            <a:avLst/>
          </a:prstGeom>
        </p:spPr>
        <p:txBody>
          <a:bodyPr lIns="90000" tIns="90000" rIns="90000" bIns="90000"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17" name="Bildplatzhalter 25"/>
          <p:cNvSpPr>
            <a:spLocks noGrp="1"/>
          </p:cNvSpPr>
          <p:nvPr>
            <p:ph type="pic" sz="quarter" idx="11" hasCustomPrompt="1"/>
          </p:nvPr>
        </p:nvSpPr>
        <p:spPr>
          <a:xfrm>
            <a:off x="4811297" y="2124075"/>
            <a:ext cx="1137452" cy="146262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/>
            </a:lvl1pPr>
          </a:lstStyle>
          <a:p>
            <a:r>
              <a:rPr lang="de-DE" dirty="0"/>
              <a:t>Eigenes Foto durch Klicken hinzufügen</a:t>
            </a:r>
            <a:endParaRPr lang="en-US" dirty="0"/>
          </a:p>
        </p:txBody>
      </p:sp>
      <p:sp>
        <p:nvSpPr>
          <p:cNvPr id="25" name="Bildplatzhalter 30"/>
          <p:cNvSpPr>
            <a:spLocks noGrp="1"/>
          </p:cNvSpPr>
          <p:nvPr>
            <p:ph type="pic" sz="quarter" idx="14" hasCustomPrompt="1"/>
          </p:nvPr>
        </p:nvSpPr>
        <p:spPr>
          <a:xfrm>
            <a:off x="6361869" y="2571750"/>
            <a:ext cx="2591663" cy="154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Partnerlogo durch Klicken hinzufügen</a:t>
            </a:r>
            <a:endParaRPr lang="en-US" dirty="0"/>
          </a:p>
        </p:txBody>
      </p:sp>
      <p:sp>
        <p:nvSpPr>
          <p:cNvPr id="27" name="Bildplatzhalter 30"/>
          <p:cNvSpPr>
            <a:spLocks noGrp="1"/>
          </p:cNvSpPr>
          <p:nvPr>
            <p:ph type="pic" sz="quarter" idx="15" hasCustomPrompt="1"/>
          </p:nvPr>
        </p:nvSpPr>
        <p:spPr>
          <a:xfrm>
            <a:off x="9092013" y="2571750"/>
            <a:ext cx="2591663" cy="154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Partnerlogo durch Klicken hinzufügen</a:t>
            </a:r>
            <a:endParaRPr lang="en-US" dirty="0"/>
          </a:p>
        </p:txBody>
      </p:sp>
      <p:sp>
        <p:nvSpPr>
          <p:cNvPr id="28" name="Bildplatzhalter 30"/>
          <p:cNvSpPr>
            <a:spLocks noGrp="1"/>
          </p:cNvSpPr>
          <p:nvPr>
            <p:ph type="pic" sz="quarter" idx="16" hasCustomPrompt="1"/>
          </p:nvPr>
        </p:nvSpPr>
        <p:spPr>
          <a:xfrm>
            <a:off x="6361869" y="4229100"/>
            <a:ext cx="2591663" cy="154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Partnerlogo durch Klicken hinzufügen</a:t>
            </a:r>
            <a:endParaRPr lang="en-US" dirty="0"/>
          </a:p>
        </p:txBody>
      </p:sp>
      <p:sp>
        <p:nvSpPr>
          <p:cNvPr id="29" name="Bildplatzhalter 30"/>
          <p:cNvSpPr>
            <a:spLocks noGrp="1"/>
          </p:cNvSpPr>
          <p:nvPr>
            <p:ph type="pic" sz="quarter" idx="17" hasCustomPrompt="1"/>
          </p:nvPr>
        </p:nvSpPr>
        <p:spPr>
          <a:xfrm>
            <a:off x="9092013" y="4229100"/>
            <a:ext cx="2591663" cy="154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Partnerlogo durch Klicken hinzufügen</a:t>
            </a:r>
            <a:endParaRPr lang="en-US" dirty="0"/>
          </a:p>
        </p:txBody>
      </p:sp>
      <p:cxnSp>
        <p:nvCxnSpPr>
          <p:cNvPr id="30" name="Gerader Verbinder 11"/>
          <p:cNvCxnSpPr/>
          <p:nvPr userDrawn="1"/>
        </p:nvCxnSpPr>
        <p:spPr>
          <a:xfrm>
            <a:off x="383068" y="6202363"/>
            <a:ext cx="114242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137882" y="6205415"/>
            <a:ext cx="2778300" cy="655200"/>
          </a:xfrm>
          <a:prstGeom prst="rect">
            <a:avLst/>
          </a:prstGeom>
        </p:spPr>
      </p:pic>
    </p:spTree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1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383950" y="201600"/>
            <a:ext cx="11422513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7" name="Inhaltsplatzhalter 2"/>
          <p:cNvSpPr>
            <a:spLocks noGrp="1"/>
          </p:cNvSpPr>
          <p:nvPr>
            <p:ph idx="1" hasCustomPrompt="1"/>
          </p:nvPr>
        </p:nvSpPr>
        <p:spPr>
          <a:xfrm>
            <a:off x="383950" y="1151999"/>
            <a:ext cx="11422513" cy="4731275"/>
          </a:xfrm>
          <a:prstGeom prst="rect">
            <a:avLst/>
          </a:prstGeom>
        </p:spPr>
        <p:txBody>
          <a:bodyPr lIns="0" tIns="0" rIns="0" bIns="0"/>
          <a:lstStyle>
            <a:lvl1pPr marL="215900" indent="-215900">
              <a:spcBef>
                <a:spcPts val="0"/>
              </a:spcBef>
              <a:spcAft>
                <a:spcPts val="450"/>
              </a:spcAft>
              <a:buFont typeface="Arial" panose="020B0604020202020204" pitchFamily="34" charset="0"/>
              <a:buChar char="■"/>
              <a:defRPr sz="2000"/>
            </a:lvl1pPr>
            <a:lvl2pPr marL="431800" indent="-215900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□"/>
              <a:defRPr sz="1800"/>
            </a:lvl2pPr>
            <a:lvl3pPr marL="647700" indent="-215900">
              <a:spcBef>
                <a:spcPts val="0"/>
              </a:spcBef>
              <a:spcAft>
                <a:spcPts val="350"/>
              </a:spcAft>
              <a:buFont typeface="Arial" panose="020B0604020202020204" pitchFamily="34" charset="0"/>
              <a:buChar char="■"/>
              <a:defRPr sz="1800"/>
            </a:lvl3pPr>
            <a:lvl4pPr marL="863600" indent="-215900">
              <a:spcBef>
                <a:spcPts val="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/>
            </a:lvl4pPr>
            <a:lvl5pPr marL="1080135" indent="-215900">
              <a:spcBef>
                <a:spcPts val="0"/>
              </a:spcBef>
              <a:spcAft>
                <a:spcPts val="25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pPr algn="l"/>
            <a:fld id="{74486B41-BCE2-48B7-876C-2B3490450D97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383950" y="201600"/>
            <a:ext cx="11422513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10" name="Inhaltsplatzhalter 2"/>
          <p:cNvSpPr>
            <a:spLocks noGrp="1"/>
          </p:cNvSpPr>
          <p:nvPr>
            <p:ph idx="1" hasCustomPrompt="1"/>
          </p:nvPr>
        </p:nvSpPr>
        <p:spPr>
          <a:xfrm>
            <a:off x="383950" y="1151999"/>
            <a:ext cx="5620068" cy="4731275"/>
          </a:xfrm>
          <a:prstGeom prst="rect">
            <a:avLst/>
          </a:prstGeom>
        </p:spPr>
        <p:txBody>
          <a:bodyPr lIns="0" tIns="0" rIns="0" bIns="0"/>
          <a:lstStyle>
            <a:lvl1pPr marL="215900" indent="-215900">
              <a:spcBef>
                <a:spcPts val="0"/>
              </a:spcBef>
              <a:spcAft>
                <a:spcPts val="450"/>
              </a:spcAft>
              <a:buFont typeface="Arial" panose="020B0604020202020204" pitchFamily="34" charset="0"/>
              <a:buChar char="■"/>
              <a:defRPr sz="2000"/>
            </a:lvl1pPr>
            <a:lvl2pPr marL="431800" indent="-215900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□"/>
              <a:defRPr sz="1800"/>
            </a:lvl2pPr>
            <a:lvl3pPr marL="647700" indent="-215900">
              <a:spcBef>
                <a:spcPts val="0"/>
              </a:spcBef>
              <a:spcAft>
                <a:spcPts val="350"/>
              </a:spcAft>
              <a:buFont typeface="Arial" panose="020B0604020202020204" pitchFamily="34" charset="0"/>
              <a:buChar char="■"/>
              <a:defRPr sz="1800"/>
            </a:lvl3pPr>
            <a:lvl4pPr marL="863600" indent="-215900">
              <a:spcBef>
                <a:spcPts val="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/>
            </a:lvl4pPr>
            <a:lvl5pPr marL="1080135" indent="-215900">
              <a:spcBef>
                <a:spcPts val="0"/>
              </a:spcBef>
              <a:spcAft>
                <a:spcPts val="25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1" name="Inhaltsplatzhalter 2"/>
          <p:cNvSpPr>
            <a:spLocks noGrp="1"/>
          </p:cNvSpPr>
          <p:nvPr>
            <p:ph idx="13" hasCustomPrompt="1"/>
          </p:nvPr>
        </p:nvSpPr>
        <p:spPr>
          <a:xfrm>
            <a:off x="6191194" y="1151999"/>
            <a:ext cx="5620068" cy="4731275"/>
          </a:xfrm>
          <a:prstGeom prst="rect">
            <a:avLst/>
          </a:prstGeom>
        </p:spPr>
        <p:txBody>
          <a:bodyPr lIns="0" tIns="0" rIns="0" bIns="0"/>
          <a:lstStyle>
            <a:lvl1pPr marL="215900" indent="-215900">
              <a:spcBef>
                <a:spcPts val="0"/>
              </a:spcBef>
              <a:spcAft>
                <a:spcPts val="450"/>
              </a:spcAft>
              <a:buFont typeface="Arial" panose="020B0604020202020204" pitchFamily="34" charset="0"/>
              <a:buChar char="■"/>
              <a:defRPr sz="2000"/>
            </a:lvl1pPr>
            <a:lvl2pPr marL="431800" indent="-215900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□"/>
              <a:defRPr sz="1800"/>
            </a:lvl2pPr>
            <a:lvl3pPr marL="647700" indent="-215900">
              <a:spcBef>
                <a:spcPts val="0"/>
              </a:spcBef>
              <a:spcAft>
                <a:spcPts val="350"/>
              </a:spcAft>
              <a:buFont typeface="Arial" panose="020B0604020202020204" pitchFamily="34" charset="0"/>
              <a:buChar char="■"/>
              <a:defRPr sz="1800"/>
            </a:lvl3pPr>
            <a:lvl4pPr marL="863600" indent="-215900">
              <a:spcBef>
                <a:spcPts val="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/>
            </a:lvl4pPr>
            <a:lvl5pPr marL="1080135" indent="-215900">
              <a:spcBef>
                <a:spcPts val="0"/>
              </a:spcBef>
              <a:spcAft>
                <a:spcPts val="25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 algn="l">
              <a:defRPr/>
            </a:lvl1pPr>
          </a:lstStyle>
          <a:p>
            <a:pPr algn="l"/>
            <a:fld id="{85D6FCC3-EE37-4749-9624-859AF44EE717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lt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383950" y="201600"/>
            <a:ext cx="11422513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pPr algn="l"/>
            <a:fld id="{E47FF345-F1B3-44B8-9B74-D6676F7F0EE5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0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tags" Target="../tags/tag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image" Target="../media/image2.emf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image" Target="../media/image1.emf"/><Relationship Id="rId5" Type="http://schemas.openxmlformats.org/officeDocument/2006/relationships/slideLayout" Target="../slideLayouts/slideLayout12.xml"/><Relationship Id="rId10" Type="http://schemas.openxmlformats.org/officeDocument/2006/relationships/oleObject" Target="../embeddings/oleObject4.bin"/><Relationship Id="rId4" Type="http://schemas.openxmlformats.org/officeDocument/2006/relationships/slideLayout" Target="../slideLayouts/slideLayout11.xml"/><Relationship Id="rId9" Type="http://schemas.openxmlformats.org/officeDocument/2006/relationships/tags" Target="../tags/tag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9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0" imgW="9525" imgH="9525" progId="TCLayout.ActiveDocument.1">
                  <p:embed/>
                </p:oleObj>
              </mc:Choice>
              <mc:Fallback>
                <p:oleObj name="think-cell Folie" r:id="rId10" imgW="9525" imgH="9525" progId="TCLayout.ActiveDocument.1">
                  <p:embed/>
                  <p:pic>
                    <p:nvPicPr>
                      <p:cNvPr id="0" name="图片 1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1" name="Gerader Verbinder 10"/>
          <p:cNvCxnSpPr/>
          <p:nvPr/>
        </p:nvCxnSpPr>
        <p:spPr>
          <a:xfrm>
            <a:off x="383068" y="814388"/>
            <a:ext cx="114242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/>
          <p:cNvCxnSpPr/>
          <p:nvPr/>
        </p:nvCxnSpPr>
        <p:spPr>
          <a:xfrm>
            <a:off x="383068" y="6202363"/>
            <a:ext cx="114242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umsplatzhalter 1"/>
          <p:cNvSpPr>
            <a:spLocks noGrp="1"/>
          </p:cNvSpPr>
          <p:nvPr>
            <p:ph type="dt" sz="half" idx="2"/>
          </p:nvPr>
        </p:nvSpPr>
        <p:spPr>
          <a:xfrm>
            <a:off x="935480" y="6361350"/>
            <a:ext cx="5668062" cy="52482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100" b="0">
                <a:solidFill>
                  <a:schemeClr val="tx2"/>
                </a:solidFill>
              </a:defRPr>
            </a:lvl1pPr>
          </a:lstStyle>
          <a:p>
            <a:fld id="{D35072EC-9367-4D7B-8652-6A082F0A7E89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4" name="Fußzeilenplatzhalter 2"/>
          <p:cNvSpPr>
            <a:spLocks noGrp="1"/>
          </p:cNvSpPr>
          <p:nvPr>
            <p:ph type="ftr" sz="quarter" idx="3"/>
          </p:nvPr>
        </p:nvSpPr>
        <p:spPr>
          <a:xfrm>
            <a:off x="1818425" y="6361350"/>
            <a:ext cx="4391428" cy="52482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100" b="0">
                <a:solidFill>
                  <a:schemeClr val="tx2"/>
                </a:solidFill>
              </a:defRPr>
            </a:lvl1pPr>
          </a:lstStyle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5" name="Foliennummernplatzhalter 3"/>
          <p:cNvSpPr>
            <a:spLocks noGrp="1"/>
          </p:cNvSpPr>
          <p:nvPr>
            <p:ph type="sldNum" sz="quarter" idx="4"/>
          </p:nvPr>
        </p:nvSpPr>
        <p:spPr>
          <a:xfrm>
            <a:off x="383950" y="6361350"/>
            <a:ext cx="974273" cy="396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Textfeld 4"/>
          <p:cNvSpPr txBox="1"/>
          <p:nvPr/>
        </p:nvSpPr>
        <p:spPr>
          <a:xfrm>
            <a:off x="1706633" y="6352041"/>
            <a:ext cx="3687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de-DE" sz="1100" b="0" dirty="0">
                <a:solidFill>
                  <a:schemeClr val="tx2"/>
                </a:solidFill>
              </a:rPr>
              <a:t>|</a:t>
            </a:r>
            <a:endParaRPr lang="en-US" sz="1200" b="0" dirty="0">
              <a:solidFill>
                <a:schemeClr val="tx2"/>
              </a:solidFill>
            </a:endParaRPr>
          </a:p>
        </p:txBody>
      </p:sp>
      <p:sp>
        <p:nvSpPr>
          <p:cNvPr id="9" name="Textfeld 8"/>
          <p:cNvSpPr txBox="1"/>
          <p:nvPr/>
        </p:nvSpPr>
        <p:spPr>
          <a:xfrm>
            <a:off x="935242" y="6542541"/>
            <a:ext cx="691375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100" b="0" baseline="0" noProof="0" dirty="0">
                <a:solidFill>
                  <a:schemeClr val="tx2"/>
                </a:solidFill>
              </a:rPr>
              <a:t>Center for Ageing, Reliability and Lifetime Prediction of Electrochemical and Power Electronic Systems (CARL)</a:t>
            </a:r>
            <a:endParaRPr lang="de-DE" sz="1100" b="0" noProof="0" dirty="0">
              <a:solidFill>
                <a:schemeClr val="tx2"/>
              </a:solidFill>
            </a:endParaRPr>
          </a:p>
        </p:txBody>
      </p:sp>
      <p:pic>
        <p:nvPicPr>
          <p:cNvPr id="8" name="Grafik 6"/>
          <p:cNvPicPr>
            <a:picLocks noChangeAspect="1"/>
          </p:cNvPicPr>
          <p:nvPr userDrawn="1"/>
        </p:nvPicPr>
        <p:blipFill>
          <a:blip r:embed="rId12" cstate="print"/>
          <a:stretch>
            <a:fillRect/>
          </a:stretch>
        </p:blipFill>
        <p:spPr>
          <a:xfrm>
            <a:off x="9137882" y="6205415"/>
            <a:ext cx="2778300" cy="6552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hdr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59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5900" algn="l"/>
        </a:tabLst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31800" indent="-215900" algn="l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18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6477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77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8636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36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863600" indent="-2159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/>
          <p:cNvGraphicFramePr>
            <a:graphicFrameLocks noChangeAspect="1"/>
          </p:cNvGraphicFramePr>
          <p:nvPr userDrawn="1">
            <p:custDataLst>
              <p:tags r:id="rId9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0" imgW="9525" imgH="9525" progId="TCLayout.ActiveDocument.1">
                  <p:embed/>
                </p:oleObj>
              </mc:Choice>
              <mc:Fallback>
                <p:oleObj name="think-cell Folie" r:id="rId10" imgW="9525" imgH="9525" progId="TCLayout.ActiveDocument.1">
                  <p:embed/>
                  <p:pic>
                    <p:nvPicPr>
                      <p:cNvPr id="0" name="图片 2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Grafik 3"/>
          <p:cNvPicPr>
            <a:picLocks noChangeAspect="1"/>
          </p:cNvPicPr>
          <p:nvPr userDrawn="1"/>
        </p:nvPicPr>
        <p:blipFill>
          <a:blip r:embed="rId12" cstate="print"/>
          <a:stretch>
            <a:fillRect/>
          </a:stretch>
        </p:blipFill>
        <p:spPr>
          <a:xfrm>
            <a:off x="9137882" y="6205415"/>
            <a:ext cx="2778300" cy="655200"/>
          </a:xfrm>
          <a:prstGeom prst="rect">
            <a:avLst/>
          </a:prstGeom>
        </p:spPr>
      </p:pic>
      <p:cxnSp>
        <p:nvCxnSpPr>
          <p:cNvPr id="11" name="Gerader Verbinder 10"/>
          <p:cNvCxnSpPr/>
          <p:nvPr/>
        </p:nvCxnSpPr>
        <p:spPr>
          <a:xfrm>
            <a:off x="383068" y="814388"/>
            <a:ext cx="114242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11"/>
          <p:cNvCxnSpPr/>
          <p:nvPr/>
        </p:nvCxnSpPr>
        <p:spPr>
          <a:xfrm>
            <a:off x="383068" y="6202363"/>
            <a:ext cx="114242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atumsplatzhalter 1"/>
          <p:cNvSpPr>
            <a:spLocks noGrp="1"/>
          </p:cNvSpPr>
          <p:nvPr>
            <p:ph type="dt" sz="half" idx="2"/>
          </p:nvPr>
        </p:nvSpPr>
        <p:spPr>
          <a:xfrm>
            <a:off x="935480" y="6361350"/>
            <a:ext cx="5668062" cy="52482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100" b="0">
                <a:solidFill>
                  <a:schemeClr val="tx2"/>
                </a:solidFill>
              </a:defRPr>
            </a:lvl1pPr>
          </a:lstStyle>
          <a:p>
            <a:fld id="{C2CC8288-72D4-44E2-951D-741F8F954282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14" name="Fußzeilenplatzhalter 2"/>
          <p:cNvSpPr>
            <a:spLocks noGrp="1"/>
          </p:cNvSpPr>
          <p:nvPr>
            <p:ph type="ftr" sz="quarter" idx="3"/>
          </p:nvPr>
        </p:nvSpPr>
        <p:spPr>
          <a:xfrm>
            <a:off x="1818425" y="6361350"/>
            <a:ext cx="4391428" cy="52482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100" b="0">
                <a:solidFill>
                  <a:schemeClr val="tx2"/>
                </a:solidFill>
              </a:defRPr>
            </a:lvl1pPr>
          </a:lstStyle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15" name="Foliennummernplatzhalter 3"/>
          <p:cNvSpPr>
            <a:spLocks noGrp="1"/>
          </p:cNvSpPr>
          <p:nvPr>
            <p:ph type="sldNum" sz="quarter" idx="4"/>
          </p:nvPr>
        </p:nvSpPr>
        <p:spPr>
          <a:xfrm>
            <a:off x="383950" y="6361350"/>
            <a:ext cx="974273" cy="396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6" name="Textfeld 15"/>
          <p:cNvSpPr txBox="1"/>
          <p:nvPr/>
        </p:nvSpPr>
        <p:spPr>
          <a:xfrm>
            <a:off x="1706633" y="6352041"/>
            <a:ext cx="3687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de-DE" sz="1100" b="0" dirty="0">
                <a:solidFill>
                  <a:schemeClr val="tx2"/>
                </a:solidFill>
              </a:rPr>
              <a:t>|</a:t>
            </a:r>
            <a:endParaRPr lang="en-US" sz="1200" b="0" dirty="0">
              <a:solidFill>
                <a:schemeClr val="tx2"/>
              </a:solidFill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935242" y="6542541"/>
            <a:ext cx="691375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100" b="0" baseline="0" noProof="0" dirty="0">
                <a:solidFill>
                  <a:schemeClr val="tx2"/>
                </a:solidFill>
              </a:rPr>
              <a:t>Center for Ageing, Reliability and Lifetime Prediction of Electrochemical and Power Electronic Systems (CARL)</a:t>
            </a:r>
            <a:endParaRPr lang="de-DE" sz="1100" b="0" noProof="0" dirty="0">
              <a:solidFill>
                <a:schemeClr val="tx2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</p:sldLayoutIdLst>
  <p:hf hdr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59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5900" algn="l"/>
        </a:tabLst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31800" indent="-215900" algn="l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18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6477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77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8636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36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863600" indent="-2159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5" Type="http://schemas.openxmlformats.org/officeDocument/2006/relationships/image" Target="../media/image11.png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wmf"/><Relationship Id="rId5" Type="http://schemas.openxmlformats.org/officeDocument/2006/relationships/oleObject" Target="../embeddings/oleObject10.bin"/><Relationship Id="rId4" Type="http://schemas.openxmlformats.org/officeDocument/2006/relationships/image" Target="../media/image14.emf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0.wmf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12.bin"/><Relationship Id="rId5" Type="http://schemas.openxmlformats.org/officeDocument/2006/relationships/image" Target="../media/image19.wmf"/><Relationship Id="rId4" Type="http://schemas.openxmlformats.org/officeDocument/2006/relationships/oleObject" Target="../embeddings/oleObject11.bin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oleObject" Target="../embeddings/oleObject17.bin"/><Relationship Id="rId3" Type="http://schemas.openxmlformats.org/officeDocument/2006/relationships/oleObject" Target="../embeddings/oleObject13.bin"/><Relationship Id="rId7" Type="http://schemas.openxmlformats.org/officeDocument/2006/relationships/image" Target="../media/image24.png"/><Relationship Id="rId12" Type="http://schemas.openxmlformats.org/officeDocument/2006/relationships/image" Target="../media/image27.wmf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3.emf"/><Relationship Id="rId11" Type="http://schemas.openxmlformats.org/officeDocument/2006/relationships/oleObject" Target="../embeddings/oleObject16.bin"/><Relationship Id="rId5" Type="http://schemas.openxmlformats.org/officeDocument/2006/relationships/oleObject" Target="../embeddings/oleObject14.bin"/><Relationship Id="rId10" Type="http://schemas.openxmlformats.org/officeDocument/2006/relationships/image" Target="../media/image26.wmf"/><Relationship Id="rId4" Type="http://schemas.openxmlformats.org/officeDocument/2006/relationships/image" Target="../media/image22.wmf"/><Relationship Id="rId9" Type="http://schemas.openxmlformats.org/officeDocument/2006/relationships/oleObject" Target="../embeddings/oleObject15.bin"/><Relationship Id="rId14" Type="http://schemas.openxmlformats.org/officeDocument/2006/relationships/image" Target="../media/image28.wmf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9525" imgH="9525" progId="TCLayout.ActiveDocument.1">
                  <p:embed/>
                </p:oleObj>
              </mc:Choice>
              <mc:Fallback>
                <p:oleObj name="think-cell Folie" r:id="rId3" imgW="9525" imgH="9525" progId="TCLayout.ActiveDocument.1">
                  <p:embed/>
                  <p:pic>
                    <p:nvPicPr>
                      <p:cNvPr id="0" name="图片 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el 1"/>
          <p:cNvSpPr>
            <a:spLocks noGrp="1"/>
          </p:cNvSpPr>
          <p:nvPr>
            <p:ph type="ctrTitle"/>
          </p:nvPr>
        </p:nvSpPr>
        <p:spPr>
          <a:xfrm>
            <a:off x="384175" y="2725420"/>
            <a:ext cx="11422380" cy="3261995"/>
          </a:xfrm>
        </p:spPr>
        <p:txBody>
          <a:bodyPr/>
          <a:lstStyle/>
          <a:p>
            <a:pPr algn="l"/>
            <a:r>
              <a:rPr lang="en-US" altLang="zh-CN" dirty="0"/>
              <a:t>Chemie</a:t>
            </a:r>
            <a:r>
              <a:rPr lang="en-US" altLang="en-US" dirty="0"/>
              <a:t>ü</a:t>
            </a:r>
            <a:r>
              <a:rPr lang="en-US" altLang="zh-CN" dirty="0"/>
              <a:t>bergreifende Transfer Learning f</a:t>
            </a:r>
            <a:r>
              <a:rPr lang="en-US" altLang="en-US" dirty="0"/>
              <a:t>ü</a:t>
            </a:r>
            <a:r>
              <a:rPr lang="en-US" altLang="zh-CN" dirty="0"/>
              <a:t>r die </a:t>
            </a:r>
            <a:br>
              <a:rPr lang="en-US" altLang="zh-CN" dirty="0"/>
            </a:br>
            <a:r>
              <a:rPr lang="en-US" altLang="zh-CN" dirty="0"/>
              <a:t>Vorhersage der Batteriekapazit</a:t>
            </a:r>
            <a:r>
              <a:rPr lang="en-US" altLang="en-US" dirty="0"/>
              <a:t>ä</a:t>
            </a:r>
            <a:r>
              <a:rPr lang="en-US" altLang="zh-CN" dirty="0"/>
              <a:t>t von Li-Ion-Batterien</a:t>
            </a:r>
            <a:br>
              <a:rPr lang="en-US" altLang="zh-CN" dirty="0"/>
            </a:br>
            <a:br>
              <a:rPr lang="en-US" altLang="zh-CN" dirty="0"/>
            </a:br>
            <a:endParaRPr lang="en-US" altLang="zh-CN" b="0" dirty="0">
              <a:solidFill>
                <a:schemeClr val="tx1"/>
              </a:solidFill>
            </a:endParaRPr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l"/>
            <a:fld id="{6D3069C6-0311-4A39-8CC1-DA405FE38D0C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Liang Huang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8139" y="4535813"/>
            <a:ext cx="2145279" cy="1207361"/>
          </a:xfrm>
          <a:prstGeom prst="rect">
            <a:avLst/>
          </a:prstGeom>
        </p:spPr>
      </p:pic>
      <p:sp>
        <p:nvSpPr>
          <p:cNvPr id="13" name="页脚占位符 10"/>
          <p:cNvSpPr txBox="1"/>
          <p:nvPr/>
        </p:nvSpPr>
        <p:spPr>
          <a:xfrm>
            <a:off x="382449" y="4388726"/>
            <a:ext cx="11425513" cy="524824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r>
              <a:rPr lang="en-US" altLang="zh-CN" dirty="0" err="1"/>
              <a:t>Zwischen</a:t>
            </a:r>
            <a:r>
              <a:rPr lang="de-DE" altLang="zh-CN" dirty="0" err="1"/>
              <a:t>päsentation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Gliederung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/>
              <a:t>Motivation und Zeitplan</a:t>
            </a:r>
          </a:p>
          <a:p>
            <a:pPr lvl="1"/>
            <a:r>
              <a:rPr lang="en-US" altLang="zh-CN" sz="1800"/>
              <a:t>moti</a:t>
            </a:r>
          </a:p>
          <a:p>
            <a:pPr lvl="1"/>
            <a:r>
              <a:rPr lang="en-US" altLang="zh-CN" sz="1800"/>
              <a:t>Zeitplan</a:t>
            </a:r>
            <a:endParaRPr lang="en-US" altLang="zh-CN"/>
          </a:p>
          <a:p>
            <a:r>
              <a:rPr lang="en-US" altLang="zh-CN"/>
              <a:t>Methode</a:t>
            </a:r>
          </a:p>
          <a:p>
            <a:pPr lvl="1"/>
            <a:r>
              <a:rPr lang="en-US" altLang="zh-CN" sz="1800"/>
              <a:t>Literatur</a:t>
            </a:r>
          </a:p>
          <a:p>
            <a:pPr lvl="1"/>
            <a:r>
              <a:rPr lang="en-US" altLang="zh-CN">
                <a:sym typeface="+mn-ea"/>
              </a:rPr>
              <a:t>2RC</a:t>
            </a:r>
          </a:p>
          <a:p>
            <a:pPr lvl="2"/>
            <a:r>
              <a:rPr lang="en-US" altLang="zh-CN">
                <a:sym typeface="+mn-ea"/>
              </a:rPr>
              <a:t>1.</a:t>
            </a:r>
            <a:r>
              <a:rPr lang="zh-CN" altLang="en-US">
                <a:sym typeface="+mn-ea"/>
              </a:rPr>
              <a:t>充电后静置片段</a:t>
            </a:r>
            <a:r>
              <a:rPr lang="en-US" altLang="zh-CN">
                <a:sym typeface="+mn-ea"/>
              </a:rPr>
              <a:t>--&gt;RC</a:t>
            </a:r>
            <a:r>
              <a:rPr lang="zh-CN" altLang="en-US">
                <a:sym typeface="+mn-ea"/>
              </a:rPr>
              <a:t>参数，</a:t>
            </a:r>
            <a:r>
              <a:rPr lang="en-US" altLang="zh-CN">
                <a:sym typeface="+mn-ea"/>
              </a:rPr>
              <a:t>OCV</a:t>
            </a:r>
            <a:endParaRPr lang="zh-CN" altLang="en-US"/>
          </a:p>
          <a:p>
            <a:pPr lvl="2"/>
            <a:r>
              <a:rPr lang="en-US" altLang="zh-CN">
                <a:sym typeface="+mn-ea"/>
              </a:rPr>
              <a:t>2.</a:t>
            </a:r>
            <a:r>
              <a:rPr lang="zh-CN" altLang="en-US">
                <a:sym typeface="+mn-ea"/>
              </a:rPr>
              <a:t>放电片段结合</a:t>
            </a:r>
            <a:r>
              <a:rPr lang="en-US" altLang="zh-CN">
                <a:sym typeface="+mn-ea"/>
              </a:rPr>
              <a:t>ocv</a:t>
            </a:r>
            <a:r>
              <a:rPr lang="zh-CN" altLang="en-US">
                <a:sym typeface="+mn-ea"/>
              </a:rPr>
              <a:t>曲线</a:t>
            </a:r>
            <a:r>
              <a:rPr lang="en-US" altLang="zh-CN">
                <a:sym typeface="+mn-ea"/>
              </a:rPr>
              <a:t>--&gt;</a:t>
            </a:r>
            <a:r>
              <a:rPr lang="zh-CN" altLang="en-US">
                <a:sym typeface="+mn-ea"/>
              </a:rPr>
              <a:t>实际</a:t>
            </a:r>
            <a:r>
              <a:rPr lang="en-US" altLang="zh-CN">
                <a:sym typeface="+mn-ea"/>
              </a:rPr>
              <a:t>SOC</a:t>
            </a:r>
            <a:r>
              <a:rPr lang="zh-CN" altLang="en-US">
                <a:sym typeface="+mn-ea"/>
              </a:rPr>
              <a:t>起始值和终止值</a:t>
            </a:r>
            <a:r>
              <a:rPr lang="en-US" altLang="zh-CN">
                <a:sym typeface="+mn-ea"/>
              </a:rPr>
              <a:t>--&gt;DOD--&gt;C_aktuelle capa--&gt;SOH_aktuelle</a:t>
            </a:r>
            <a:endParaRPr lang="en-US" altLang="zh-CN"/>
          </a:p>
          <a:p>
            <a:pPr lvl="1"/>
            <a:r>
              <a:rPr lang="en-US" altLang="zh-CN"/>
              <a:t>TL</a:t>
            </a:r>
          </a:p>
          <a:p>
            <a:pPr lvl="2"/>
            <a:r>
              <a:rPr lang="en-US" altLang="zh-CN"/>
              <a:t>Charakteristik:U,OCV,R0,R1,R2,C1,C2,STATS(U)</a:t>
            </a:r>
          </a:p>
          <a:p>
            <a:pPr lvl="1"/>
            <a:endParaRPr lang="en-US" altLang="zh-CN"/>
          </a:p>
          <a:p>
            <a:r>
              <a:rPr lang="en-US" altLang="zh-CN"/>
              <a:t>Aktuelle Arbeit</a:t>
            </a:r>
          </a:p>
          <a:p>
            <a:pPr lvl="1"/>
            <a:r>
              <a:rPr lang="en-US" altLang="zh-CN" sz="1800"/>
              <a:t>dateien verarbeiten</a:t>
            </a:r>
          </a:p>
          <a:p>
            <a:pPr lvl="2"/>
            <a:r>
              <a:rPr lang="en-US" altLang="zh-CN"/>
              <a:t>Pause-Segmente nach Ladung </a:t>
            </a:r>
          </a:p>
          <a:p>
            <a:r>
              <a:rPr lang="en-US" altLang="zh-CN"/>
              <a:t>Weitere Arbeit</a:t>
            </a: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2</a:t>
            </a:fld>
            <a:endParaRPr 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3555047" y="2859088"/>
            <a:ext cx="5080000" cy="635000"/>
          </a:xfrm>
          <a:prstGeom prst="rect">
            <a:avLst/>
          </a:prstGeom>
        </p:spPr>
        <p:txBody>
          <a:bodyPr/>
          <a:lstStyle/>
          <a:p>
            <a:endParaRPr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Gliederung</a:t>
            </a:r>
            <a:endParaRPr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4800" b="1" spc="50" dirty="0">
                <a:ln w="0"/>
                <a:solidFill>
                  <a:srgbClr val="275AAD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Motivation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Zeitplan</a:t>
            </a:r>
            <a:endParaRPr lang="en-US" altLang="zh-CN" sz="4800" b="1" spc="50" dirty="0">
              <a:ln w="0"/>
              <a:solidFill>
                <a:srgbClr val="90BBE7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Methode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Aktuelle</a:t>
            </a:r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Weitere</a:t>
            </a:r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3</a:t>
            </a:fld>
            <a:endParaRPr 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3555047" y="2859088"/>
            <a:ext cx="5080000" cy="635000"/>
          </a:xfrm>
          <a:prstGeom prst="rect">
            <a:avLst/>
          </a:prstGeom>
        </p:spPr>
        <p:txBody>
          <a:bodyPr/>
          <a:lstStyle/>
          <a:p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Motivation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zh-CN" dirty="0"/>
              <a:t>Wachsende Anwendung von Li-Ion-Batterien</a:t>
            </a:r>
          </a:p>
          <a:p>
            <a:r>
              <a:rPr lang="zh-CN" altLang="zh-CN" dirty="0"/>
              <a:t>Zuverlässige SOH-/Kapazitätsprognose</a:t>
            </a:r>
          </a:p>
          <a:p>
            <a:r>
              <a:rPr lang="zh-CN" altLang="zh-CN" dirty="0"/>
              <a:t>Zeit- und kostenintensive Alterungstests</a:t>
            </a:r>
          </a:p>
          <a:p>
            <a:endParaRPr lang="de-DE" altLang="zh-CN" dirty="0"/>
          </a:p>
          <a:p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zh-CN" altLang="zh-CN" dirty="0"/>
              <a:t>Unterschiedliche Zellchemien</a:t>
            </a:r>
            <a:br>
              <a:rPr lang="zh-CN" altLang="zh-CN" dirty="0"/>
            </a:br>
            <a:r>
              <a:rPr lang="zh-CN" altLang="zh-CN" b="1" dirty="0"/>
              <a:t>NCA → LFP</a:t>
            </a:r>
            <a:endParaRPr lang="zh-CN" altLang="zh-CN" dirty="0"/>
          </a:p>
          <a:p>
            <a:r>
              <a:rPr lang="zh-CN" altLang="zh-CN" dirty="0"/>
              <a:t>Unterschiedliche Betriebsbedingungen</a:t>
            </a:r>
            <a:br>
              <a:rPr lang="zh-CN" altLang="zh-CN" dirty="0"/>
            </a:br>
            <a:r>
              <a:rPr lang="zh-CN" altLang="zh-CN" b="1" dirty="0"/>
              <a:t>0,5C → 3C</a:t>
            </a:r>
            <a:endParaRPr lang="zh-CN" altLang="zh-CN" dirty="0"/>
          </a:p>
          <a:p>
            <a:r>
              <a:rPr lang="zh-CN" altLang="zh-CN" dirty="0"/>
              <a:t>Starker Domain Shift</a:t>
            </a:r>
          </a:p>
          <a:p>
            <a:r>
              <a:rPr lang="zh-CN" altLang="zh-CN" dirty="0"/>
              <a:t>Begrenzte LFP-Alterungsdaten</a:t>
            </a:r>
            <a:endParaRPr lang="de-DE" altLang="zh-CN" dirty="0"/>
          </a:p>
          <a:p>
            <a:r>
              <a:rPr lang="zh-CN" altLang="zh-CN" dirty="0"/>
              <a:t>Nutzung umfangreicher NCA-Alterungsdaten</a:t>
            </a:r>
          </a:p>
          <a:p>
            <a:r>
              <a:rPr lang="zh-CN" altLang="zh-CN" dirty="0"/>
              <a:t>Kombination mit wenigen LFP-Alterungsdaten</a:t>
            </a:r>
          </a:p>
          <a:p>
            <a:r>
              <a:rPr lang="zh-CN" altLang="zh-CN" dirty="0"/>
              <a:t>Transfer Learning für LFP-Alterungsprognose</a:t>
            </a:r>
          </a:p>
          <a:p>
            <a:r>
              <a:rPr lang="zh-CN" altLang="zh-CN" dirty="0"/>
              <a:t>Datenarme, robuste Kapazitätsvorhersage</a:t>
            </a:r>
          </a:p>
          <a:p>
            <a:pPr lvl="1"/>
            <a:endParaRPr lang="zh-CN" altLang="en-US" dirty="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Gliederung</a:t>
            </a:r>
            <a:endParaRPr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Motivation</a:t>
            </a:r>
          </a:p>
          <a:p>
            <a:r>
              <a:rPr lang="en-US" altLang="zh-CN" sz="4800" b="1" spc="50" dirty="0" err="1">
                <a:ln w="0"/>
                <a:solidFill>
                  <a:srgbClr val="275AAD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Zeitplan</a:t>
            </a:r>
            <a:endParaRPr lang="en-US" altLang="zh-CN" sz="4800" b="1" spc="50" dirty="0">
              <a:ln w="0"/>
              <a:solidFill>
                <a:srgbClr val="275AAD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Methode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Aktuelle</a:t>
            </a:r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Weitere</a:t>
            </a:r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5</a:t>
            </a:fld>
            <a:endParaRPr 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3555047" y="2859088"/>
            <a:ext cx="5080000" cy="635000"/>
          </a:xfrm>
          <a:prstGeom prst="rect">
            <a:avLst/>
          </a:prstGeom>
        </p:spPr>
        <p:txBody>
          <a:bodyPr/>
          <a:lstStyle/>
          <a:p>
            <a:endParaRPr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内容占位符 11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3949" y="905256"/>
            <a:ext cx="9710969" cy="4022344"/>
          </a:xfrm>
          <a:prstGeom prst="rect">
            <a:avLst/>
          </a:prstGeom>
        </p:spPr>
      </p:pic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Zeitplan</a:t>
            </a: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6</a:t>
            </a:fld>
            <a:endParaRPr lang="en-US" dirty="0"/>
          </a:p>
        </p:txBody>
      </p:sp>
      <p:cxnSp>
        <p:nvCxnSpPr>
          <p:cNvPr id="9" name="直接连接符 8"/>
          <p:cNvCxnSpPr/>
          <p:nvPr/>
        </p:nvCxnSpPr>
        <p:spPr>
          <a:xfrm>
            <a:off x="8991599" y="1587426"/>
            <a:ext cx="0" cy="3500229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9521372" y="1587426"/>
            <a:ext cx="0" cy="3500229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8783850" y="508765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①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9313623" y="508765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②</a:t>
            </a:r>
          </a:p>
        </p:txBody>
      </p:sp>
      <p:cxnSp>
        <p:nvCxnSpPr>
          <p:cNvPr id="17" name="直接连接符 16"/>
          <p:cNvCxnSpPr/>
          <p:nvPr/>
        </p:nvCxnSpPr>
        <p:spPr>
          <a:xfrm>
            <a:off x="10036629" y="1587427"/>
            <a:ext cx="0" cy="3500229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9779000" y="508590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③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383949" y="5085907"/>
            <a:ext cx="32240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①</a:t>
            </a:r>
            <a:r>
              <a:rPr lang="en-US" altLang="zh-CN" dirty="0"/>
              <a:t>:</a:t>
            </a:r>
            <a:r>
              <a:rPr lang="en-US" altLang="zh-CN" dirty="0" err="1"/>
              <a:t>komplette</a:t>
            </a:r>
            <a:r>
              <a:rPr lang="en-US" altLang="zh-CN" dirty="0"/>
              <a:t> Baseline</a:t>
            </a:r>
          </a:p>
          <a:p>
            <a:r>
              <a:rPr lang="zh-CN" altLang="en-US" dirty="0"/>
              <a:t>②</a:t>
            </a:r>
            <a:r>
              <a:rPr lang="en-US" altLang="zh-CN" dirty="0"/>
              <a:t>:</a:t>
            </a:r>
            <a:r>
              <a:rPr lang="en-US" altLang="zh-CN" dirty="0" err="1"/>
              <a:t>komplette</a:t>
            </a:r>
            <a:r>
              <a:rPr lang="en-US" altLang="zh-CN" dirty="0"/>
              <a:t> Transfer </a:t>
            </a:r>
            <a:r>
              <a:rPr lang="en-US" altLang="zh-CN" dirty="0" err="1"/>
              <a:t>Lerning</a:t>
            </a:r>
            <a:endParaRPr lang="en-US" altLang="zh-CN" dirty="0"/>
          </a:p>
          <a:p>
            <a:r>
              <a:rPr lang="zh-CN" altLang="en-US" dirty="0"/>
              <a:t>③</a:t>
            </a:r>
            <a:r>
              <a:rPr lang="en-US" altLang="zh-CN" dirty="0"/>
              <a:t>:Alle Arbeit </a:t>
            </a:r>
            <a:r>
              <a:rPr lang="en-US" altLang="zh-CN" dirty="0" err="1"/>
              <a:t>komplett</a:t>
            </a:r>
            <a:endParaRPr lang="zh-CN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Gliederung</a:t>
            </a:r>
            <a:endParaRPr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Motivation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Zeitplan</a:t>
            </a:r>
            <a:endParaRPr lang="en-US" altLang="zh-CN" sz="4800" b="1" spc="50" dirty="0">
              <a:ln w="0"/>
              <a:solidFill>
                <a:srgbClr val="90BBE7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r>
              <a:rPr lang="en-US" altLang="zh-CN" sz="4800" b="1" spc="50" dirty="0">
                <a:ln w="0"/>
                <a:solidFill>
                  <a:srgbClr val="275AAD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Methode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Aktuelle</a:t>
            </a:r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Weitere</a:t>
            </a:r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7</a:t>
            </a:fld>
            <a:endParaRPr 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3555047" y="2859088"/>
            <a:ext cx="5080000" cy="635000"/>
          </a:xfrm>
          <a:prstGeom prst="rect">
            <a:avLst/>
          </a:prstGeom>
        </p:spPr>
        <p:txBody>
          <a:bodyPr/>
          <a:lstStyle/>
          <a:p>
            <a:endParaRPr sz="1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2RC Modell</a:t>
            </a:r>
            <a:r>
              <a:rPr lang="en-US" altLang="zh-CN" baseline="30000" dirty="0"/>
              <a:t>1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U1:Spannung von </a:t>
            </a:r>
            <a:r>
              <a:rPr lang="en-US" altLang="zh-CN" dirty="0" err="1"/>
              <a:t>Aktivierungsdepolarisation</a:t>
            </a:r>
            <a:endParaRPr lang="en-US" altLang="zh-CN" dirty="0"/>
          </a:p>
          <a:p>
            <a:pPr lvl="1"/>
            <a:r>
              <a:rPr lang="en-US" altLang="zh-CN" dirty="0" err="1"/>
              <a:t>Ladungstransfer</a:t>
            </a:r>
            <a:r>
              <a:rPr lang="en-US" altLang="zh-CN" dirty="0"/>
              <a:t> an </a:t>
            </a:r>
            <a:r>
              <a:rPr lang="en-US" altLang="zh-CN" dirty="0" err="1"/>
              <a:t>Elektrodenoberfl</a:t>
            </a:r>
            <a:r>
              <a:rPr lang="de-DE" altLang="zh-CN" dirty="0" err="1"/>
              <a:t>äche</a:t>
            </a:r>
            <a:endParaRPr lang="en-US" altLang="zh-CN" dirty="0"/>
          </a:p>
          <a:p>
            <a:r>
              <a:rPr lang="en-US" altLang="zh-CN" dirty="0"/>
              <a:t>U2: </a:t>
            </a:r>
            <a:r>
              <a:rPr lang="en-US" altLang="zh-CN" dirty="0" err="1"/>
              <a:t>Spannung</a:t>
            </a:r>
            <a:r>
              <a:rPr lang="en-US" altLang="zh-CN" dirty="0"/>
              <a:t> von </a:t>
            </a:r>
            <a:r>
              <a:rPr lang="en-US" altLang="zh-CN" dirty="0" err="1"/>
              <a:t>Konzentrationsdepolarisation</a:t>
            </a:r>
            <a:endParaRPr lang="en-US" altLang="zh-CN" dirty="0"/>
          </a:p>
          <a:p>
            <a:pPr lvl="1"/>
            <a:r>
              <a:rPr lang="en-US" altLang="zh-CN" dirty="0"/>
              <a:t>Li-</a:t>
            </a:r>
            <a:r>
              <a:rPr lang="en-US" altLang="zh-CN" dirty="0" err="1"/>
              <a:t>Ionen</a:t>
            </a:r>
            <a:r>
              <a:rPr lang="en-US" altLang="zh-CN" dirty="0"/>
              <a:t>-Diffusion </a:t>
            </a:r>
            <a:r>
              <a:rPr lang="en-US" altLang="zh-CN" dirty="0" err="1"/>
              <a:t>im</a:t>
            </a:r>
            <a:r>
              <a:rPr lang="en-US" altLang="zh-CN" dirty="0"/>
              <a:t> </a:t>
            </a:r>
            <a:r>
              <a:rPr lang="en-US" altLang="zh-CN" dirty="0" err="1"/>
              <a:t>Aktivmatrial</a:t>
            </a:r>
            <a:endParaRPr lang="en-US" altLang="zh-CN" dirty="0"/>
          </a:p>
          <a:p>
            <a:r>
              <a:rPr lang="en-US" altLang="zh-CN" dirty="0"/>
              <a:t>Ʈ1(</a:t>
            </a:r>
            <a:r>
              <a:rPr lang="en-US" altLang="zh-CN" dirty="0" err="1"/>
              <a:t>Aktivierung</a:t>
            </a:r>
            <a:r>
              <a:rPr lang="en-US" altLang="zh-CN" dirty="0"/>
              <a:t>)&lt;Ʈ2(</a:t>
            </a:r>
            <a:r>
              <a:rPr lang="en-US" altLang="zh-CN" dirty="0" err="1"/>
              <a:t>Konzentration</a:t>
            </a:r>
            <a:r>
              <a:rPr lang="en-US" altLang="zh-CN" dirty="0"/>
              <a:t>/ Diffusion)</a:t>
            </a:r>
            <a:endParaRPr lang="zh-CN" altLang="en-US" dirty="0"/>
          </a:p>
          <a:p>
            <a:endParaRPr lang="zh-CN" altLang="en-US" dirty="0"/>
          </a:p>
          <a:p>
            <a:endParaRPr lang="en-US" altLang="zh-CN" dirty="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8</a:t>
            </a:fld>
            <a:endParaRPr lang="en-US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7218" y="1151999"/>
            <a:ext cx="3631223" cy="1428024"/>
          </a:xfrm>
          <a:prstGeom prst="rect">
            <a:avLst/>
          </a:prstGeom>
        </p:spPr>
      </p:pic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383858" y="832448"/>
          <a:ext cx="5239773" cy="5515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172970" imgH="229870" progId="Equation.DSMT4">
                  <p:embed/>
                </p:oleObj>
              </mc:Choice>
              <mc:Fallback>
                <p:oleObj name="Equation" r:id="rId3" imgW="2172970" imgH="229870" progId="Equation.DSMT4">
                  <p:embed/>
                  <p:pic>
                    <p:nvPicPr>
                      <p:cNvPr id="0" name="图片 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3858" y="832448"/>
                        <a:ext cx="5239773" cy="55155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414780" y="1384003"/>
          <a:ext cx="1657180" cy="117215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4993600" imgH="17678400" progId="Equation.DSMT4">
                  <p:embed/>
                </p:oleObj>
              </mc:Choice>
              <mc:Fallback>
                <p:oleObj name="Equation" r:id="rId5" imgW="24993600" imgH="17678400" progId="Equation.DSMT4">
                  <p:embed/>
                  <p:pic>
                    <p:nvPicPr>
                      <p:cNvPr id="0" name="图片 1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14780" y="1384003"/>
                        <a:ext cx="1657180" cy="117215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3E0EDC-BA02-7F15-EB4B-7CFB27D93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zh-CN" dirty="0"/>
              <a:t>Kapazitätsrückgewinnung während Ruhephasen</a:t>
            </a:r>
            <a:r>
              <a:rPr lang="de-DE" altLang="zh-CN" baseline="30000" dirty="0"/>
              <a:t>2</a:t>
            </a:r>
            <a:endParaRPr lang="zh-CN" altLang="en-US" baseline="300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995594-8440-259F-25BC-C5ABFCDBBF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altLang="zh-CN" dirty="0"/>
              <a:t>Lithium </a:t>
            </a:r>
            <a:r>
              <a:rPr lang="de-DE" altLang="zh-CN" dirty="0" err="1"/>
              <a:t>Plating</a:t>
            </a:r>
            <a:r>
              <a:rPr lang="de-DE" altLang="zh-CN" dirty="0"/>
              <a:t> als wahrscheinliche Ursache</a:t>
            </a:r>
          </a:p>
          <a:p>
            <a:r>
              <a:rPr lang="de-DE" altLang="zh-CN" dirty="0"/>
              <a:t>Ruhephase</a:t>
            </a:r>
            <a:r>
              <a:rPr lang="en-US" altLang="zh-CN" dirty="0"/>
              <a:t>: </a:t>
            </a:r>
            <a:r>
              <a:rPr lang="en-US" altLang="zh-CN" dirty="0" err="1"/>
              <a:t>partielle</a:t>
            </a:r>
            <a:r>
              <a:rPr lang="en-US" altLang="zh-CN" dirty="0"/>
              <a:t> </a:t>
            </a:r>
            <a:r>
              <a:rPr lang="en-US" altLang="zh-CN" dirty="0" err="1"/>
              <a:t>Reaktivierung</a:t>
            </a:r>
            <a:r>
              <a:rPr lang="en-US" altLang="zh-CN" dirty="0"/>
              <a:t> von </a:t>
            </a:r>
            <a:r>
              <a:rPr lang="en-US" altLang="zh-CN" dirty="0" err="1"/>
              <a:t>immobilisiertem</a:t>
            </a:r>
            <a:r>
              <a:rPr lang="en-US" altLang="zh-CN" dirty="0"/>
              <a:t> </a:t>
            </a:r>
            <a:r>
              <a:rPr lang="en-US" altLang="zh-CN" dirty="0" err="1"/>
              <a:t>Lithim</a:t>
            </a:r>
            <a:endParaRPr lang="en-US" altLang="zh-CN" dirty="0"/>
          </a:p>
          <a:p>
            <a:r>
              <a:rPr lang="en-US" altLang="zh-CN" dirty="0"/>
              <a:t>2 Tage Ruhe: ca. 40%reversible </a:t>
            </a:r>
            <a:r>
              <a:rPr lang="en-US" altLang="zh-CN" dirty="0" err="1"/>
              <a:t>Verlust</a:t>
            </a:r>
            <a:r>
              <a:rPr lang="en-US" altLang="zh-CN" dirty="0"/>
              <a:t> </a:t>
            </a:r>
            <a:r>
              <a:rPr lang="en-US" altLang="zh-CN" dirty="0" err="1"/>
              <a:t>zu</a:t>
            </a:r>
            <a:r>
              <a:rPr lang="de-DE" altLang="zh-CN" dirty="0"/>
              <a:t>rückgewonnen</a:t>
            </a:r>
          </a:p>
          <a:p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7E3CD1-8D4E-8DCA-89D2-D1AA476CB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l"/>
            <a:fld id="{F887C18F-21B2-48B8-9586-9343C0AE58EE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D55843-3BB7-39C7-91B5-213D9B310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B27361A-28EF-3455-7405-4288607EB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9</a:t>
            </a:fld>
            <a:endParaRPr lang="en-US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BEE30925-EE32-5BBC-0468-069C914F350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950" y="2693313"/>
            <a:ext cx="5334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0329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26A2EF-C92D-5728-96B5-AA3CFA3D5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ML- und Transfer Leraning</a:t>
            </a:r>
            <a:r>
              <a:rPr lang="en-US" altLang="zh-CN" baseline="30000" dirty="0"/>
              <a:t>3</a:t>
            </a:r>
            <a:endParaRPr lang="zh-CN" altLang="en-US" baseline="300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C10CCF-50C4-8A18-FDC3-26468128C3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Machine Learning</a:t>
            </a:r>
          </a:p>
          <a:p>
            <a:pPr lvl="1"/>
            <a:r>
              <a:rPr lang="en-US" altLang="zh-CN" dirty="0"/>
              <a:t>Input</a:t>
            </a:r>
          </a:p>
          <a:p>
            <a:pPr lvl="2"/>
            <a:r>
              <a:rPr lang="en-US" altLang="zh-CN" dirty="0" err="1"/>
              <a:t>Spannungsrelaxation</a:t>
            </a:r>
            <a:endParaRPr lang="en-US" altLang="zh-CN" dirty="0"/>
          </a:p>
          <a:p>
            <a:pPr lvl="2"/>
            <a:r>
              <a:rPr lang="en-US" altLang="zh-CN" dirty="0" err="1"/>
              <a:t>Entladeabschnitte</a:t>
            </a:r>
            <a:endParaRPr lang="en-US" altLang="zh-CN" dirty="0"/>
          </a:p>
          <a:p>
            <a:pPr lvl="2"/>
            <a:r>
              <a:rPr lang="en-US" altLang="zh-CN" dirty="0" err="1"/>
              <a:t>Rekonstruierter</a:t>
            </a:r>
            <a:r>
              <a:rPr lang="en-US" altLang="zh-CN" dirty="0"/>
              <a:t> SOH</a:t>
            </a:r>
          </a:p>
          <a:p>
            <a:pPr lvl="1"/>
            <a:endParaRPr lang="en-US" altLang="zh-CN" dirty="0"/>
          </a:p>
          <a:p>
            <a:pPr lvl="1"/>
            <a:r>
              <a:rPr lang="en-US" altLang="zh-CN" dirty="0"/>
              <a:t>Feature-Gruppen</a:t>
            </a:r>
          </a:p>
          <a:p>
            <a:pPr lvl="2"/>
            <a:r>
              <a:rPr lang="en-US" altLang="zh-CN" dirty="0"/>
              <a:t>ORIGI: </a:t>
            </a:r>
            <a:r>
              <a:rPr lang="en-US" altLang="zh-CN" dirty="0" err="1"/>
              <a:t>resamplelte</a:t>
            </a:r>
            <a:r>
              <a:rPr lang="en-US" altLang="zh-CN" dirty="0"/>
              <a:t> </a:t>
            </a:r>
            <a:r>
              <a:rPr lang="en-US" altLang="zh-CN" dirty="0" err="1"/>
              <a:t>Spannungswert</a:t>
            </a:r>
            <a:endParaRPr lang="en-US" altLang="zh-CN" dirty="0"/>
          </a:p>
          <a:p>
            <a:pPr lvl="2"/>
            <a:r>
              <a:rPr lang="en-US" altLang="zh-CN" dirty="0"/>
              <a:t>STATS: </a:t>
            </a:r>
            <a:r>
              <a:rPr lang="en-US" altLang="zh-CN" dirty="0" err="1"/>
              <a:t>Max,Mean,Min,Var,Ske,Kur</a:t>
            </a:r>
            <a:endParaRPr lang="en-US" altLang="zh-CN" dirty="0"/>
          </a:p>
          <a:p>
            <a:pPr lvl="2"/>
            <a:r>
              <a:rPr lang="en-US" altLang="zh-CN" dirty="0">
                <a:solidFill>
                  <a:srgbClr val="FF0000"/>
                </a:solidFill>
              </a:rPr>
              <a:t>ECM:OCV,R0,R1,R2,C1,C2</a:t>
            </a:r>
          </a:p>
          <a:p>
            <a:pPr lvl="1"/>
            <a:r>
              <a:rPr lang="en-US" altLang="zh-CN" dirty="0"/>
              <a:t>Ziel:</a:t>
            </a:r>
          </a:p>
          <a:p>
            <a:pPr lvl="2"/>
            <a:r>
              <a:rPr lang="en-US" altLang="zh-CN" dirty="0"/>
              <a:t>SOH-</a:t>
            </a:r>
            <a:r>
              <a:rPr lang="de-DE" altLang="zh-CN" dirty="0"/>
              <a:t>Schätzung</a:t>
            </a:r>
          </a:p>
          <a:p>
            <a:pPr lvl="2"/>
            <a:r>
              <a:rPr lang="de-DE" altLang="zh-CN" dirty="0"/>
              <a:t>RMSE</a:t>
            </a:r>
            <a:r>
              <a:rPr lang="en-US" altLang="zh-CN" dirty="0"/>
              <a:t>/MAE/R</a:t>
            </a:r>
            <a:r>
              <a:rPr lang="en-US" altLang="zh-CN" baseline="30000" dirty="0"/>
              <a:t>2</a:t>
            </a:r>
            <a:endParaRPr lang="zh-CN" altLang="en-US" baseline="30000" dirty="0"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470E75EA-F2F9-F551-F3F7-93895C99028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altLang="zh-CN" dirty="0"/>
              <a:t>Transfer Learning</a:t>
            </a:r>
          </a:p>
          <a:p>
            <a:pPr lvl="1"/>
            <a:r>
              <a:rPr lang="en-US" altLang="zh-CN" dirty="0"/>
              <a:t>Source Domain: NAC</a:t>
            </a:r>
          </a:p>
          <a:p>
            <a:pPr lvl="1"/>
            <a:r>
              <a:rPr lang="en-US" altLang="zh-CN" dirty="0"/>
              <a:t>Target Domain: LFP</a:t>
            </a:r>
          </a:p>
          <a:p>
            <a:pPr lvl="1"/>
            <a:r>
              <a:rPr lang="en-US" altLang="zh-CN" dirty="0"/>
              <a:t>TL1:Datenaugumentation</a:t>
            </a:r>
          </a:p>
          <a:p>
            <a:pPr lvl="2"/>
            <a:r>
              <a:rPr lang="en-US" altLang="zh-CN" dirty="0"/>
              <a:t>SD + </a:t>
            </a:r>
            <a:r>
              <a:rPr lang="en-US" altLang="zh-CN" dirty="0" err="1"/>
              <a:t>wenige</a:t>
            </a:r>
            <a:r>
              <a:rPr lang="en-US" altLang="zh-CN" dirty="0"/>
              <a:t> TD-</a:t>
            </a:r>
            <a:r>
              <a:rPr lang="en-US" altLang="zh-CN" dirty="0" err="1"/>
              <a:t>Daten</a:t>
            </a:r>
            <a:endParaRPr lang="en-US" altLang="zh-CN" dirty="0"/>
          </a:p>
          <a:p>
            <a:r>
              <a:rPr lang="en-US" altLang="zh-CN" dirty="0"/>
              <a:t>TL2:Feature Alignment</a:t>
            </a:r>
          </a:p>
          <a:p>
            <a:pPr lvl="1"/>
            <a:r>
              <a:rPr lang="en-US" altLang="zh-CN" dirty="0"/>
              <a:t>TD-Feature -&gt;SD-Feature Raum</a:t>
            </a:r>
          </a:p>
          <a:p>
            <a:pPr lvl="1"/>
            <a:r>
              <a:rPr lang="en-US" altLang="zh-CN" dirty="0"/>
              <a:t>X’ = X·diag(w)+b</a:t>
            </a:r>
          </a:p>
          <a:p>
            <a:r>
              <a:rPr lang="en-US" altLang="zh-CN" dirty="0"/>
              <a:t>TL3</a:t>
            </a:r>
          </a:p>
          <a:p>
            <a:pPr lvl="1"/>
            <a:r>
              <a:rPr lang="en-US" altLang="zh-CN" dirty="0"/>
              <a:t>Source-Modell + </a:t>
            </a:r>
            <a:r>
              <a:rPr lang="en-US" altLang="zh-CN" dirty="0" err="1"/>
              <a:t>Korrekturmodell</a:t>
            </a:r>
            <a:endParaRPr lang="en-US" altLang="zh-CN" dirty="0"/>
          </a:p>
          <a:p>
            <a:pPr lvl="1"/>
            <a:r>
              <a:rPr lang="en-US" altLang="zh-CN" dirty="0"/>
              <a:t>ΔSOH = SOH</a:t>
            </a:r>
            <a:r>
              <a:rPr lang="en-US" altLang="zh-CN" sz="2000" baseline="-25000" dirty="0"/>
              <a:t>true</a:t>
            </a:r>
            <a:r>
              <a:rPr lang="en-US" altLang="zh-CN" dirty="0"/>
              <a:t> – SOH</a:t>
            </a:r>
            <a:r>
              <a:rPr lang="en-US" altLang="zh-CN" baseline="-25000" dirty="0"/>
              <a:t>pred</a:t>
            </a:r>
          </a:p>
          <a:p>
            <a:pPr lvl="1"/>
            <a:r>
              <a:rPr lang="en-US" altLang="zh-CN" dirty="0"/>
              <a:t>Bias-</a:t>
            </a:r>
            <a:r>
              <a:rPr lang="en-US" altLang="zh-CN" dirty="0" err="1"/>
              <a:t>Korrektur</a:t>
            </a:r>
            <a:endParaRPr lang="en-US" altLang="zh-CN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7C7353B-1599-2F1C-D07A-BA2D6B9B5A3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 algn="l"/>
            <a:fld id="{F887C18F-21B2-48B8-9586-9343C0AE58EE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1DF1F6-B273-A507-C13D-9CAC443BD1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65085E7-6919-BAEF-1197-9129037958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2913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Gliederung</a:t>
            </a:r>
            <a:endParaRPr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Motivation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Zeitplan</a:t>
            </a:r>
            <a:endParaRPr lang="en-US" altLang="zh-CN" sz="4800" b="1" spc="50" dirty="0">
              <a:ln w="0"/>
              <a:solidFill>
                <a:srgbClr val="90BBE7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Methode</a:t>
            </a:r>
          </a:p>
          <a:p>
            <a:r>
              <a:rPr lang="en-US" altLang="zh-CN" sz="4800" b="1" spc="50" dirty="0" err="1">
                <a:ln w="0"/>
                <a:solidFill>
                  <a:srgbClr val="275AAD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Aktuelle</a:t>
            </a:r>
            <a:r>
              <a:rPr lang="en-US" altLang="zh-CN" sz="4800" b="1" spc="50" dirty="0">
                <a:ln w="0"/>
                <a:solidFill>
                  <a:srgbClr val="275AAD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Weitere</a:t>
            </a:r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11</a:t>
            </a:fld>
            <a:endParaRPr 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3555047" y="2859088"/>
            <a:ext cx="5080000" cy="635000"/>
          </a:xfrm>
          <a:prstGeom prst="rect">
            <a:avLst/>
          </a:prstGeom>
        </p:spPr>
        <p:txBody>
          <a:bodyPr/>
          <a:lstStyle/>
          <a:p>
            <a:endParaRPr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E45A0-C9B3-CF51-E01E-489C4B892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DECD8C2E-D88F-4121-F8D2-3E8060D07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2RC Modell</a:t>
            </a:r>
            <a:endParaRPr lang="en-US" altLang="zh-CN" baseline="30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内容占位符 5">
                <a:extLst>
                  <a:ext uri="{FF2B5EF4-FFF2-40B4-BE49-F238E27FC236}">
                    <a16:creationId xmlns:a16="http://schemas.microsoft.com/office/drawing/2014/main" id="{73721A9C-FB4A-FCF3-A74D-25DAB4BC1A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altLang="zh-CN" dirty="0"/>
              </a:p>
              <a:p>
                <a:r>
                  <a:rPr lang="en-US" altLang="zh-CN" dirty="0"/>
                  <a:t>Wenn I=</a:t>
                </a:r>
                <a:r>
                  <a:rPr lang="en-US" altLang="zh-CN" i="1" dirty="0" err="1"/>
                  <a:t>i</a:t>
                </a:r>
                <a:r>
                  <a:rPr lang="en-US" altLang="zh-CN" i="1" dirty="0"/>
                  <a:t>(0)</a:t>
                </a:r>
              </a:p>
              <a:p>
                <a:endParaRPr lang="en-US" altLang="zh-CN" i="1" dirty="0"/>
              </a:p>
              <a:p>
                <a:endParaRPr lang="en-US" altLang="zh-CN" i="1" dirty="0"/>
              </a:p>
              <a:p>
                <a:r>
                  <a:rPr lang="zh-CN" altLang="zh-CN" dirty="0"/>
                  <a:t>I und </a:t>
                </a:r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charset="0"/>
                      </a:rPr>
                      <m:t>𝑉</m:t>
                    </m:r>
                  </m:oMath>
                </a14:m>
                <a:r>
                  <a:rPr lang="zh-CN" altLang="zh-CN" dirty="0"/>
                  <a:t>entsprechen den Werten des vorherigen Zeitschritts.</a:t>
                </a:r>
                <a:endParaRPr lang="zh-CN" altLang="en-US" dirty="0"/>
              </a:p>
            </p:txBody>
          </p:sp>
        </mc:Choice>
        <mc:Fallback>
          <p:sp>
            <p:nvSpPr>
              <p:cNvPr id="6" name="内容占位符 5">
                <a:extLst>
                  <a:ext uri="{FF2B5EF4-FFF2-40B4-BE49-F238E27FC236}">
                    <a16:creationId xmlns:a16="http://schemas.microsoft.com/office/drawing/2014/main" id="{73721A9C-FB4A-FCF3-A74D-25DAB4BC1A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E9F7E24-36B0-F3AD-9BC9-E8C691101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898C072-E44C-B1D4-C27A-E98E0E909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38FE50-D529-F487-7835-DC1E461A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12</a:t>
            </a:fld>
            <a:endParaRPr 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B1E82FA-26B2-091C-1ED6-0540C3C2EE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567" y="974725"/>
            <a:ext cx="2831126" cy="2316480"/>
          </a:xfrm>
          <a:prstGeom prst="rect">
            <a:avLst/>
          </a:prstGeom>
        </p:spPr>
      </p:pic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C9627AFA-2830-67BC-BF28-DAD701CC874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9556258"/>
              </p:ext>
            </p:extLst>
          </p:nvPr>
        </p:nvGraphicFramePr>
        <p:xfrm>
          <a:off x="383858" y="1856840"/>
          <a:ext cx="4273534" cy="7697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9072800" imgH="8839200" progId="Equation.DSMT4">
                  <p:embed/>
                </p:oleObj>
              </mc:Choice>
              <mc:Fallback>
                <p:oleObj name="Equation" r:id="rId4" imgW="49072800" imgH="8839200" progId="Equation.DSMT4">
                  <p:embed/>
                  <p:pic>
                    <p:nvPicPr>
                      <p:cNvPr id="13" name="对象 12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3858" y="1856840"/>
                        <a:ext cx="4273534" cy="7697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>
            <a:extLst>
              <a:ext uri="{FF2B5EF4-FFF2-40B4-BE49-F238E27FC236}">
                <a16:creationId xmlns:a16="http://schemas.microsoft.com/office/drawing/2014/main" id="{1E0CBAB4-BFC2-3E98-C9B9-5598D10C8CD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57108592"/>
              </p:ext>
            </p:extLst>
          </p:nvPr>
        </p:nvGraphicFramePr>
        <p:xfrm>
          <a:off x="383858" y="3100290"/>
          <a:ext cx="3146989" cy="7697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2367200" imgH="10363200" progId="Equation.DSMT4">
                  <p:embed/>
                </p:oleObj>
              </mc:Choice>
              <mc:Fallback>
                <p:oleObj name="Equation" r:id="rId6" imgW="42367200" imgH="10363200" progId="Equation.DSMT4">
                  <p:embed/>
                  <p:pic>
                    <p:nvPicPr>
                      <p:cNvPr id="15" name="对象 14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383858" y="3100290"/>
                        <a:ext cx="3146989" cy="7697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083259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j-lt"/>
              </a:rPr>
              <a:t>Aktuelle</a:t>
            </a:r>
            <a:r>
              <a:rPr lang="en-US" altLang="zh-CN" dirty="0">
                <a:latin typeface="+mj-lt"/>
              </a:rPr>
              <a:t> </a:t>
            </a:r>
            <a:r>
              <a:rPr lang="en-US" altLang="zh-CN" dirty="0" err="1">
                <a:latin typeface="+mj-lt"/>
              </a:rPr>
              <a:t>Kapazi</a:t>
            </a:r>
            <a:r>
              <a:rPr lang="de-DE" altLang="en-US" dirty="0">
                <a:latin typeface="+mj-lt"/>
              </a:rPr>
              <a:t>tät </a:t>
            </a:r>
            <a:r>
              <a:rPr lang="de-DE" altLang="en-US" dirty="0">
                <a:latin typeface="+mj-lt"/>
                <a:ea typeface="黑体" panose="02010609060101010101" charset="-122"/>
              </a:rPr>
              <a:t>rechnen</a:t>
            </a:r>
          </a:p>
        </p:txBody>
      </p:sp>
      <p:sp>
        <p:nvSpPr>
          <p:cNvPr id="12" name="内容占位符 11">
            <a:extLst>
              <a:ext uri="{FF2B5EF4-FFF2-40B4-BE49-F238E27FC236}">
                <a16:creationId xmlns:a16="http://schemas.microsoft.com/office/drawing/2014/main" id="{677E5A6A-0543-EA1C-179A-D9222D4957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13</a:t>
            </a:fld>
            <a:endParaRPr lang="en-US" dirty="0"/>
          </a:p>
        </p:txBody>
      </p:sp>
      <p:pic>
        <p:nvPicPr>
          <p:cNvPr id="13" name="内容占位符 9">
            <a:extLst>
              <a:ext uri="{FF2B5EF4-FFF2-40B4-BE49-F238E27FC236}">
                <a16:creationId xmlns:a16="http://schemas.microsoft.com/office/drawing/2014/main" id="{8F3791A5-0A9C-2EB7-EC42-07A7308DA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151" y="1433963"/>
            <a:ext cx="3939872" cy="3223532"/>
          </a:xfrm>
          <a:prstGeom prst="rect">
            <a:avLst/>
          </a:prstGeom>
        </p:spPr>
      </p:pic>
      <p:graphicFrame>
        <p:nvGraphicFramePr>
          <p:cNvPr id="15" name="对象 14">
            <a:extLst>
              <a:ext uri="{FF2B5EF4-FFF2-40B4-BE49-F238E27FC236}">
                <a16:creationId xmlns:a16="http://schemas.microsoft.com/office/drawing/2014/main" id="{1E017E61-91EB-86F2-A01E-3282C40C76F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9151" y="745200"/>
          <a:ext cx="5131479" cy="5370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184120" imgH="228600" progId="Equation.DSMT4">
                  <p:embed/>
                </p:oleObj>
              </mc:Choice>
              <mc:Fallback>
                <p:oleObj name="Equation" r:id="rId3" imgW="2184120" imgH="228600" progId="Equation.DSMT4">
                  <p:embed/>
                  <p:pic>
                    <p:nvPicPr>
                      <p:cNvPr id="15" name="对象 14">
                        <a:extLst>
                          <a:ext uri="{FF2B5EF4-FFF2-40B4-BE49-F238E27FC236}">
                            <a16:creationId xmlns:a16="http://schemas.microsoft.com/office/drawing/2014/main" id="{1E017E61-91EB-86F2-A01E-3282C40C76F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79151" y="745200"/>
                        <a:ext cx="5131479" cy="53701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A9540169-DD02-4DA8-76CD-F9E6E16098A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319023" y="1760292"/>
          <a:ext cx="7487440" cy="5013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182896" imgH="481697" progId="Equation.DSMT4">
                  <p:embed/>
                </p:oleObj>
              </mc:Choice>
              <mc:Fallback>
                <p:oleObj name="Equation" r:id="rId5" imgW="7182896" imgH="481697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A9540169-DD02-4DA8-76CD-F9E6E16098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319023" y="1760292"/>
                        <a:ext cx="7487440" cy="5013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0" name="图片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7922" y="2297645"/>
            <a:ext cx="3083469" cy="1850081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61525" y="2297983"/>
            <a:ext cx="3082229" cy="1849406"/>
          </a:xfrm>
          <a:prstGeom prst="rect">
            <a:avLst/>
          </a:prstGeom>
        </p:spPr>
      </p:pic>
      <p:graphicFrame>
        <p:nvGraphicFramePr>
          <p:cNvPr id="24" name="对象 23">
            <a:extLst>
              <a:ext uri="{FF2B5EF4-FFF2-40B4-BE49-F238E27FC236}">
                <a16:creationId xmlns:a16="http://schemas.microsoft.com/office/drawing/2014/main" id="{199D8987-8FE4-93AB-E636-ACB01556074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7930" y="5205461"/>
          <a:ext cx="2685600" cy="39951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536480" imgH="228600" progId="Equation.DSMT4">
                  <p:embed/>
                </p:oleObj>
              </mc:Choice>
              <mc:Fallback>
                <p:oleObj name="Equation" r:id="rId9" imgW="1536480" imgH="228600" progId="Equation.DSMT4">
                  <p:embed/>
                  <p:pic>
                    <p:nvPicPr>
                      <p:cNvPr id="24" name="对象 23">
                        <a:extLst>
                          <a:ext uri="{FF2B5EF4-FFF2-40B4-BE49-F238E27FC236}">
                            <a16:creationId xmlns:a16="http://schemas.microsoft.com/office/drawing/2014/main" id="{199D8987-8FE4-93AB-E636-ACB01556074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377930" y="5205461"/>
                        <a:ext cx="2685600" cy="39951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对象 24">
            <a:extLst>
              <a:ext uri="{FF2B5EF4-FFF2-40B4-BE49-F238E27FC236}">
                <a16:creationId xmlns:a16="http://schemas.microsoft.com/office/drawing/2014/main" id="{8F46324A-4FA4-22E1-37DF-8B5516844AE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937986" y="4999039"/>
          <a:ext cx="1497011" cy="6725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876240" imgH="393480" progId="Equation.DSMT4">
                  <p:embed/>
                </p:oleObj>
              </mc:Choice>
              <mc:Fallback>
                <p:oleObj name="Equation" r:id="rId11" imgW="876240" imgH="393480" progId="Equation.DSMT4">
                  <p:embed/>
                  <p:pic>
                    <p:nvPicPr>
                      <p:cNvPr id="25" name="对象 24">
                        <a:extLst>
                          <a:ext uri="{FF2B5EF4-FFF2-40B4-BE49-F238E27FC236}">
                            <a16:creationId xmlns:a16="http://schemas.microsoft.com/office/drawing/2014/main" id="{8F46324A-4FA4-22E1-37DF-8B5516844AE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5937986" y="4999039"/>
                        <a:ext cx="1497011" cy="67257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" name="对象 25">
            <a:extLst>
              <a:ext uri="{FF2B5EF4-FFF2-40B4-BE49-F238E27FC236}">
                <a16:creationId xmlns:a16="http://schemas.microsoft.com/office/drawing/2014/main" id="{BDAD4C6C-4628-2328-CDB2-583487A7A35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309453" y="4999039"/>
          <a:ext cx="1497010" cy="60593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066680" imgH="431640" progId="Equation.DSMT4">
                  <p:embed/>
                </p:oleObj>
              </mc:Choice>
              <mc:Fallback>
                <p:oleObj name="Equation" r:id="rId13" imgW="1066680" imgH="431640" progId="Equation.DSMT4">
                  <p:embed/>
                  <p:pic>
                    <p:nvPicPr>
                      <p:cNvPr id="26" name="对象 25">
                        <a:extLst>
                          <a:ext uri="{FF2B5EF4-FFF2-40B4-BE49-F238E27FC236}">
                            <a16:creationId xmlns:a16="http://schemas.microsoft.com/office/drawing/2014/main" id="{BDAD4C6C-4628-2328-CDB2-583487A7A3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0309453" y="4999039"/>
                        <a:ext cx="1497010" cy="60593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7078680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Gliederung</a:t>
            </a:r>
            <a:endParaRPr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Motivation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Zeitplan</a:t>
            </a:r>
            <a:endParaRPr lang="en-US" altLang="zh-CN" sz="4800" b="1" spc="50" dirty="0">
              <a:ln w="0"/>
              <a:solidFill>
                <a:srgbClr val="90BBE7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Methode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Aktuelle</a:t>
            </a:r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  <a:p>
            <a:r>
              <a:rPr lang="en-US" altLang="zh-CN" sz="4800" b="1" spc="50" dirty="0" err="1">
                <a:ln w="0"/>
                <a:solidFill>
                  <a:srgbClr val="275AAD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Weitere</a:t>
            </a:r>
            <a:r>
              <a:rPr lang="en-US" altLang="zh-CN" sz="4800" b="1" spc="50" dirty="0">
                <a:ln w="0"/>
                <a:solidFill>
                  <a:srgbClr val="275AAD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14</a:t>
            </a:fld>
            <a:endParaRPr 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3555047" y="2859088"/>
            <a:ext cx="5080000" cy="635000"/>
          </a:xfrm>
          <a:prstGeom prst="rect">
            <a:avLst/>
          </a:prstGeom>
        </p:spPr>
        <p:txBody>
          <a:bodyPr/>
          <a:lstStyle/>
          <a:p>
            <a:endParaRPr sz="16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85676-44F8-EE0B-393B-86C007DC2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8B46B7-51E3-B3E9-D05C-A00CBDFA6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Feature-Label-</a:t>
            </a:r>
            <a:r>
              <a:rPr lang="en-US" altLang="zh-CN" dirty="0" err="1"/>
              <a:t>Zuordnung</a:t>
            </a:r>
            <a:endParaRPr lang="en-US" altLang="zh-CN" dirty="0"/>
          </a:p>
          <a:p>
            <a:pPr lvl="1"/>
            <a:r>
              <a:rPr lang="en-US" altLang="zh-CN" dirty="0" err="1"/>
              <a:t>Entladungsabschnitt</a:t>
            </a:r>
            <a:r>
              <a:rPr lang="en-US" altLang="zh-CN" dirty="0"/>
              <a:t> i</a:t>
            </a:r>
          </a:p>
          <a:p>
            <a:pPr lvl="1"/>
            <a:r>
              <a:rPr lang="en-US" altLang="zh-CN" dirty="0"/>
              <a:t>RC-Parameter </a:t>
            </a:r>
            <a:r>
              <a:rPr lang="en-US" altLang="zh-CN" dirty="0" err="1"/>
              <a:t>i</a:t>
            </a:r>
            <a:endParaRPr lang="en-US" altLang="zh-CN" dirty="0"/>
          </a:p>
          <a:p>
            <a:pPr lvl="1"/>
            <a:r>
              <a:rPr lang="en-US" altLang="zh-CN" dirty="0"/>
              <a:t>SOH(</a:t>
            </a:r>
            <a:r>
              <a:rPr lang="en-US" altLang="zh-CN" dirty="0" err="1"/>
              <a:t>i</a:t>
            </a:r>
            <a:r>
              <a:rPr lang="en-US" altLang="zh-CN" dirty="0"/>
              <a:t>)</a:t>
            </a:r>
          </a:p>
          <a:p>
            <a:pPr lvl="1"/>
            <a:endParaRPr lang="en-US" altLang="zh-CN" dirty="0">
              <a:sym typeface="Wingdings" panose="05000000000000000000" pitchFamily="2" charset="2"/>
            </a:endParaRPr>
          </a:p>
          <a:p>
            <a:r>
              <a:rPr lang="en-US" altLang="zh-CN" dirty="0" err="1"/>
              <a:t>Trainingspaare</a:t>
            </a:r>
            <a:r>
              <a:rPr lang="en-US" altLang="zh-CN" dirty="0"/>
              <a:t> </a:t>
            </a:r>
            <a:r>
              <a:rPr lang="en-US" altLang="zh-CN" dirty="0" err="1"/>
              <a:t>Xi</a:t>
            </a:r>
            <a:r>
              <a:rPr lang="en-US" altLang="zh-CN" dirty="0" err="1">
                <a:sym typeface="Wingdings" panose="05000000000000000000" pitchFamily="2" charset="2"/>
              </a:rPr>
              <a:t>Yi</a:t>
            </a:r>
            <a:endParaRPr lang="en-US" altLang="zh-CN" dirty="0">
              <a:sym typeface="Wingdings" panose="05000000000000000000" pitchFamily="2" charset="2"/>
            </a:endParaRPr>
          </a:p>
          <a:p>
            <a:pPr lvl="1"/>
            <a:r>
              <a:rPr lang="en-US" altLang="zh-CN" dirty="0">
                <a:sym typeface="Wingdings" panose="05000000000000000000" pitchFamily="2" charset="2"/>
              </a:rPr>
              <a:t>Xi=[OCV, R0, R1, R2, C1, C2]</a:t>
            </a:r>
          </a:p>
          <a:p>
            <a:pPr lvl="1"/>
            <a:r>
              <a:rPr lang="en-US" altLang="zh-CN" dirty="0">
                <a:sym typeface="Wingdings" panose="05000000000000000000" pitchFamily="2" charset="2"/>
              </a:rPr>
              <a:t>Yi=SOH(</a:t>
            </a:r>
            <a:r>
              <a:rPr lang="en-US" altLang="zh-CN" dirty="0" err="1">
                <a:sym typeface="Wingdings" panose="05000000000000000000" pitchFamily="2" charset="2"/>
              </a:rPr>
              <a:t>i</a:t>
            </a:r>
            <a:r>
              <a:rPr lang="en-US" altLang="zh-CN" dirty="0">
                <a:sym typeface="Wingdings" panose="05000000000000000000" pitchFamily="2" charset="2"/>
              </a:rPr>
              <a:t>)</a:t>
            </a:r>
          </a:p>
          <a:p>
            <a:pPr lvl="1"/>
            <a:endParaRPr lang="en-US" altLang="zh-CN" dirty="0">
              <a:sym typeface="Wingdings" panose="05000000000000000000" pitchFamily="2" charset="2"/>
            </a:endParaRPr>
          </a:p>
          <a:p>
            <a:pPr lvl="1"/>
            <a:endParaRPr lang="en-US" altLang="zh-CN" dirty="0"/>
          </a:p>
          <a:p>
            <a:pPr lvl="1"/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E1B83E5-4E5D-4C5F-729F-6F0DC0676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l"/>
            <a:fld id="{F887C18F-21B2-48B8-9586-9343C0AE58EE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04DBC2F-F2BD-4A72-3E1B-7D7D34940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657E61-3ED7-A15B-0518-9E4EA106A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15</a:t>
            </a:fld>
            <a:endParaRPr lang="en-US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E7090538-3B9D-1E04-745D-A64BBC7F0B0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2463" y="2693313"/>
            <a:ext cx="5334000" cy="3429000"/>
          </a:xfrm>
          <a:prstGeom prst="rect">
            <a:avLst/>
          </a:prstGeom>
        </p:spPr>
      </p:pic>
      <p:sp>
        <p:nvSpPr>
          <p:cNvPr id="14" name="标题 13">
            <a:extLst>
              <a:ext uri="{FF2B5EF4-FFF2-40B4-BE49-F238E27FC236}">
                <a16:creationId xmlns:a16="http://schemas.microsoft.com/office/drawing/2014/main" id="{2084B8F4-369B-05AB-1633-4ED77B87A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Trainingsdaten-Generierung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057690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E9A57C-206D-83C0-B45E-17FED2A88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Weitere</a:t>
            </a:r>
            <a:r>
              <a:rPr lang="en-US" altLang="zh-CN" dirty="0"/>
              <a:t> Arbeit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68EC69-78AA-5C28-D840-8AB9EA880A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Machine Learning</a:t>
            </a:r>
          </a:p>
          <a:p>
            <a:r>
              <a:rPr lang="en-US" altLang="zh-CN" dirty="0"/>
              <a:t>Transfer Learning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1AE2317-5EE1-5E98-93DD-CBF7BECFC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l"/>
            <a:fld id="{F887C18F-21B2-48B8-9586-9343C0AE58EE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CC10BAD-195D-1F09-ACFB-22AC34538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6BCB71-C048-E186-F8FD-96C0996E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01350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9525" imgH="9525" progId="TCLayout.ActiveDocument.1">
                  <p:embed/>
                </p:oleObj>
              </mc:Choice>
              <mc:Fallback>
                <p:oleObj name="think-cell Folie" r:id="rId3" imgW="9525" imgH="9525" progId="TCLayout.ActiveDocument.1">
                  <p:embed/>
                  <p:pic>
                    <p:nvPicPr>
                      <p:cNvPr id="0" name="图片 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el 1"/>
          <p:cNvSpPr>
            <a:spLocks noGrp="1"/>
          </p:cNvSpPr>
          <p:nvPr>
            <p:ph type="ctrTitle"/>
          </p:nvPr>
        </p:nvSpPr>
        <p:spPr>
          <a:xfrm>
            <a:off x="384175" y="2725420"/>
            <a:ext cx="11422380" cy="3261995"/>
          </a:xfrm>
        </p:spPr>
        <p:txBody>
          <a:bodyPr/>
          <a:lstStyle/>
          <a:p>
            <a:pPr algn="l"/>
            <a:r>
              <a:rPr lang="en-US" altLang="zh-CN" dirty="0"/>
              <a:t>Chemie</a:t>
            </a:r>
            <a:r>
              <a:rPr lang="en-US" altLang="en-US" dirty="0"/>
              <a:t>ü</a:t>
            </a:r>
            <a:r>
              <a:rPr lang="en-US" altLang="zh-CN" dirty="0"/>
              <a:t>bergreifende Transfer Learning f</a:t>
            </a:r>
            <a:r>
              <a:rPr lang="en-US" altLang="en-US" dirty="0"/>
              <a:t>ü</a:t>
            </a:r>
            <a:r>
              <a:rPr lang="en-US" altLang="zh-CN" dirty="0"/>
              <a:t>r die </a:t>
            </a:r>
            <a:br>
              <a:rPr lang="en-US" altLang="zh-CN" dirty="0"/>
            </a:br>
            <a:r>
              <a:rPr lang="en-US" altLang="zh-CN" dirty="0"/>
              <a:t>Vorhersage der Batteriekapazit</a:t>
            </a:r>
            <a:r>
              <a:rPr lang="en-US" altLang="en-US" dirty="0"/>
              <a:t>ä</a:t>
            </a:r>
            <a:r>
              <a:rPr lang="en-US" altLang="zh-CN" dirty="0"/>
              <a:t>t von Li-Ion-Batterien</a:t>
            </a:r>
            <a:br>
              <a:rPr lang="en-US" altLang="zh-CN" dirty="0"/>
            </a:br>
            <a:br>
              <a:rPr lang="en-US" altLang="zh-CN" dirty="0"/>
            </a:br>
            <a:endParaRPr lang="en-US" altLang="zh-CN" b="0" dirty="0">
              <a:solidFill>
                <a:schemeClr val="tx1"/>
              </a:solidFill>
            </a:endParaRPr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l"/>
            <a:fld id="{6D3069C6-0311-4A39-8CC1-DA405FE38D0C}" type="datetime5">
              <a:rPr lang="zh-CN" altLang="en-US" smtClean="0"/>
              <a:t>2026/6/26</a:t>
            </a:fld>
            <a:endParaRPr lang="de-DE" dirty="0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Liang Huang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CARL 16zu9">
  <a:themeElements>
    <a:clrScheme name="Benutzerdefiniert 4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549F"/>
      </a:accent1>
      <a:accent2>
        <a:srgbClr val="0098A1"/>
      </a:accent2>
      <a:accent3>
        <a:srgbClr val="57AB27"/>
      </a:accent3>
      <a:accent4>
        <a:srgbClr val="F6A800"/>
      </a:accent4>
      <a:accent5>
        <a:srgbClr val="CC071E"/>
      </a:accent5>
      <a:accent6>
        <a:srgbClr val="612158"/>
      </a:accent6>
      <a:hlink>
        <a:srgbClr val="00549F"/>
      </a:hlink>
      <a:folHlink>
        <a:srgbClr val="8EBAE5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solidFill>
            <a:schemeClr val="tx2"/>
          </a:solidFill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ARL English">
  <a:themeElements>
    <a:clrScheme name="Benutzerdefiniert 1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549F"/>
      </a:accent1>
      <a:accent2>
        <a:srgbClr val="0098A1"/>
      </a:accent2>
      <a:accent3>
        <a:srgbClr val="57AB27"/>
      </a:accent3>
      <a:accent4>
        <a:srgbClr val="F6A800"/>
      </a:accent4>
      <a:accent5>
        <a:srgbClr val="CC071E"/>
      </a:accent5>
      <a:accent6>
        <a:srgbClr val="612158"/>
      </a:accent6>
      <a:hlink>
        <a:srgbClr val="00549F"/>
      </a:hlink>
      <a:folHlink>
        <a:srgbClr val="8EBAE5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solidFill>
            <a:schemeClr val="tx2"/>
          </a:solidFill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2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CARL</Template>
  <TotalTime>344</TotalTime>
  <Words>514</Words>
  <Application>Microsoft Office PowerPoint</Application>
  <PresentationFormat>自定义</PresentationFormat>
  <Paragraphs>181</Paragraphs>
  <Slides>17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3</vt:i4>
      </vt:variant>
      <vt:variant>
        <vt:lpstr>幻灯片标题</vt:lpstr>
      </vt:variant>
      <vt:variant>
        <vt:i4>17</vt:i4>
      </vt:variant>
    </vt:vector>
  </HeadingPairs>
  <TitlesOfParts>
    <vt:vector size="27" baseType="lpstr">
      <vt:lpstr>Arial</vt:lpstr>
      <vt:lpstr>Calibri</vt:lpstr>
      <vt:lpstr>Cambria Math</vt:lpstr>
      <vt:lpstr>Symbol</vt:lpstr>
      <vt:lpstr>Wingdings</vt:lpstr>
      <vt:lpstr>CARL 16zu9</vt:lpstr>
      <vt:lpstr>CARL English</vt:lpstr>
      <vt:lpstr>think-cell Folie</vt:lpstr>
      <vt:lpstr>Equation</vt:lpstr>
      <vt:lpstr>MathType 7.0 Equation</vt:lpstr>
      <vt:lpstr>Chemieübergreifende Transfer Learning für die  Vorhersage der Batteriekapazität von Li-Ion-Batterien  </vt:lpstr>
      <vt:lpstr>Gliederung</vt:lpstr>
      <vt:lpstr>Gliederung</vt:lpstr>
      <vt:lpstr>Motivation</vt:lpstr>
      <vt:lpstr>Gliederung</vt:lpstr>
      <vt:lpstr>Zeitplan</vt:lpstr>
      <vt:lpstr>Gliederung</vt:lpstr>
      <vt:lpstr>2RC Modell1</vt:lpstr>
      <vt:lpstr>Kapazitätsrückgewinnung während Ruhephasen2</vt:lpstr>
      <vt:lpstr>ML- und Transfer Leraning3</vt:lpstr>
      <vt:lpstr>Gliederung</vt:lpstr>
      <vt:lpstr>2RC Modell</vt:lpstr>
      <vt:lpstr>Aktuelle Kapazität rechnen</vt:lpstr>
      <vt:lpstr>Gliederung</vt:lpstr>
      <vt:lpstr>Trainingsdaten-Generierung</vt:lpstr>
      <vt:lpstr>Weitere Arbeit</vt:lpstr>
      <vt:lpstr>Chemieübergreifende Transfer Learning für die  Vorhersage der Batteriekapazität von Li-Ion-Batterien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Verwendung der PowerPoint-Vorlage</dc:title>
  <dc:creator>Zijuan Hong</dc:creator>
  <cp:lastModifiedBy>Liang Huang</cp:lastModifiedBy>
  <cp:revision>32</cp:revision>
  <cp:lastPrinted>2016-04-11T06:30:00Z</cp:lastPrinted>
  <dcterms:created xsi:type="dcterms:W3CDTF">2026-04-21T09:31:00Z</dcterms:created>
  <dcterms:modified xsi:type="dcterms:W3CDTF">2026-06-26T14:49:35Z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DEF269845E534A35A1B17EC5BF2174C8_12</vt:lpwstr>
  </property>
</Properties>
</file>