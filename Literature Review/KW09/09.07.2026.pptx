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6" r:id="rId2"/>
  </p:sldMasterIdLst>
  <p:notesMasterIdLst>
    <p:notesMasterId r:id="rId15"/>
  </p:notesMasterIdLst>
  <p:handoutMasterIdLst>
    <p:handoutMasterId r:id="rId16"/>
  </p:handoutMasterIdLst>
  <p:sldIdLst>
    <p:sldId id="285" r:id="rId3"/>
    <p:sldId id="314" r:id="rId4"/>
    <p:sldId id="319" r:id="rId5"/>
    <p:sldId id="315" r:id="rId6"/>
    <p:sldId id="320" r:id="rId7"/>
    <p:sldId id="318" r:id="rId8"/>
    <p:sldId id="321" r:id="rId9"/>
    <p:sldId id="316" r:id="rId10"/>
    <p:sldId id="322" r:id="rId11"/>
    <p:sldId id="317" r:id="rId12"/>
    <p:sldId id="323" r:id="rId13"/>
    <p:sldId id="313" r:id="rId14"/>
  </p:sldIdLst>
  <p:sldSz cx="12190413" cy="6858000"/>
  <p:notesSz cx="6797675" cy="9926638"/>
  <p:custDataLst>
    <p:tags r:id="rId17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6" userDrawn="1">
          <p15:clr>
            <a:srgbClr val="A4A3A4"/>
          </p15:clr>
        </p15:guide>
        <p15:guide id="2" orient="horz" pos="726" userDrawn="1">
          <p15:clr>
            <a:srgbClr val="A4A3A4"/>
          </p15:clr>
        </p15:guide>
        <p15:guide id="3" orient="horz" pos="3694" userDrawn="1">
          <p15:clr>
            <a:srgbClr val="A4A3A4"/>
          </p15:clr>
        </p15:guide>
        <p15:guide id="4" pos="242" userDrawn="1">
          <p15:clr>
            <a:srgbClr val="A4A3A4"/>
          </p15:clr>
        </p15:guide>
        <p15:guide id="5" pos="3782" userDrawn="1">
          <p15:clr>
            <a:srgbClr val="A4A3A4"/>
          </p15:clr>
        </p15:guide>
        <p15:guide id="6" pos="7437" userDrawn="1">
          <p15:clr>
            <a:srgbClr val="A4A3A4"/>
          </p15:clr>
        </p15:guide>
        <p15:guide id="7" pos="427" userDrawn="1">
          <p15:clr>
            <a:srgbClr val="A4A3A4"/>
          </p15:clr>
        </p15:guide>
        <p15:guide id="8" pos="7263" userDrawn="1">
          <p15:clr>
            <a:srgbClr val="A4A3A4"/>
          </p15:clr>
        </p15:guide>
        <p15:guide id="9" pos="3912" userDrawn="1">
          <p15:clr>
            <a:srgbClr val="A4A3A4"/>
          </p15:clr>
        </p15:guide>
        <p15:guide id="1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BBE7"/>
    <a:srgbClr val="275AAD"/>
    <a:srgbClr val="BEDAF0"/>
    <a:srgbClr val="FFFFFF"/>
    <a:srgbClr val="00549F"/>
    <a:srgbClr val="8EBAE5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441" autoAdjust="0"/>
  </p:normalViewPr>
  <p:slideViewPr>
    <p:cSldViewPr snapToGrid="0" showGuides="1">
      <p:cViewPr varScale="1">
        <p:scale>
          <a:sx n="75" d="100"/>
          <a:sy n="75" d="100"/>
        </p:scale>
        <p:origin x="65" y="367"/>
      </p:cViewPr>
      <p:guideLst>
        <p:guide orient="horz" pos="2216"/>
        <p:guide orient="horz" pos="726"/>
        <p:guide orient="horz" pos="3694"/>
        <p:guide pos="242"/>
        <p:guide pos="3782"/>
        <p:guide pos="7437"/>
        <p:guide pos="427"/>
        <p:guide pos="7263"/>
        <p:guide pos="39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97B89D5-5017-4396-A2CE-F1C12124EE0F}" type="datetimeFigureOut">
              <a:rPr lang="de-DE"/>
              <a:t>25.06.2026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48FB1AA-A6AA-4E9E-8BA1-59AC7FC9D727}" type="slidenum">
              <a:rPr lang="de-DE" altLang="de-DE"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+mn-lt"/>
              </a:defRPr>
            </a:lvl1pPr>
          </a:lstStyle>
          <a:p>
            <a:pPr>
              <a:defRPr/>
            </a:pPr>
            <a:fld id="{4EEC745E-66A0-4F49-903C-36561B63B5F1}" type="datetimeFigureOut">
              <a:rPr lang="de-DE"/>
              <a:t>25.06.2026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21" tIns="44111" rIns="88221" bIns="44111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2"/>
            <a:ext cx="5438748" cy="3907834"/>
          </a:xfrm>
          <a:prstGeom prst="rect">
            <a:avLst/>
          </a:prstGeom>
        </p:spPr>
        <p:txBody>
          <a:bodyPr vert="horz" lIns="88221" tIns="44111" rIns="88221" bIns="44111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DA392A4-A5B0-45A3-B126-38BB4DB33CBB}" type="slidenum">
              <a:rPr lang="de-DE" altLang="de-DE"/>
              <a:t>‹#›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2.emf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.emf"/><Relationship Id="rId9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2.emf"/><Relationship Id="rId5" Type="http://schemas.openxmlformats.org/officeDocument/2006/relationships/image" Target="../media/image8.jpe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oleObject" Target="../embeddings/oleObject5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10" Type="http://schemas.openxmlformats.org/officeDocument/2006/relationships/image" Target="../media/image7.jpeg"/><Relationship Id="rId4" Type="http://schemas.openxmlformats.org/officeDocument/2006/relationships/image" Target="../media/image1.emf"/><Relationship Id="rId9" Type="http://schemas.openxmlformats.org/officeDocument/2006/relationships/image" Target="../media/image6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0.jpeg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2.emf"/><Relationship Id="rId5" Type="http://schemas.openxmlformats.org/officeDocument/2006/relationships/image" Target="../media/image8.jpe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kt 1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Grafik 19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sp>
        <p:nvSpPr>
          <p:cNvPr id="13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8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9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D7F12259-4066-44C3-AC08-F5ADAE7E0447}" type="datetime5">
              <a:rPr lang="zh-CN" altLang="en-US" smtClean="0"/>
              <a:t>2026/6/25</a:t>
            </a:fld>
            <a:endParaRPr lang="de-DE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solidFill>
                  <a:schemeClr val="bg1"/>
                </a:solidFill>
              </a:rPr>
              <a:t>Alterung     •     Modelle     •     Diagnostik     •     Packdesign     •     Elektromobilität     •     Stationäre Energiespeicher     •     Energiesystemanalyse</a:t>
            </a: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1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1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</a:p>
        </p:txBody>
      </p:sp>
      <p:sp>
        <p:nvSpPr>
          <p:cNvPr id="12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14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itle 1"/>
          <p:cNvSpPr txBox="1"/>
          <p:nvPr/>
        </p:nvSpPr>
        <p:spPr>
          <a:xfrm>
            <a:off x="383068" y="801688"/>
            <a:ext cx="11424279" cy="100415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DE" dirty="0">
                <a:solidFill>
                  <a:srgbClr val="00549F"/>
                </a:solidFill>
              </a:rPr>
              <a:t>Vielen Dank</a:t>
            </a:r>
            <a:br>
              <a:rPr lang="de-DE" dirty="0">
                <a:solidFill>
                  <a:srgbClr val="00549F"/>
                </a:solidFill>
              </a:rPr>
            </a:br>
            <a:r>
              <a:rPr lang="de-DE" dirty="0">
                <a:solidFill>
                  <a:srgbClr val="00549F"/>
                </a:solidFill>
              </a:rPr>
              <a:t>für Ihre Aufmerksamkeit</a:t>
            </a:r>
            <a:endParaRPr lang="en-US" dirty="0">
              <a:solidFill>
                <a:srgbClr val="00549F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17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Kontakt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Lehrstuhl für Elektrochemische Energiewandlung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und Speichersystemtechnik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Wir danken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baseline="0"/>
            </a:lvl1pPr>
          </a:lstStyle>
          <a:p>
            <a:pPr lvl="0"/>
            <a:r>
              <a:rPr lang="en-US" dirty="0"/>
              <a:t>Tel.: +49 241 80-XXXXX</a:t>
            </a:r>
            <a:br>
              <a:rPr lang="en-US" dirty="0"/>
            </a:br>
            <a:r>
              <a:rPr lang="en-US" dirty="0"/>
              <a:t>xxx@isea.rwth-aachen.de</a:t>
            </a:r>
            <a:br>
              <a:rPr lang="en-US" dirty="0"/>
            </a:br>
            <a:r>
              <a:rPr lang="en-US" dirty="0"/>
              <a:t>batteries@isea.rwth-aachen.de</a:t>
            </a:r>
          </a:p>
        </p:txBody>
      </p:sp>
      <p:sp>
        <p:nvSpPr>
          <p:cNvPr id="26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31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8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9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1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22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6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l"/>
            <a:fld id="{E5AF013B-EAD8-4321-9A97-347E14C68B05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3F884E6-7726-4AAA-A0CE-C180A27151DE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072EC-9367-4D7B-8652-6A082F0A7E89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  <a:t>2026/6/25</a:t>
            </a:fld>
            <a:endParaRPr lang="de-DE" dirty="0"/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 rotWithShape="1">
          <a:blip r:embed="rId6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1" name="Grafik 30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28" name="Textfeld 27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chemeClr val="bg1"/>
                </a:solidFill>
              </a:rPr>
              <a:t>Ageing     •     Models     •     Diagnostics     •     Pack Design     •     </a:t>
            </a:r>
            <a:r>
              <a:rPr lang="en-US" sz="1000" noProof="0" dirty="0" err="1">
                <a:solidFill>
                  <a:schemeClr val="bg1"/>
                </a:solidFill>
              </a:rPr>
              <a:t>Electromobility</a:t>
            </a:r>
            <a:r>
              <a:rPr lang="en-US" sz="1000" noProof="0" dirty="0">
                <a:solidFill>
                  <a:schemeClr val="bg1"/>
                </a:solidFill>
              </a:rPr>
              <a:t>     •     Stationary Energy Storage     •     Energy System Analysis</a:t>
            </a:r>
          </a:p>
        </p:txBody>
      </p:sp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Objekt 2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  <a:t>2026/6/25</a:t>
            </a:fld>
            <a:endParaRPr lang="de-DE" dirty="0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4" b="31438"/>
          <a:stretch>
            <a:fillRect/>
          </a:stretch>
        </p:blipFill>
        <p:spPr>
          <a:xfrm>
            <a:off x="0" y="0"/>
            <a:ext cx="12190413" cy="27688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ari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pic>
        <p:nvPicPr>
          <p:cNvPr id="4" name="Grafik 2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</a:p>
        </p:txBody>
      </p:sp>
      <p:sp>
        <p:nvSpPr>
          <p:cNvPr id="8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  <a:t>2026/6/25</a:t>
            </a:fld>
            <a:endParaRPr lang="de-DE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383068" y="801688"/>
            <a:ext cx="11424279" cy="10795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noProof="0" dirty="0"/>
              <a:t>Thank you</a:t>
            </a:r>
            <a:br>
              <a:rPr lang="en-US" noProof="0" dirty="0"/>
            </a:br>
            <a:r>
              <a:rPr lang="en-US" noProof="0" dirty="0"/>
              <a:t>for your attention</a:t>
            </a:r>
          </a:p>
        </p:txBody>
      </p:sp>
      <p:cxnSp>
        <p:nvCxnSpPr>
          <p:cNvPr id="18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8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22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Chair for Electrochemical Energy Conversion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Storage Systems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 thank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marR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 sz="1400" b="0" baseline="0"/>
            </a:lvl1pPr>
          </a:lstStyle>
          <a:p>
            <a:pPr lvl="0"/>
            <a:r>
              <a:rPr lang="de-DE" noProof="0" dirty="0"/>
              <a:t>Tel.: +49 241 80-XXXXX</a:t>
            </a:r>
            <a:br>
              <a:rPr lang="de-DE" noProof="0" dirty="0"/>
            </a:br>
            <a:r>
              <a:rPr lang="de-DE" noProof="0" dirty="0"/>
              <a:t>xxx@isea.rwth-aachen.de</a:t>
            </a:r>
            <a:br>
              <a:rPr lang="de-DE" noProof="0" dirty="0"/>
            </a:br>
            <a:r>
              <a:rPr lang="de-DE" noProof="0" dirty="0"/>
              <a:t>batteries@isea.rwth-aachen.de</a:t>
            </a:r>
          </a:p>
        </p:txBody>
      </p:sp>
      <p:sp>
        <p:nvSpPr>
          <p:cNvPr id="26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  <a:prstGeom prst="rect">
            <a:avLst/>
          </a:prstGeo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7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5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7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8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9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30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74486B41-BCE2-48B7-876C-2B3490450D97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85D6FCC3-EE37-4749-9624-859AF44EE717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lt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E47FF345-F1B3-44B8-9B74-D6676F7F0EE5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2.xml"/><Relationship Id="rId10" Type="http://schemas.openxmlformats.org/officeDocument/2006/relationships/oleObject" Target="../embeddings/oleObject4.bin"/><Relationship Id="rId4" Type="http://schemas.openxmlformats.org/officeDocument/2006/relationships/slideLayout" Target="../slideLayouts/slideLayout11.xml"/><Relationship Id="rId9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0" imgW="9525" imgH="9525" progId="TCLayout.ActiveDocument.1">
                  <p:embed/>
                </p:oleObj>
              </mc:Choice>
              <mc:Fallback>
                <p:oleObj name="think-cell Folie" r:id="rId10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D35072EC-9367-4D7B-8652-6A082F0A7E89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feld 4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  <p:pic>
        <p:nvPicPr>
          <p:cNvPr id="8" name="Grafik 6"/>
          <p:cNvPicPr>
            <a:picLocks noChangeAspect="1"/>
          </p:cNvPicPr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0" imgW="9525" imgH="9525" progId="TCLayout.ActiveDocument.1">
                  <p:embed/>
                </p:oleObj>
              </mc:Choice>
              <mc:Fallback>
                <p:oleObj name="think-cell Folie" r:id="rId10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/>
          <p:cNvPicPr>
            <a:picLocks noChangeAspect="1"/>
          </p:cNvPicPr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C2CC8288-72D4-44E2-951D-741F8F954282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1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4.png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9.w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8.wmf"/><Relationship Id="rId4" Type="http://schemas.openxmlformats.org/officeDocument/2006/relationships/image" Target="../media/image15.png"/><Relationship Id="rId9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>
          <a:xfrm>
            <a:off x="384175" y="2725420"/>
            <a:ext cx="11422380" cy="3261995"/>
          </a:xfrm>
        </p:spPr>
        <p:txBody>
          <a:bodyPr/>
          <a:lstStyle/>
          <a:p>
            <a:pPr algn="l"/>
            <a:r>
              <a:rPr lang="en-US" altLang="zh-CN" dirty="0"/>
              <a:t>Chemie</a:t>
            </a:r>
            <a:r>
              <a:rPr lang="en-US" altLang="en-US" dirty="0"/>
              <a:t>ü</a:t>
            </a:r>
            <a:r>
              <a:rPr lang="en-US" altLang="zh-CN" dirty="0"/>
              <a:t>bergreifende Transfer Learning f</a:t>
            </a:r>
            <a:r>
              <a:rPr lang="en-US" altLang="en-US" dirty="0"/>
              <a:t>ü</a:t>
            </a:r>
            <a:r>
              <a:rPr lang="en-US" altLang="zh-CN" dirty="0"/>
              <a:t>r die </a:t>
            </a:r>
            <a:br>
              <a:rPr lang="en-US" altLang="zh-CN" dirty="0"/>
            </a:br>
            <a:r>
              <a:rPr lang="en-US" altLang="zh-CN" dirty="0"/>
              <a:t>Vorhersage der Batteriekapazit</a:t>
            </a:r>
            <a:r>
              <a:rPr lang="en-US" altLang="en-US" dirty="0"/>
              <a:t>ä</a:t>
            </a:r>
            <a:r>
              <a:rPr lang="en-US" altLang="zh-CN" dirty="0"/>
              <a:t>t von Li-Ion-Batterien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fld id="{6D3069C6-0311-4A39-8CC1-DA405FE38D0C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A28586-7518-0949-E276-3F51C9BE72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139" y="4535813"/>
            <a:ext cx="2145279" cy="1207361"/>
          </a:xfrm>
          <a:prstGeom prst="rect">
            <a:avLst/>
          </a:prstGeom>
        </p:spPr>
      </p:pic>
      <p:sp>
        <p:nvSpPr>
          <p:cNvPr id="13" name="页脚占位符 10">
            <a:extLst>
              <a:ext uri="{FF2B5EF4-FFF2-40B4-BE49-F238E27FC236}">
                <a16:creationId xmlns:a16="http://schemas.microsoft.com/office/drawing/2014/main" id="{A785B1A1-0CC0-E325-6605-6D0FBFCE5B38}"/>
              </a:ext>
            </a:extLst>
          </p:cNvPr>
          <p:cNvSpPr txBox="1">
            <a:spLocks/>
          </p:cNvSpPr>
          <p:nvPr/>
        </p:nvSpPr>
        <p:spPr>
          <a:xfrm>
            <a:off x="382449" y="4388726"/>
            <a:ext cx="11425513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 altLang="zh-CN" dirty="0" err="1"/>
              <a:t>Zwischen</a:t>
            </a:r>
            <a:r>
              <a:rPr lang="de-DE" altLang="zh-CN" dirty="0" err="1"/>
              <a:t>päsentation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Gliederung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Motivation und Zeitplan</a:t>
            </a:r>
          </a:p>
          <a:p>
            <a:pPr lvl="1"/>
            <a:r>
              <a:rPr lang="en-US" altLang="zh-CN" sz="1800"/>
              <a:t>moti</a:t>
            </a:r>
          </a:p>
          <a:p>
            <a:pPr lvl="1"/>
            <a:r>
              <a:rPr lang="en-US" altLang="zh-CN" sz="1800"/>
              <a:t>Zeitplan</a:t>
            </a:r>
            <a:endParaRPr lang="en-US" altLang="zh-CN"/>
          </a:p>
          <a:p>
            <a:r>
              <a:rPr lang="en-US" altLang="zh-CN"/>
              <a:t>Methode</a:t>
            </a:r>
          </a:p>
          <a:p>
            <a:pPr lvl="1"/>
            <a:r>
              <a:rPr lang="en-US" altLang="zh-CN" sz="1800"/>
              <a:t>Literatur</a:t>
            </a:r>
          </a:p>
          <a:p>
            <a:pPr lvl="1"/>
            <a:r>
              <a:rPr lang="en-US" altLang="zh-CN">
                <a:sym typeface="+mn-ea"/>
              </a:rPr>
              <a:t>2RC</a:t>
            </a:r>
          </a:p>
          <a:p>
            <a:pPr lvl="2"/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充电后静置片段</a:t>
            </a:r>
            <a:r>
              <a:rPr lang="en-US" altLang="zh-CN">
                <a:sym typeface="+mn-ea"/>
              </a:rPr>
              <a:t>--&gt;RC</a:t>
            </a:r>
            <a:r>
              <a:rPr lang="zh-CN" altLang="en-US">
                <a:sym typeface="+mn-ea"/>
              </a:rPr>
              <a:t>参数，</a:t>
            </a:r>
            <a:r>
              <a:rPr lang="en-US" altLang="zh-CN">
                <a:sym typeface="+mn-ea"/>
              </a:rPr>
              <a:t>OCV</a:t>
            </a:r>
            <a:endParaRPr lang="zh-CN" altLang="en-US"/>
          </a:p>
          <a:p>
            <a:pPr lvl="2"/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放电片段结合</a:t>
            </a:r>
            <a:r>
              <a:rPr lang="en-US" altLang="zh-CN">
                <a:sym typeface="+mn-ea"/>
              </a:rPr>
              <a:t>ocv</a:t>
            </a:r>
            <a:r>
              <a:rPr lang="zh-CN" altLang="en-US">
                <a:sym typeface="+mn-ea"/>
              </a:rPr>
              <a:t>曲线</a:t>
            </a:r>
            <a:r>
              <a:rPr lang="en-US" altLang="zh-CN">
                <a:sym typeface="+mn-ea"/>
              </a:rPr>
              <a:t>--&gt;</a:t>
            </a:r>
            <a:r>
              <a:rPr lang="zh-CN" altLang="en-US">
                <a:sym typeface="+mn-ea"/>
              </a:rPr>
              <a:t>实际</a:t>
            </a:r>
            <a:r>
              <a:rPr lang="en-US" altLang="zh-CN">
                <a:sym typeface="+mn-ea"/>
              </a:rPr>
              <a:t>SOC</a:t>
            </a:r>
            <a:r>
              <a:rPr lang="zh-CN" altLang="en-US">
                <a:sym typeface="+mn-ea"/>
              </a:rPr>
              <a:t>起始值和终止值</a:t>
            </a:r>
            <a:r>
              <a:rPr lang="en-US" altLang="zh-CN">
                <a:sym typeface="+mn-ea"/>
              </a:rPr>
              <a:t>--&gt;DOD--&gt;C_aktuelle capa--&gt;SOH_aktuelle</a:t>
            </a:r>
            <a:endParaRPr lang="en-US" altLang="zh-CN"/>
          </a:p>
          <a:p>
            <a:pPr lvl="1"/>
            <a:r>
              <a:rPr lang="en-US" altLang="zh-CN"/>
              <a:t>TL</a:t>
            </a:r>
          </a:p>
          <a:p>
            <a:pPr lvl="2"/>
            <a:r>
              <a:rPr lang="en-US" altLang="zh-CN"/>
              <a:t>Charakteristik:U,OCV,R0,R1,R2,C1,C2,STATS(U)</a:t>
            </a:r>
          </a:p>
          <a:p>
            <a:pPr lvl="1"/>
            <a:endParaRPr lang="en-US" altLang="zh-CN"/>
          </a:p>
          <a:p>
            <a:r>
              <a:rPr lang="en-US" altLang="zh-CN"/>
              <a:t>Aktuelle Arbeit</a:t>
            </a:r>
          </a:p>
          <a:p>
            <a:pPr lvl="1"/>
            <a:r>
              <a:rPr lang="en-US" altLang="zh-CN" sz="1800"/>
              <a:t>dateien verarbeiten</a:t>
            </a:r>
          </a:p>
          <a:p>
            <a:pPr lvl="2"/>
            <a:r>
              <a:rPr lang="en-US" altLang="zh-CN"/>
              <a:t>Pause-Segmente nach Ladung </a:t>
            </a:r>
          </a:p>
          <a:p>
            <a:r>
              <a:rPr lang="en-US" altLang="zh-CN"/>
              <a:t>Weitere Arbeit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072EC-9367-4D7B-8652-6A082F0A7E89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555047" y="2859088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DC676-AABF-4609-ED7D-18A11CC80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196D1A7-9A96-D7B4-95B6-A966A7639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Gliederung</a:t>
            </a:r>
            <a:endParaRPr lang="en-US" altLang="zh-CN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346DA3-E4A8-55EB-43CE-81119D5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4800" b="1" spc="50" dirty="0">
                <a:ln w="0"/>
                <a:solidFill>
                  <a:srgbClr val="275AAD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Motivation</a:t>
            </a:r>
          </a:p>
          <a:p>
            <a:r>
              <a:rPr lang="en-US" altLang="zh-CN" sz="4800" b="1" spc="50" dirty="0" err="1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Zeitplan</a:t>
            </a:r>
            <a:endParaRPr lang="en-US" altLang="zh-CN" sz="4800" b="1" spc="50" dirty="0">
              <a:ln w="0"/>
              <a:solidFill>
                <a:srgbClr val="90BBE7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Methode</a:t>
            </a:r>
          </a:p>
          <a:p>
            <a:r>
              <a:rPr lang="en-US" altLang="zh-CN" sz="4800" b="1" spc="50" dirty="0" err="1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Aktuelle</a:t>
            </a:r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Arbeit</a:t>
            </a:r>
          </a:p>
          <a:p>
            <a:r>
              <a:rPr lang="en-US" altLang="zh-CN" sz="4800" b="1" spc="50" dirty="0" err="1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Weitere</a:t>
            </a:r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Arbeit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4F417C-F386-262D-4C55-4B27505D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072EC-9367-4D7B-8652-6A082F0A7E89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3D31D9-12AD-DDAC-5126-137D5535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7631AC-28CB-7547-BC34-44719143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940E29-97A4-A7E5-EB3B-29D2AA8311A6}"/>
              </a:ext>
            </a:extLst>
          </p:cNvPr>
          <p:cNvSpPr txBox="1"/>
          <p:nvPr/>
        </p:nvSpPr>
        <p:spPr>
          <a:xfrm>
            <a:off x="3555047" y="2859088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665253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Motivation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Wachsende Anwendung von Li-Ion-Batterien</a:t>
            </a:r>
          </a:p>
          <a:p>
            <a:r>
              <a:rPr lang="zh-CN" altLang="zh-CN" dirty="0"/>
              <a:t>Zuverlässige SOH-/Kapazitätsprognose</a:t>
            </a:r>
          </a:p>
          <a:p>
            <a:r>
              <a:rPr lang="zh-CN" altLang="zh-CN" dirty="0"/>
              <a:t>Zeit- und kostenintensive Alterungstests</a:t>
            </a:r>
          </a:p>
          <a:p>
            <a:endParaRPr lang="de-DE" altLang="zh-CN" dirty="0"/>
          </a:p>
          <a:p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F9DA66C8-A138-880A-639D-E4724A59997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zh-CN" altLang="zh-CN" dirty="0"/>
              <a:t>Unterschiedliche Zellchemien</a:t>
            </a:r>
            <a:br>
              <a:rPr lang="zh-CN" altLang="zh-CN" dirty="0"/>
            </a:br>
            <a:r>
              <a:rPr lang="zh-CN" altLang="zh-CN" b="1" dirty="0"/>
              <a:t>NCA → LFP</a:t>
            </a:r>
            <a:endParaRPr lang="zh-CN" altLang="zh-CN" dirty="0"/>
          </a:p>
          <a:p>
            <a:r>
              <a:rPr lang="zh-CN" altLang="zh-CN" dirty="0"/>
              <a:t>Unterschiedliche Betriebsbedingungen</a:t>
            </a:r>
            <a:br>
              <a:rPr lang="zh-CN" altLang="zh-CN" dirty="0"/>
            </a:br>
            <a:r>
              <a:rPr lang="zh-CN" altLang="zh-CN" b="1" dirty="0"/>
              <a:t>0,5C → 3C</a:t>
            </a:r>
            <a:endParaRPr lang="zh-CN" altLang="zh-CN" dirty="0"/>
          </a:p>
          <a:p>
            <a:r>
              <a:rPr lang="zh-CN" altLang="zh-CN" dirty="0"/>
              <a:t>Starker Domain Shift</a:t>
            </a:r>
          </a:p>
          <a:p>
            <a:r>
              <a:rPr lang="zh-CN" altLang="zh-CN" dirty="0"/>
              <a:t>Begrenzte LFP-Alterungsdaten</a:t>
            </a:r>
            <a:endParaRPr lang="de-DE" altLang="zh-CN" dirty="0"/>
          </a:p>
          <a:p>
            <a:r>
              <a:rPr lang="zh-CN" altLang="zh-CN" dirty="0"/>
              <a:t>Nutzung umfangreicher NCA-Alterungsdaten</a:t>
            </a:r>
          </a:p>
          <a:p>
            <a:r>
              <a:rPr lang="zh-CN" altLang="zh-CN" dirty="0"/>
              <a:t>Kombination mit wenigen LFP-Alterungsdaten</a:t>
            </a:r>
          </a:p>
          <a:p>
            <a:r>
              <a:rPr lang="zh-CN" altLang="zh-CN" dirty="0"/>
              <a:t>Transfer Learning für LFP-Alterungsprognose</a:t>
            </a:r>
          </a:p>
          <a:p>
            <a:r>
              <a:rPr lang="zh-CN" altLang="zh-CN" dirty="0"/>
              <a:t>Datenarme, robuste Kapazitätsvorhersage</a:t>
            </a:r>
          </a:p>
          <a:p>
            <a:pPr lvl="1"/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5072EC-9367-4D7B-8652-6A082F0A7E89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B8DDE-DD66-34F5-A137-03DC662C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11D0696-AEBB-8571-BB06-DD63F7A34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Gliederung</a:t>
            </a:r>
            <a:endParaRPr lang="en-US" altLang="zh-CN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F5571F-6AE0-216B-3E42-20BD50743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Motivation</a:t>
            </a:r>
          </a:p>
          <a:p>
            <a:r>
              <a:rPr lang="en-US" altLang="zh-CN" sz="4800" b="1" spc="50" dirty="0" err="1">
                <a:ln w="0"/>
                <a:solidFill>
                  <a:srgbClr val="275AAD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Zeitplan</a:t>
            </a:r>
            <a:endParaRPr lang="en-US" altLang="zh-CN" sz="4800" b="1" spc="50" dirty="0">
              <a:ln w="0"/>
              <a:solidFill>
                <a:srgbClr val="275AAD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Methode</a:t>
            </a:r>
          </a:p>
          <a:p>
            <a:r>
              <a:rPr lang="en-US" altLang="zh-CN" sz="4800" b="1" spc="50" dirty="0" err="1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Aktuelle</a:t>
            </a:r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Arbeit</a:t>
            </a:r>
          </a:p>
          <a:p>
            <a:r>
              <a:rPr lang="en-US" altLang="zh-CN" sz="4800" b="1" spc="50" dirty="0" err="1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Weitere</a:t>
            </a:r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Arbeit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3E54F4-6571-7C7E-052A-57EBC8A7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072EC-9367-4D7B-8652-6A082F0A7E89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09DE16-FF30-9AE2-90B9-9D689C7EB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8E1A6-1267-1548-B720-7D161088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5</a:t>
            </a:fld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02F5E7-D4EC-2A64-7EFC-5D73B4E12E73}"/>
              </a:ext>
            </a:extLst>
          </p:cNvPr>
          <p:cNvSpPr txBox="1"/>
          <p:nvPr/>
        </p:nvSpPr>
        <p:spPr>
          <a:xfrm>
            <a:off x="3555047" y="2859088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76568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内容占位符 11">
            <a:extLst>
              <a:ext uri="{FF2B5EF4-FFF2-40B4-BE49-F238E27FC236}">
                <a16:creationId xmlns:a16="http://schemas.microsoft.com/office/drawing/2014/main" id="{8ED48629-411A-A2E0-628B-76420D919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3949" y="905256"/>
            <a:ext cx="9710969" cy="4022344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Zeitplan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072EC-9367-4D7B-8652-6A082F0A7E89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2C71634-332D-0F34-AAA1-BFD63B75D1C3}"/>
              </a:ext>
            </a:extLst>
          </p:cNvPr>
          <p:cNvCxnSpPr>
            <a:cxnSpLocks/>
          </p:cNvCxnSpPr>
          <p:nvPr/>
        </p:nvCxnSpPr>
        <p:spPr>
          <a:xfrm>
            <a:off x="8991599" y="1587426"/>
            <a:ext cx="0" cy="3500229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EB14B48-2C49-4126-2AD7-8BB84D7ADEC9}"/>
              </a:ext>
            </a:extLst>
          </p:cNvPr>
          <p:cNvCxnSpPr>
            <a:cxnSpLocks/>
          </p:cNvCxnSpPr>
          <p:nvPr/>
        </p:nvCxnSpPr>
        <p:spPr>
          <a:xfrm>
            <a:off x="9521372" y="1587426"/>
            <a:ext cx="0" cy="3500229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7677E4F-3038-31D5-9F1E-223CD5903AA6}"/>
              </a:ext>
            </a:extLst>
          </p:cNvPr>
          <p:cNvSpPr txBox="1"/>
          <p:nvPr/>
        </p:nvSpPr>
        <p:spPr>
          <a:xfrm>
            <a:off x="8783850" y="508765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9537877-C933-2BFB-CD94-36F880E16765}"/>
              </a:ext>
            </a:extLst>
          </p:cNvPr>
          <p:cNvSpPr txBox="1"/>
          <p:nvPr/>
        </p:nvSpPr>
        <p:spPr>
          <a:xfrm>
            <a:off x="9313623" y="508765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②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2F686D3-5FF2-9890-30EE-5449A3FB12C0}"/>
              </a:ext>
            </a:extLst>
          </p:cNvPr>
          <p:cNvCxnSpPr>
            <a:cxnSpLocks/>
          </p:cNvCxnSpPr>
          <p:nvPr/>
        </p:nvCxnSpPr>
        <p:spPr>
          <a:xfrm>
            <a:off x="10036629" y="1587427"/>
            <a:ext cx="0" cy="3500229"/>
          </a:xfrm>
          <a:prstGeom prst="line">
            <a:avLst/>
          </a:prstGeom>
          <a:ln w="254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64C3714D-A94D-7D8A-D691-6CF94D163386}"/>
              </a:ext>
            </a:extLst>
          </p:cNvPr>
          <p:cNvSpPr txBox="1"/>
          <p:nvPr/>
        </p:nvSpPr>
        <p:spPr>
          <a:xfrm>
            <a:off x="9779000" y="508590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③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B67050-4911-6321-942C-7E063DC939E3}"/>
              </a:ext>
            </a:extLst>
          </p:cNvPr>
          <p:cNvSpPr txBox="1"/>
          <p:nvPr/>
        </p:nvSpPr>
        <p:spPr>
          <a:xfrm>
            <a:off x="383949" y="5085907"/>
            <a:ext cx="32240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</a:t>
            </a:r>
            <a:r>
              <a:rPr lang="en-US" altLang="zh-CN" dirty="0"/>
              <a:t>:</a:t>
            </a:r>
            <a:r>
              <a:rPr lang="en-US" altLang="zh-CN" dirty="0" err="1"/>
              <a:t>komplette</a:t>
            </a:r>
            <a:r>
              <a:rPr lang="en-US" altLang="zh-CN" dirty="0"/>
              <a:t> Baseline</a:t>
            </a:r>
          </a:p>
          <a:p>
            <a:r>
              <a:rPr lang="zh-CN" altLang="en-US" dirty="0"/>
              <a:t>②</a:t>
            </a:r>
            <a:r>
              <a:rPr lang="en-US" altLang="zh-CN" dirty="0"/>
              <a:t>:</a:t>
            </a:r>
            <a:r>
              <a:rPr lang="en-US" altLang="zh-CN" dirty="0" err="1"/>
              <a:t>komplette</a:t>
            </a:r>
            <a:r>
              <a:rPr lang="en-US" altLang="zh-CN" dirty="0"/>
              <a:t> Transfer </a:t>
            </a:r>
            <a:r>
              <a:rPr lang="en-US" altLang="zh-CN" dirty="0" err="1"/>
              <a:t>Lerning</a:t>
            </a:r>
            <a:endParaRPr lang="en-US" altLang="zh-CN" dirty="0"/>
          </a:p>
          <a:p>
            <a:r>
              <a:rPr lang="zh-CN" altLang="en-US" dirty="0"/>
              <a:t>③</a:t>
            </a:r>
            <a:r>
              <a:rPr lang="en-US" altLang="zh-CN" dirty="0"/>
              <a:t>:Alle Arbeit </a:t>
            </a:r>
            <a:r>
              <a:rPr lang="en-US" altLang="zh-CN" dirty="0" err="1"/>
              <a:t>komplett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BE32-4DC3-3FE8-2F7B-1153AD1C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B68C9B4-5C42-0AAB-796B-03DFDFF51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Gliederung</a:t>
            </a:r>
            <a:endParaRPr lang="en-US" altLang="zh-CN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7F52FD-EB28-8915-F4B7-1CDD650B3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Motivation</a:t>
            </a:r>
          </a:p>
          <a:p>
            <a:r>
              <a:rPr lang="en-US" altLang="zh-CN" sz="4800" b="1" spc="50" dirty="0" err="1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Zeitplan</a:t>
            </a:r>
            <a:endParaRPr lang="en-US" altLang="zh-CN" sz="4800" b="1" spc="50" dirty="0">
              <a:ln w="0"/>
              <a:solidFill>
                <a:srgbClr val="90BBE7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altLang="zh-CN" sz="4800" b="1" spc="50" dirty="0">
                <a:ln w="0"/>
                <a:solidFill>
                  <a:srgbClr val="275AAD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Methode</a:t>
            </a:r>
          </a:p>
          <a:p>
            <a:r>
              <a:rPr lang="en-US" altLang="zh-CN" sz="4800" b="1" spc="50" dirty="0" err="1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Aktuelle</a:t>
            </a:r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Arbeit</a:t>
            </a:r>
          </a:p>
          <a:p>
            <a:r>
              <a:rPr lang="en-US" altLang="zh-CN" sz="4800" b="1" spc="50" dirty="0" err="1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Weitere</a:t>
            </a:r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Arbeit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F5C51B-87DA-4826-59B8-BD5BE3349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072EC-9367-4D7B-8652-6A082F0A7E89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D1B61A-8D21-A788-33C6-F38CA584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812521-888E-7EDC-B30B-A2C2CEDC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53958C-EDC5-7510-56AD-7A7056EAB60D}"/>
              </a:ext>
            </a:extLst>
          </p:cNvPr>
          <p:cNvSpPr txBox="1"/>
          <p:nvPr/>
        </p:nvSpPr>
        <p:spPr>
          <a:xfrm>
            <a:off x="3555047" y="2859088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124715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Methode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Wenn I=</a:t>
                </a:r>
                <a:r>
                  <a:rPr lang="en-US" altLang="zh-CN" i="1" dirty="0" err="1"/>
                  <a:t>i</a:t>
                </a:r>
                <a:r>
                  <a:rPr lang="en-US" altLang="zh-CN" i="1" dirty="0"/>
                  <a:t>(0)</a:t>
                </a:r>
              </a:p>
              <a:p>
                <a:endParaRPr lang="en-US" altLang="zh-CN" i="1" dirty="0"/>
              </a:p>
              <a:p>
                <a:endParaRPr lang="en-US" altLang="zh-CN" i="1" dirty="0"/>
              </a:p>
              <a:p>
                <a:r>
                  <a:rPr lang="zh-CN" altLang="zh-CN" dirty="0"/>
                  <a:t>I und </a:t>
                </a:r>
                <a14:m>
                  <m:oMath xmlns:m="http://schemas.openxmlformats.org/officeDocument/2006/math">
                    <m:r>
                      <a:rPr lang="zh-CN" altLang="en-US" i="1"/>
                      <m:t>𝑉</m:t>
                    </m:r>
                  </m:oMath>
                </a14:m>
                <a:r>
                  <a:rPr lang="zh-CN" altLang="zh-CN" dirty="0"/>
                  <a:t>entsprechen den Werten des vorherigen Zeitschritts.</a:t>
                </a:r>
                <a:endParaRPr lang="zh-CN" altLang="en-US" dirty="0"/>
              </a:p>
            </p:txBody>
          </p:sp>
        </mc:Choice>
        <mc:Fallback>
          <p:sp>
            <p:nvSpPr>
              <p:cNvPr id="6" name="内容占位符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072EC-9367-4D7B-8652-6A082F0A7E89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686" y="3322321"/>
            <a:ext cx="2831126" cy="23164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8589" y="1220053"/>
            <a:ext cx="3631223" cy="1428024"/>
          </a:xfrm>
          <a:prstGeom prst="rect">
            <a:avLst/>
          </a:prstGeom>
        </p:spPr>
      </p:pic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0B51F5D-9183-9BF6-037C-A20EF19252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017737"/>
              </p:ext>
            </p:extLst>
          </p:nvPr>
        </p:nvGraphicFramePr>
        <p:xfrm>
          <a:off x="383858" y="832448"/>
          <a:ext cx="5239773" cy="551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1682" imgH="228608" progId="Equation.DSMT4">
                  <p:embed/>
                </p:oleObj>
              </mc:Choice>
              <mc:Fallback>
                <p:oleObj name="Equation" r:id="rId5" imgW="2171682" imgH="22860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3858" y="832448"/>
                        <a:ext cx="5239773" cy="551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6461DB3-C0B9-27AA-B208-2308148D99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9335899"/>
              </p:ext>
            </p:extLst>
          </p:nvPr>
        </p:nvGraphicFramePr>
        <p:xfrm>
          <a:off x="414780" y="1384003"/>
          <a:ext cx="1657180" cy="1172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41120" imgH="736560" progId="Equation.DSMT4">
                  <p:embed/>
                </p:oleObj>
              </mc:Choice>
              <mc:Fallback>
                <p:oleObj name="Equation" r:id="rId7" imgW="10411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4780" y="1384003"/>
                        <a:ext cx="1657180" cy="11721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7ED2A34-E789-2A6F-051A-29F81D5A7D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626539"/>
              </p:ext>
            </p:extLst>
          </p:nvPr>
        </p:nvGraphicFramePr>
        <p:xfrm>
          <a:off x="383858" y="3132753"/>
          <a:ext cx="4273534" cy="769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044440" imgH="368280" progId="Equation.DSMT4">
                  <p:embed/>
                </p:oleObj>
              </mc:Choice>
              <mc:Fallback>
                <p:oleObj name="Equation" r:id="rId9" imgW="204444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3858" y="3132753"/>
                        <a:ext cx="4273534" cy="769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2B2D3F8-7218-7B6E-F00C-DDF4732CD6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005289"/>
              </p:ext>
            </p:extLst>
          </p:nvPr>
        </p:nvGraphicFramePr>
        <p:xfrm>
          <a:off x="383858" y="4508014"/>
          <a:ext cx="3146989" cy="769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65080" imgH="431640" progId="Equation.DSMT4">
                  <p:embed/>
                </p:oleObj>
              </mc:Choice>
              <mc:Fallback>
                <p:oleObj name="Equation" r:id="rId11" imgW="17650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3858" y="4508014"/>
                        <a:ext cx="3146989" cy="769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AA122-B0A4-E371-A30D-5835E9A84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EFE5EAE-B4F4-4D59-B19A-944936507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Gliederung</a:t>
            </a:r>
            <a:endParaRPr lang="en-US" altLang="zh-CN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FF92E2-7C5D-1821-31FE-6E18768B0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Motivation</a:t>
            </a:r>
          </a:p>
          <a:p>
            <a:r>
              <a:rPr lang="en-US" altLang="zh-CN" sz="4800" b="1" spc="50" dirty="0" err="1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Zeitplan</a:t>
            </a:r>
            <a:endParaRPr lang="en-US" altLang="zh-CN" sz="4800" b="1" spc="50" dirty="0">
              <a:ln w="0"/>
              <a:solidFill>
                <a:srgbClr val="90BBE7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Methode</a:t>
            </a:r>
          </a:p>
          <a:p>
            <a:r>
              <a:rPr lang="en-US" altLang="zh-CN" sz="4800" b="1" spc="50" dirty="0" err="1">
                <a:ln w="0"/>
                <a:solidFill>
                  <a:srgbClr val="275AAD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Aktuelle</a:t>
            </a:r>
            <a:r>
              <a:rPr lang="en-US" altLang="zh-CN" sz="4800" b="1" spc="50" dirty="0">
                <a:ln w="0"/>
                <a:solidFill>
                  <a:srgbClr val="275AAD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Arbeit</a:t>
            </a:r>
          </a:p>
          <a:p>
            <a:r>
              <a:rPr lang="en-US" altLang="zh-CN" sz="4800" b="1" spc="50" dirty="0" err="1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Weitere</a:t>
            </a:r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Arbeit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AB6609D-A694-E021-2D72-289A1D98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072EC-9367-4D7B-8652-6A082F0A7E89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94E476-F6D2-C530-9D8E-7A1C8A94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252040-3DB3-FAB5-BB3F-C6D8FB16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639F03-FE08-C5B7-C335-D60042EEB530}"/>
              </a:ext>
            </a:extLst>
          </p:cNvPr>
          <p:cNvSpPr txBox="1"/>
          <p:nvPr/>
        </p:nvSpPr>
        <p:spPr>
          <a:xfrm>
            <a:off x="3555047" y="2859088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09517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Aktuelle Arbeit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072EC-9367-4D7B-8652-6A082F0A7E89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50CC6-1D9D-0433-30D3-318F925A3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88FEB5C-AE35-3DD1-2CBD-E2515442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Gliederung</a:t>
            </a:r>
            <a:endParaRPr lang="en-US" altLang="zh-CN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17ED45-956E-A878-4A89-A02262465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Motivation</a:t>
            </a:r>
          </a:p>
          <a:p>
            <a:r>
              <a:rPr lang="en-US" altLang="zh-CN" sz="4800" b="1" spc="50" dirty="0" err="1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Zeitplan</a:t>
            </a:r>
            <a:endParaRPr lang="en-US" altLang="zh-CN" sz="4800" b="1" spc="50" dirty="0">
              <a:ln w="0"/>
              <a:solidFill>
                <a:srgbClr val="90BBE7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Methode</a:t>
            </a:r>
          </a:p>
          <a:p>
            <a:r>
              <a:rPr lang="en-US" altLang="zh-CN" sz="4800" b="1" spc="50" dirty="0" err="1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Aktuelle</a:t>
            </a:r>
            <a:r>
              <a:rPr lang="en-US" altLang="zh-CN" sz="4800" b="1" spc="50" dirty="0">
                <a:ln w="0"/>
                <a:solidFill>
                  <a:srgbClr val="90BBE7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Arbeit</a:t>
            </a:r>
          </a:p>
          <a:p>
            <a:r>
              <a:rPr lang="en-US" altLang="zh-CN" sz="4800" b="1" spc="50" dirty="0" err="1">
                <a:ln w="0"/>
                <a:solidFill>
                  <a:srgbClr val="275AAD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Weitere</a:t>
            </a:r>
            <a:r>
              <a:rPr lang="en-US" altLang="zh-CN" sz="4800" b="1" spc="50" dirty="0">
                <a:ln w="0"/>
                <a:solidFill>
                  <a:srgbClr val="275AAD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Arbeit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84498E-A241-D2DB-F5A7-92B6AAB02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072EC-9367-4D7B-8652-6A082F0A7E89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F7FE632-338F-674B-6B86-E9186D176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24233-4B58-3481-09D9-39FA0A6B7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BD4468-B63F-1A10-BF6B-44DB40C427EB}"/>
              </a:ext>
            </a:extLst>
          </p:cNvPr>
          <p:cNvSpPr txBox="1"/>
          <p:nvPr/>
        </p:nvSpPr>
        <p:spPr>
          <a:xfrm>
            <a:off x="3555047" y="2859088"/>
            <a:ext cx="5080000" cy="635000"/>
          </a:xfrm>
          <a:prstGeom prst="rect">
            <a:avLst/>
          </a:prstGeom>
        </p:spPr>
        <p:txBody>
          <a:bodyPr/>
          <a:lstStyle/>
          <a:p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250771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>
          <a:xfrm>
            <a:off x="384175" y="2725420"/>
            <a:ext cx="11422380" cy="3261995"/>
          </a:xfrm>
        </p:spPr>
        <p:txBody>
          <a:bodyPr/>
          <a:lstStyle/>
          <a:p>
            <a:pPr algn="l"/>
            <a:r>
              <a:rPr lang="en-US" altLang="zh-CN" dirty="0"/>
              <a:t>Chemie</a:t>
            </a:r>
            <a:r>
              <a:rPr lang="en-US" altLang="en-US" dirty="0"/>
              <a:t>ü</a:t>
            </a:r>
            <a:r>
              <a:rPr lang="en-US" altLang="zh-CN" dirty="0"/>
              <a:t>bergreifende Transfer Learning f</a:t>
            </a:r>
            <a:r>
              <a:rPr lang="en-US" altLang="en-US" dirty="0"/>
              <a:t>ü</a:t>
            </a:r>
            <a:r>
              <a:rPr lang="en-US" altLang="zh-CN" dirty="0"/>
              <a:t>r die </a:t>
            </a:r>
            <a:br>
              <a:rPr lang="en-US" altLang="zh-CN" dirty="0"/>
            </a:br>
            <a:r>
              <a:rPr lang="en-US" altLang="zh-CN" dirty="0"/>
              <a:t>Vorhersage der Batteriekapazit</a:t>
            </a:r>
            <a:r>
              <a:rPr lang="en-US" altLang="en-US" dirty="0"/>
              <a:t>ä</a:t>
            </a:r>
            <a:r>
              <a:rPr lang="en-US" altLang="zh-CN" dirty="0"/>
              <a:t>t von Li-Ion-Batterien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fld id="{6D3069C6-0311-4A39-8CC1-DA405FE38D0C}" type="datetime5">
              <a:rPr lang="zh-CN" altLang="en-US" smtClean="0"/>
              <a:t>2026/6/25</a:t>
            </a:fld>
            <a:endParaRPr lang="de-DE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RL 16zu9">
  <a:themeElements>
    <a:clrScheme name="Benutzerdefiniert 4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RL English">
  <a:themeElements>
    <a:clrScheme name="Benutzerdefiniert 1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CARL</Template>
  <TotalTime>184</TotalTime>
  <Words>299</Words>
  <Application>Microsoft Office PowerPoint</Application>
  <PresentationFormat>自定义</PresentationFormat>
  <Paragraphs>113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Calibri</vt:lpstr>
      <vt:lpstr>Symbol</vt:lpstr>
      <vt:lpstr>Wingdings</vt:lpstr>
      <vt:lpstr>CARL 16zu9</vt:lpstr>
      <vt:lpstr>CARL English</vt:lpstr>
      <vt:lpstr>think-cell Folie</vt:lpstr>
      <vt:lpstr>MathType 7.0 Equation</vt:lpstr>
      <vt:lpstr>Chemieübergreifende Transfer Learning für die  Vorhersage der Batteriekapazität von Li-Ion-Batterien  </vt:lpstr>
      <vt:lpstr>Gliederung</vt:lpstr>
      <vt:lpstr>Gliederung</vt:lpstr>
      <vt:lpstr>Motivation</vt:lpstr>
      <vt:lpstr>Gliederung</vt:lpstr>
      <vt:lpstr>Zeitplan</vt:lpstr>
      <vt:lpstr>Gliederung</vt:lpstr>
      <vt:lpstr>Methode</vt:lpstr>
      <vt:lpstr>Gliederung</vt:lpstr>
      <vt:lpstr>Aktuelle Arbeit</vt:lpstr>
      <vt:lpstr>Gliederung</vt:lpstr>
      <vt:lpstr>Chemieübergreifende Transfer Learning für die  Vorhersage der Batteriekapazität von Li-Ion-Batterien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Verwendung der PowerPoint-Vorlage</dc:title>
  <dc:creator>Zijuan Hong</dc:creator>
  <cp:lastModifiedBy>Liang Huang</cp:lastModifiedBy>
  <cp:revision>29</cp:revision>
  <cp:lastPrinted>2016-04-11T06:30:00Z</cp:lastPrinted>
  <dcterms:created xsi:type="dcterms:W3CDTF">2026-04-21T09:31:00Z</dcterms:created>
  <dcterms:modified xsi:type="dcterms:W3CDTF">2026-06-25T15:59:08Z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DEF269845E534A35A1B17EC5BF2174C8_12</vt:lpwstr>
  </property>
</Properties>
</file>