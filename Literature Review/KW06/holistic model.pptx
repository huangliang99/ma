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2"/>
  </p:sldMasterIdLst>
  <p:notesMasterIdLst>
    <p:notesMasterId r:id="rId10"/>
  </p:notesMasterIdLst>
  <p:handoutMasterIdLst>
    <p:handoutMasterId r:id="rId11"/>
  </p:handoutMasterIdLst>
  <p:sldIdLst>
    <p:sldId id="285" r:id="rId3"/>
    <p:sldId id="308" r:id="rId4"/>
    <p:sldId id="306" r:id="rId5"/>
    <p:sldId id="307" r:id="rId6"/>
    <p:sldId id="305" r:id="rId7"/>
    <p:sldId id="309" r:id="rId8"/>
    <p:sldId id="304" r:id="rId9"/>
  </p:sldIdLst>
  <p:sldSz cx="12190413" cy="6858000"/>
  <p:notesSz cx="6797675" cy="9926638"/>
  <p:custDataLst>
    <p:tags r:id="rId12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26" userDrawn="1">
          <p15:clr>
            <a:srgbClr val="A4A3A4"/>
          </p15:clr>
        </p15:guide>
        <p15:guide id="3" orient="horz" pos="3706" userDrawn="1">
          <p15:clr>
            <a:srgbClr val="A4A3A4"/>
          </p15:clr>
        </p15:guide>
        <p15:guide id="4" pos="242" userDrawn="1">
          <p15:clr>
            <a:srgbClr val="A4A3A4"/>
          </p15:clr>
        </p15:guide>
        <p15:guide id="5" pos="3782" userDrawn="1">
          <p15:clr>
            <a:srgbClr val="A4A3A4"/>
          </p15:clr>
        </p15:guide>
        <p15:guide id="6" pos="7437" userDrawn="1">
          <p15:clr>
            <a:srgbClr val="A4A3A4"/>
          </p15:clr>
        </p15:guide>
        <p15:guide id="7" pos="427" userDrawn="1">
          <p15:clr>
            <a:srgbClr val="A4A3A4"/>
          </p15:clr>
        </p15:guide>
        <p15:guide id="8" pos="7263" userDrawn="1">
          <p15:clr>
            <a:srgbClr val="A4A3A4"/>
          </p15:clr>
        </p15:guide>
        <p15:guide id="9" pos="3912" userDrawn="1">
          <p15:clr>
            <a:srgbClr val="A4A3A4"/>
          </p15:clr>
        </p15:guide>
        <p15:guide id="10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41" autoAdjust="0"/>
  </p:normalViewPr>
  <p:slideViewPr>
    <p:cSldViewPr snapToGrid="0" showGuides="1">
      <p:cViewPr varScale="1">
        <p:scale>
          <a:sx n="105" d="100"/>
          <a:sy n="105" d="100"/>
        </p:scale>
        <p:origin x="114" y="1296"/>
      </p:cViewPr>
      <p:guideLst>
        <p:guide orient="horz" pos="2160"/>
        <p:guide orient="horz" pos="726"/>
        <p:guide orient="horz" pos="3706"/>
        <p:guide pos="242"/>
        <p:guide pos="3782"/>
        <p:guide pos="7437"/>
        <p:guide pos="427"/>
        <p:guide pos="7263"/>
        <p:guide pos="391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  <a:t>08.06.2026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  <a:t>08.06.2026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2.emf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.emf"/><Relationship Id="rId9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2.emf"/><Relationship Id="rId5" Type="http://schemas.openxmlformats.org/officeDocument/2006/relationships/image" Target="../media/image8.jpe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10" Type="http://schemas.openxmlformats.org/officeDocument/2006/relationships/image" Target="../media/image7.jpeg"/><Relationship Id="rId4" Type="http://schemas.openxmlformats.org/officeDocument/2006/relationships/image" Target="../media/image1.emf"/><Relationship Id="rId9" Type="http://schemas.openxmlformats.org/officeDocument/2006/relationships/image" Target="../media/image6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0.jpeg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2.emf"/><Relationship Id="rId5" Type="http://schemas.openxmlformats.org/officeDocument/2006/relationships/image" Target="../media/image8.jpe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5">
              <a:rPr lang="zh-CN" altLang="en-US" smtClean="0"/>
              <a:t>2026/6/8</a:t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1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14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/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  <a:t>2026/6/8</a:t>
            </a:fld>
            <a:endParaRPr lang="de-DE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2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  <a:t>2026/6/8</a:t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>
            <a:fillRect/>
          </a:stretch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4" name="Grafik 2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</a:p>
        </p:txBody>
      </p:sp>
      <p:sp>
        <p:nvSpPr>
          <p:cNvPr id="8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  <a:t>2026/6/8</a:t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1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10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9525" imgH="9525" progId="TCLayout.ActiveDocument.1">
                  <p:embed/>
                </p:oleObj>
              </mc:Choice>
              <mc:Fallback>
                <p:oleObj name="think-cell Folie" r:id="rId9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8" name="Grafik 6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0" imgW="9525" imgH="9525" progId="TCLayout.ActiveDocument.1">
                  <p:embed/>
                </p:oleObj>
              </mc:Choice>
              <mc:Fallback>
                <p:oleObj name="think-cell Folie" r:id="rId10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E46C6B27-63FC-4E44-9873-B8549C03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预测结果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01CEFC-7695-C4AC-EB64-AD3E5A21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069C6-0311-4A39-8CC1-DA405FE38D0C}" type="datetime5">
              <a:rPr lang="zh-CN" altLang="en-US" smtClean="0"/>
              <a:pPr/>
              <a:t>2026/6/8</a:t>
            </a:fld>
            <a:endParaRPr lang="de-DE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DDE5C4-A690-9BBC-B29B-5DC0A4AF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392E2F0F-FFE5-3856-F8A4-9A6E76C04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zh-CN" dirty="0"/>
              <a:t>Final Error: 0.0031 Ah (0.11%)</a:t>
            </a:r>
            <a:endParaRPr lang="zh-CN" altLang="en-US" dirty="0"/>
          </a:p>
        </p:txBody>
      </p:sp>
      <p:pic>
        <p:nvPicPr>
          <p:cNvPr id="15" name="内容占位符 11">
            <a:extLst>
              <a:ext uri="{FF2B5EF4-FFF2-40B4-BE49-F238E27FC236}">
                <a16:creationId xmlns:a16="http://schemas.microsoft.com/office/drawing/2014/main" id="{C49EBA50-4B7F-4924-0638-DCE68D239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50" y="1542335"/>
            <a:ext cx="11113454" cy="45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7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DB3142A-3D6B-C390-BA95-73F635F2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循环老化参数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2956161-5BB8-F458-6214-75222313F7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cap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zh-CN" altLang="zh-CN" dirty="0"/>
                  <a:t>电压应力敏感因子（二次项）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cap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/>
                  <a:t>基础循环老化常数</a:t>
                </a:r>
                <a:r>
                  <a:rPr lang="zh-CN" altLang="en-US" dirty="0"/>
                  <a:t>（</a:t>
                </a:r>
                <a:r>
                  <a:rPr lang="zh-CN" altLang="zh-CN" dirty="0"/>
                  <a:t>循环老化的</a:t>
                </a:r>
                <a:r>
                  <a:rPr lang="zh-CN" altLang="zh-CN" b="1" dirty="0"/>
                  <a:t>基础 SEI 生长速率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从 7.6e-4 修改</a:t>
                </a:r>
                <a:r>
                  <a:rPr lang="zh-CN" altLang="en-US" dirty="0"/>
                  <a:t>至</a:t>
                </a:r>
                <a:r>
                  <a:rPr lang="zh-CN" altLang="zh-CN" dirty="0"/>
                  <a:t>3.2e-4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cap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zh-CN" dirty="0"/>
                  <a:t> DOD（放电深度）应力因子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DOD 对机械应力的驱动机制在高能量型与高功率型电池中是相似的，差异主要在于正极材料的晶格应变系数</a:t>
                </a:r>
                <a:endParaRPr lang="zh-CN" altLang="en-US" dirty="0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2956161-5BB8-F458-6214-75222313F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r="-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173279C-3EEE-C1E8-9BDA-03946D50B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802700"/>
              </p:ext>
            </p:extLst>
          </p:nvPr>
        </p:nvGraphicFramePr>
        <p:xfrm>
          <a:off x="383950" y="823837"/>
          <a:ext cx="7650983" cy="1115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36680" imgH="457200" progId="Equation.DSMT4">
                  <p:embed/>
                </p:oleObj>
              </mc:Choice>
              <mc:Fallback>
                <p:oleObj name="Equation" r:id="rId3" imgW="3136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3950" y="823837"/>
                        <a:ext cx="7650983" cy="1115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78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FB17F-D564-62C9-7ACF-896EDF12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日历老化参数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64112-B99C-765E-21D7-909F88F17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dirty="0"/>
                  <a:t>A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日历老化速率中 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𝑉</m:t>
                        </m:r>
                      </m:e>
                    </m:d>
                  </m:oMath>
                </a14:m>
                <a:r>
                  <a:rPr lang="zh-CN" altLang="zh-CN" dirty="0"/>
                  <a:t>的</a:t>
                </a:r>
                <a:r>
                  <a:rPr lang="zh-CN" altLang="zh-CN" b="1" dirty="0"/>
                  <a:t>电压斜率</a:t>
                </a:r>
                <a:r>
                  <a:rPr lang="zh-CN" altLang="zh-CN" dirty="0"/>
                  <a:t>，描述了端电压每升高 1 V，日历老化速率的线性增量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从 7.543 修改</a:t>
                </a:r>
                <a:r>
                  <a:rPr lang="zh-CN" altLang="en-US" dirty="0"/>
                  <a:t>至</a:t>
                </a:r>
                <a:r>
                  <a:rPr lang="zh-CN" altLang="zh-CN" dirty="0"/>
                  <a:t>5.5</a:t>
                </a:r>
                <a:r>
                  <a:rPr lang="zh-CN" altLang="en-US" dirty="0"/>
                  <a:t>（</a:t>
                </a:r>
                <a:r>
                  <a:rPr lang="zh-CN" altLang="zh-CN" dirty="0"/>
                  <a:t>更符合 VTC6 的实测表现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zh-CN" dirty="0"/>
                  <a:t>B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𝑉</m:t>
                        </m:r>
                      </m:e>
                    </m:d>
                  </m:oMath>
                </a14:m>
                <a:r>
                  <a:rPr lang="zh-CN" altLang="zh-CN" dirty="0"/>
                  <a:t>的</a:t>
                </a:r>
                <a:r>
                  <a:rPr lang="zh-CN" altLang="zh-CN" b="1" dirty="0"/>
                  <a:t>截距</a:t>
                </a:r>
                <a:r>
                  <a:rPr lang="zh-CN" altLang="zh-CN" dirty="0"/>
                  <a:t>，决定了日历老化速率为零的临界电压（即老化驱动力消失的"零点"）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原始参数对应的零点为 </a:t>
                </a:r>
                <a14:m>
                  <m:oMath xmlns:m="http://schemas.openxmlformats.org/officeDocument/2006/math">
                    <m:r>
                      <a:rPr lang="en-US" altLang="zh-CN"/>
                      <m:t>23.75/7.543≈3.15</m:t>
                    </m:r>
                  </m:oMath>
                </a14:m>
                <a:r>
                  <a:rPr lang="zh-CN" altLang="zh-CN" dirty="0"/>
                  <a:t>V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从 23.75 修改</a:t>
                </a:r>
                <a:r>
                  <a:rPr lang="zh-CN" altLang="en-US" dirty="0"/>
                  <a:t>到</a:t>
                </a:r>
                <a:r>
                  <a:rPr lang="zh-CN" altLang="zh-CN" dirty="0"/>
                  <a:t>18.0</a:t>
                </a:r>
                <a:r>
                  <a:rPr lang="zh-CN" altLang="en-US" dirty="0"/>
                  <a:t>，也就是</a:t>
                </a:r>
                <a:r>
                  <a:rPr lang="zh-CN" altLang="zh-CN" dirty="0"/>
                  <a:t>将零点从 3.15 V 提高到了 3.27 V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将日历老化的起效电压门槛修正到了约 </a:t>
                </a:r>
                <a:r>
                  <a:rPr lang="zh-CN" altLang="zh-CN" b="1" dirty="0"/>
                  <a:t>3.27V</a:t>
                </a:r>
                <a:endParaRPr lang="en-US" altLang="zh-CN" b="1" dirty="0"/>
              </a:p>
              <a:p>
                <a:r>
                  <a:rPr lang="zh-CN" altLang="zh-CN" dirty="0"/>
                  <a:t>由 AGING_SCALE_FACTOR</a:t>
                </a:r>
                <a:r>
                  <a:rPr lang="zh-CN" altLang="en-US" dirty="0"/>
                  <a:t>做整体缩放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调整了循环老化和日历老化的基础动力学速率</a:t>
                </a:r>
                <a:endParaRPr lang="en-US" altLang="zh-CN" dirty="0"/>
              </a:p>
              <a:p>
                <a:pPr lvl="1"/>
                <a:r>
                  <a:rPr lang="zh-CN" altLang="zh-CN" b="1" dirty="0"/>
                  <a:t>在循环维度</a:t>
                </a:r>
                <a:r>
                  <a:rPr lang="zh-CN" altLang="zh-CN" dirty="0"/>
                  <a:t>：抵消了高功率电芯（VTC6）由于低局部电流密度带来的损伤减缓</a:t>
                </a:r>
                <a:endParaRPr lang="en-US" altLang="zh-CN" dirty="0"/>
              </a:p>
              <a:p>
                <a:pPr lvl="1"/>
                <a:r>
                  <a:rPr lang="zh-CN" altLang="zh-CN" b="1" dirty="0"/>
                  <a:t>在日历维度</a:t>
                </a:r>
                <a:r>
                  <a:rPr lang="zh-CN" altLang="zh-CN" dirty="0"/>
                  <a:t>：反映了 VTC6 高质量 SEI 膜在热化学降解上的高度稳定性</a:t>
                </a:r>
              </a:p>
              <a:p>
                <a:pPr lvl="1"/>
                <a:endParaRPr lang="zh-CN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64112-B99C-765E-21D7-909F88F17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4C28DE-C1CE-9432-B220-CA123F987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358F5B-0712-6A36-25C1-1868DB37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9C1A1-24E0-17C9-72FD-ADFEE89C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81F6DB1-33CB-DCB9-7472-FC3BB0537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92476"/>
              </p:ext>
            </p:extLst>
          </p:nvPr>
        </p:nvGraphicFramePr>
        <p:xfrm>
          <a:off x="383949" y="1151998"/>
          <a:ext cx="4741391" cy="543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228600" progId="Equation.DSMT4">
                  <p:embed/>
                </p:oleObj>
              </mc:Choice>
              <mc:Fallback>
                <p:oleObj name="Equation" r:id="rId3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3949" y="1151998"/>
                        <a:ext cx="4741391" cy="543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613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7480E-3B09-2E71-FB5A-7AF9A01F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D77E4DD-11CA-5EC1-1D20-C64114BF2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394" y="2170112"/>
            <a:ext cx="6143625" cy="26955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F7861-02E4-B97E-7CA5-DA24DC0D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C5221-6970-B45C-1E7D-AF16AF4A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E88010-E0E9-7F24-2BDE-79B6A912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71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87CDE-DC3F-0D14-3147-9FCBE4E0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E65D46-F6F6-FA54-EC7F-37CD312F2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查看更多数据在目前模型上的表现，良好就准备开始迁移学习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79FAC4-79DC-B0DC-AB64-EC2399D01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2026/6/8</a:t>
            </a:fld>
            <a:endParaRPr lang="de-DE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2C045-4C4D-E2CD-17CB-4F159978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FBCBA-A062-38C9-F2F3-3AD5ACF9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53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Aufschlüsselung</a:t>
            </a:r>
            <a:r>
              <a:rPr lang="en-US" altLang="zh-CN" dirty="0"/>
              <a:t> des </a:t>
            </a:r>
            <a:r>
              <a:rPr lang="en-US" altLang="zh-CN" dirty="0" err="1"/>
              <a:t>Kapazitätsverlusts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  <a:t>2026/6/8</a:t>
            </a:fld>
            <a:endParaRPr lang="de-DE" altLang="zh-CN" dirty="0"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99</TotalTime>
  <Words>332</Words>
  <Application>Microsoft Office PowerPoint</Application>
  <PresentationFormat>自定义</PresentationFormat>
  <Paragraphs>44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Calibri</vt:lpstr>
      <vt:lpstr>Cambria Math</vt:lpstr>
      <vt:lpstr>Symbol</vt:lpstr>
      <vt:lpstr>Wingdings</vt:lpstr>
      <vt:lpstr>CARL 16zu9</vt:lpstr>
      <vt:lpstr>CARL English</vt:lpstr>
      <vt:lpstr>think-cell Folie</vt:lpstr>
      <vt:lpstr>MathType 7.0 Equation</vt:lpstr>
      <vt:lpstr>Chemieübergreifende Transfer Learning für die  Vorhersage der Batteriekapazität von Li-Ion-Batterien  </vt:lpstr>
      <vt:lpstr>预测结果</vt:lpstr>
      <vt:lpstr>循环老化参数</vt:lpstr>
      <vt:lpstr>日历老化参数</vt:lpstr>
      <vt:lpstr>PowerPoint 演示文稿</vt:lpstr>
      <vt:lpstr>本周计划</vt:lpstr>
      <vt:lpstr>Aufschlüsselung des Kapazitätsverlusts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Liang Huang</cp:lastModifiedBy>
  <cp:revision>39</cp:revision>
  <cp:lastPrinted>2016-04-11T06:30:00Z</cp:lastPrinted>
  <dcterms:created xsi:type="dcterms:W3CDTF">2026-04-21T09:31:00Z</dcterms:created>
  <dcterms:modified xsi:type="dcterms:W3CDTF">2026-06-08T11:34:30Z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DEF269845E534A35A1B17EC5BF2174C8_12</vt:lpwstr>
  </property>
</Properties>
</file>