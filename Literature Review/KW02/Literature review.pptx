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</p:sldMasterIdLst>
  <p:notesMasterIdLst>
    <p:notesMasterId r:id="rId7"/>
  </p:notesMasterIdLst>
  <p:handoutMasterIdLst>
    <p:handoutMasterId r:id="rId9"/>
  </p:handoutMasterIdLst>
  <p:sldIdLst>
    <p:sldId id="285" r:id="rId4"/>
    <p:sldId id="312" r:id="rId5"/>
    <p:sldId id="305" r:id="rId6"/>
    <p:sldId id="304" r:id="rId8"/>
  </p:sldIdLst>
  <p:sldSz cx="12190095" cy="6858000"/>
  <p:notesSz cx="6797675" cy="9926320"/>
  <p:custDataLst>
    <p:tags r:id="rId13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26" userDrawn="1">
          <p15:clr>
            <a:srgbClr val="A4A3A4"/>
          </p15:clr>
        </p15:guide>
        <p15:guide id="3" orient="horz" pos="3706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82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12" userDrawn="1">
          <p15:clr>
            <a:srgbClr val="A4A3A4"/>
          </p15:clr>
        </p15:guide>
        <p15:guide id="10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108" d="100"/>
          <a:sy n="108" d="100"/>
        </p:scale>
        <p:origin x="2148" y="102"/>
      </p:cViewPr>
      <p:guideLst>
        <p:guide orient="horz" pos="2160"/>
        <p:guide orient="horz" pos="726"/>
        <p:guide orient="horz" pos="3706"/>
        <p:guide pos="242"/>
        <p:guide pos="3782"/>
        <p:guide pos="7437"/>
        <p:guide pos="427"/>
        <p:guide pos="7263"/>
        <p:guide pos="39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  <a:endParaRPr lang="de-DE" noProof="0" dirty="0"/>
          </a:p>
          <a:p>
            <a:pPr lvl="1"/>
            <a:r>
              <a:rPr lang="de-DE" noProof="0" dirty="0"/>
              <a:t>Zweite Ebene</a:t>
            </a:r>
            <a:endParaRPr lang="de-DE" noProof="0" dirty="0"/>
          </a:p>
          <a:p>
            <a:pPr lvl="2"/>
            <a:r>
              <a:rPr lang="de-DE" noProof="0" dirty="0"/>
              <a:t>Dritte Ebene</a:t>
            </a:r>
            <a:endParaRPr lang="de-DE" noProof="0" dirty="0"/>
          </a:p>
          <a:p>
            <a:pPr lvl="3"/>
            <a:r>
              <a:rPr lang="de-DE" noProof="0" dirty="0"/>
              <a:t>Vierte Ebene</a:t>
            </a:r>
            <a:endParaRPr lang="de-DE" noProof="0" dirty="0"/>
          </a:p>
          <a:p>
            <a:pPr lvl="4"/>
            <a:r>
              <a:rPr lang="de-DE" noProof="0" dirty="0"/>
              <a:t>Fünfte Ebene</a:t>
            </a:r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1" Type="http://schemas.openxmlformats.org/officeDocument/2006/relationships/vmlDrawing" Target="../drawings/vmlDrawing1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4.bin"/><Relationship Id="rId2" Type="http://schemas.openxmlformats.org/officeDocument/2006/relationships/tags" Target="../tags/tag4.xml"/><Relationship Id="rId11" Type="http://schemas.openxmlformats.org/officeDocument/2006/relationships/vmlDrawing" Target="../drawings/vmlDrawing4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image" Target="../media/image10.jpe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5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6.bin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  <a:endParaRPr lang="de-DE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  <a:endParaRPr lang="en-US" dirty="0"/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  <a:endParaRPr lang="en-US" sz="10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  <a:endParaRPr lang="en-US" noProof="0" dirty="0"/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  <a:endParaRPr lang="de-DE" noProof="0" dirty="0"/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emf"/><Relationship Id="rId8" Type="http://schemas.openxmlformats.org/officeDocument/2006/relationships/oleObject" Target="../embeddings/oleObject3.bin"/><Relationship Id="rId7" Type="http://schemas.openxmlformats.org/officeDocument/2006/relationships/tags" Target="../tags/tag3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vmlDrawing" Target="../drawings/vmlDrawing3.vml"/><Relationship Id="rId10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vmlDrawing" Target="../drawings/vmlDrawing7.vml"/><Relationship Id="rId11" Type="http://schemas.openxmlformats.org/officeDocument/2006/relationships/image" Target="../media/image3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8" imgW="9525" imgH="9525" progId="TCLayout.ActiveDocument.1">
                  <p:embed/>
                </p:oleObj>
              </mc:Choice>
              <mc:Fallback>
                <p:oleObj name="think-cell Folie" r:id="rId8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9" imgW="9525" imgH="9525" progId="TCLayout.ActiveDocument.1">
                  <p:embed/>
                </p:oleObj>
              </mc:Choice>
              <mc:Fallback>
                <p:oleObj name="think-cell Folie" r:id="rId9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8.bin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9.bin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Specialized convolutional transformer networks for estimating battery health via transfer learning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000" b="1" dirty="0">
                    <a:sym typeface="Wingdings" panose="05000000000000000000" pitchFamily="2" charset="2"/>
                  </a:rPr>
                  <a:t>如何在数据稀缺和计算资源有限的情况下，利用深度学习实现锂离子电池健康状态（</a:t>
                </a:r>
                <a:r>
                  <a:rPr lang="en-US" altLang="zh-CN" sz="2000" b="1" dirty="0">
                    <a:sym typeface="Wingdings" panose="05000000000000000000" pitchFamily="2" charset="2"/>
                  </a:rPr>
                  <a:t>SOH）</a:t>
                </a:r>
                <a:r>
                  <a:rPr lang="zh-CN" altLang="en-US" sz="2000" b="1" dirty="0">
                    <a:sym typeface="Wingdings" panose="05000000000000000000" pitchFamily="2" charset="2"/>
                  </a:rPr>
                  <a:t>的实时高精度预测，并跨越不同电池化学体系进行知识迁移。</a:t>
                </a:r>
                <a:endParaRPr lang="zh-CN" altLang="en-US" sz="2000" b="1" dirty="0">
                  <a:sym typeface="Wingdings" panose="05000000000000000000" pitchFamily="2" charset="2"/>
                </a:endParaRPr>
              </a:p>
              <a:p>
                <a:r>
                  <a:rPr lang="zh-CN" altLang="en-US" sz="2000" dirty="0">
                    <a:sym typeface="+mn-ea"/>
                  </a:rPr>
                  <a:t>开发了一种融合一维卷积（1-</a:t>
                </a:r>
                <a:r>
                  <a:rPr lang="en-US" altLang="zh-CN" sz="2000" dirty="0">
                    <a:sym typeface="+mn-ea"/>
                  </a:rPr>
                  <a:t>D CNN）</a:t>
                </a:r>
                <a:r>
                  <a:rPr lang="zh-CN" altLang="en-US" sz="2000" dirty="0">
                    <a:sym typeface="+mn-ea"/>
                  </a:rPr>
                  <a:t>和改进型 </a:t>
                </a:r>
                <a:r>
                  <a:rPr lang="en-US" altLang="zh-CN" sz="2000" dirty="0">
                    <a:sym typeface="+mn-ea"/>
                  </a:rPr>
                  <a:t>Transformer（</a:t>
                </a:r>
                <a:r>
                  <a:rPr lang="zh-CN" altLang="en-US" sz="2000" dirty="0">
                    <a:sym typeface="+mn-ea"/>
                  </a:rPr>
                  <a:t>引入概率稀疏自注意力机制 </a:t>
                </a:r>
                <a:r>
                  <a:rPr lang="en-US" altLang="zh-CN" sz="2000" dirty="0">
                    <a:sym typeface="+mn-ea"/>
                  </a:rPr>
                  <a:t>Probsparse Self-attention）</a:t>
                </a:r>
                <a:r>
                  <a:rPr lang="zh-CN" altLang="en-US" sz="2000" dirty="0">
                    <a:sym typeface="+mn-ea"/>
                  </a:rPr>
                  <a:t>的专门网络架构，并通过迁移学习策略在 </a:t>
                </a:r>
                <a:r>
                  <a:rPr lang="en-US" altLang="zh-CN" sz="2000" dirty="0">
                    <a:sym typeface="+mn-ea"/>
                  </a:rPr>
                  <a:t>LFP </a:t>
                </a:r>
                <a:r>
                  <a:rPr lang="zh-CN" altLang="en-US" sz="2000" dirty="0">
                    <a:sym typeface="+mn-ea"/>
                  </a:rPr>
                  <a:t>和 </a:t>
                </a:r>
                <a:r>
                  <a:rPr lang="en-US" altLang="zh-CN" sz="2000" dirty="0">
                    <a:sym typeface="+mn-ea"/>
                  </a:rPr>
                  <a:t>NCA </a:t>
                </a:r>
                <a:r>
                  <a:rPr lang="zh-CN" altLang="en-US" sz="2000" dirty="0">
                    <a:sym typeface="+mn-ea"/>
                  </a:rPr>
                  <a:t>电池间传递老化知识。</a:t>
                </a:r>
                <a:endParaRPr lang="zh-CN" altLang="en-US" sz="2000" dirty="0">
                  <a:sym typeface="+mn-ea"/>
                </a:endParaRPr>
              </a:p>
              <a:p>
                <a:r>
                  <a:rPr lang="zh-CN" altLang="en-US" dirty="0">
                    <a:sym typeface="Wingdings" panose="05000000000000000000" pitchFamily="2" charset="2"/>
                  </a:rPr>
                  <a:t>提到的 </a:t>
                </a:r>
                <a:r>
                  <a:rPr lang="en-US" altLang="zh-CN" dirty="0">
                    <a:sym typeface="Wingdings" panose="05000000000000000000" pitchFamily="2" charset="2"/>
                  </a:rPr>
                  <a:t>Probsparse Self-attention（</a:t>
                </a:r>
                <a:r>
                  <a:rPr lang="zh-CN" altLang="en-US" dirty="0">
                    <a:sym typeface="Wingdings" panose="05000000000000000000" pitchFamily="2" charset="2"/>
                  </a:rPr>
                  <a:t>概率稀疏自注意力机制）</a:t>
                </a:r>
                <a:endParaRPr lang="zh-CN" alt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>
                    <a:sym typeface="Wingdings" panose="05000000000000000000" pitchFamily="2" charset="2"/>
                  </a:rPr>
                  <a:t>将复杂度由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O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𝐿</m:t>
                    </m:r>
                    <m:r>
                      <a:rPr lang="en-US" altLang="zh-CN" i="1" baseline="30000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dirty="0">
                    <a:sym typeface="Wingdings" panose="05000000000000000000" pitchFamily="2" charset="2"/>
                  </a:rPr>
                  <a:t>降低到了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𝐿𝑙𝑛𝐿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dirty="0">
                    <a:sym typeface="Wingdings" panose="05000000000000000000" pitchFamily="2" charset="2"/>
                  </a:rPr>
                  <a:t>。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>
                    <a:sym typeface="Wingdings" panose="05000000000000000000" pitchFamily="2" charset="2"/>
                  </a:rPr>
                  <a:t>只有少数的 </a:t>
                </a:r>
                <a:r>
                  <a:rPr lang="en-US" altLang="zh-CN" dirty="0">
                    <a:sym typeface="Wingdings" panose="05000000000000000000" pitchFamily="2" charset="2"/>
                  </a:rPr>
                  <a:t>Query（</a:t>
                </a:r>
                <a:r>
                  <a:rPr lang="zh-CN" altLang="en-US" dirty="0">
                    <a:sym typeface="Wingdings" panose="05000000000000000000" pitchFamily="2" charset="2"/>
                  </a:rPr>
                  <a:t>查询） 真正对最终的注意力结果有贡献，大部分 </a:t>
                </a:r>
                <a:r>
                  <a:rPr lang="en-US" altLang="zh-CN" dirty="0">
                    <a:sym typeface="Wingdings" panose="05000000000000000000" pitchFamily="2" charset="2"/>
                  </a:rPr>
                  <a:t>Query </a:t>
                </a:r>
                <a:r>
                  <a:rPr lang="zh-CN" altLang="en-US" dirty="0">
                    <a:sym typeface="Wingdings" panose="05000000000000000000" pitchFamily="2" charset="2"/>
                  </a:rPr>
                  <a:t>的注意力分布趋于“均匀分布”</a:t>
                </a:r>
                <a:endParaRPr lang="zh-CN" altLang="en-US" sz="18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>
                    <a:sym typeface="Wingdings" panose="05000000000000000000" pitchFamily="2" charset="2"/>
                  </a:rPr>
                  <a:t>稀疏计算：模型只针对选出的重要 </a:t>
                </a:r>
                <a:r>
                  <a:rPr lang="en-US" altLang="zh-CN" dirty="0">
                    <a:sym typeface="Wingdings" panose="05000000000000000000" pitchFamily="2" charset="2"/>
                  </a:rPr>
                  <a:t>Query </a:t>
                </a:r>
                <a:r>
                  <a:rPr lang="zh-CN" altLang="en-US" dirty="0">
                    <a:sym typeface="Wingdings" panose="05000000000000000000" pitchFamily="2" charset="2"/>
                  </a:rPr>
                  <a:t>计算注意力得分，其它的直接忽略或用平均值代替。</a:t>
                </a:r>
                <a:endParaRPr lang="zh-CN" altLang="en-US" dirty="0">
                  <a:sym typeface="Wingdings" panose="05000000000000000000" pitchFamily="2" charset="2"/>
                </a:endParaRPr>
              </a:p>
              <a:p>
                <a:pPr lvl="1"/>
                <a:endParaRPr lang="zh-CN" altLang="en-US" dirty="0">
                  <a:sym typeface="Wingdings" panose="05000000000000000000" pitchFamily="2" charset="2"/>
                </a:endParaRPr>
              </a:p>
              <a:p>
                <a:pPr lvl="0"/>
                <a:r>
                  <a:rPr lang="zh-CN" altLang="en-US" dirty="0">
                    <a:sym typeface="Wingdings" panose="05000000000000000000" pitchFamily="2" charset="2"/>
                  </a:rPr>
                  <a:t>主要处理的是1</a:t>
                </a:r>
                <a:r>
                  <a:rPr lang="en-US" altLang="zh-CN" dirty="0">
                    <a:sym typeface="Wingdings" panose="05000000000000000000" pitchFamily="2" charset="2"/>
                  </a:rPr>
                  <a:t>C </a:t>
                </a:r>
                <a:r>
                  <a:rPr lang="zh-CN" altLang="en-US" dirty="0">
                    <a:sym typeface="Wingdings" panose="05000000000000000000" pitchFamily="2" charset="2"/>
                  </a:rPr>
                  <a:t>充电</a:t>
                </a:r>
                <a:endParaRPr lang="zh-CN" altLang="en-US" dirty="0">
                  <a:sym typeface="Wingdings" panose="05000000000000000000" pitchFamily="2" charset="2"/>
                </a:endParaRPr>
              </a:p>
              <a:p>
                <a:pPr lvl="0"/>
                <a:endParaRPr lang="zh-CN" altLang="en-US" dirty="0">
                  <a:sym typeface="Wingdings" panose="05000000000000000000" pitchFamily="2" charset="2"/>
                </a:endParaRPr>
              </a:p>
              <a:p>
                <a:pPr lvl="0"/>
                <a:r>
                  <a:rPr lang="zh-CN" altLang="en-US" dirty="0">
                    <a:sym typeface="Wingdings" panose="05000000000000000000" pitchFamily="2" charset="2"/>
                  </a:rPr>
                  <a:t>预测总容量</a:t>
                </a:r>
                <a:endParaRPr lang="zh-CN" altLang="en-US" dirty="0">
                  <a:sym typeface="Wingdings" panose="05000000000000000000" pitchFamily="2" charset="2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A holistic aging model for Li(NiMnCo)O2 based 18650 lithium-ion batteries</a:t>
            </a:r>
            <a:endParaRPr lang="en-US" altLang="zh-C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8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ym typeface="Wingdings" panose="05000000000000000000" pitchFamily="2" charset="2"/>
                  </a:rPr>
                  <a:t>建立一个能够综合考虑日历老化和循环老化，且计算速度快、具备外推能力的“整体老化模型”</a:t>
                </a:r>
                <a:endParaRPr lang="zh-CN" altLang="en-US" dirty="0">
                  <a:sym typeface="Wingdings" panose="05000000000000000000" pitchFamily="2" charset="2"/>
                </a:endParaRPr>
              </a:p>
              <a:p>
                <a:r>
                  <a:rPr lang="zh-CN" altLang="en-US" dirty="0"/>
                  <a:t>解耦为相互独立的日历老化（</a:t>
                </a:r>
                <a:r>
                  <a:rPr lang="en-US" altLang="zh-CN" dirty="0"/>
                  <a:t>Calendar Aging）</a:t>
                </a:r>
                <a:r>
                  <a:rPr lang="zh-CN" altLang="en-US" dirty="0"/>
                  <a:t>和循环老化（</a:t>
                </a:r>
                <a:r>
                  <a:rPr lang="en-US" altLang="zh-CN" dirty="0"/>
                  <a:t>Cycle Aging）</a:t>
                </a:r>
                <a:endParaRPr lang="en-US" altLang="zh-CN" dirty="0"/>
              </a:p>
              <a:p>
                <a:r>
                  <a:rPr lang="zh-CN" altLang="en-US" dirty="0"/>
                  <a:t>日历老化主要受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时间、温度和电压</a:t>
                </a:r>
                <a:r>
                  <a:rPr lang="zh-CN" altLang="en-US" dirty="0"/>
                  <a:t>的影响；循环老化主要受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放电深度（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DOD）、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平均荷电状态（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Mean SOC）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和电荷吞吐量</a:t>
                </a:r>
                <a:r>
                  <a:rPr lang="zh-CN" altLang="en-US" dirty="0"/>
                  <a:t>的影响。</a:t>
                </a:r>
                <a:endParaRPr lang="zh-CN" altLang="en-US" dirty="0"/>
              </a:p>
              <a:p>
                <a:r>
                  <a:rPr lang="zh-CN" altLang="en-US" dirty="0"/>
                  <a:t>日历老化：容量损失呈现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t</a:t>
                </a:r>
                <a:r>
                  <a:rPr lang="en-US" altLang="zh-CN" baseline="30000" dirty="0">
                    <a:solidFill>
                      <a:srgbClr val="FF0000"/>
                    </a:solidFill>
                  </a:rPr>
                  <a:t>0.75</a:t>
                </a:r>
                <a:r>
                  <a:rPr lang="zh-CN" altLang="en-US" dirty="0"/>
                  <a:t>的时间依赖性，而非纯平方根依赖，这表明存在除 </a:t>
                </a:r>
                <a:r>
                  <a:rPr lang="en-US" altLang="zh-CN" dirty="0"/>
                  <a:t>SEI </a:t>
                </a:r>
                <a:r>
                  <a:rPr lang="zh-CN" altLang="en-US" dirty="0"/>
                  <a:t>生长外的第二种线性老化效应。</a:t>
                </a:r>
                <a:endParaRPr lang="zh-CN" altLang="en-US" dirty="0"/>
              </a:p>
              <a:p>
                <a:r>
                  <a:rPr lang="zh-CN" altLang="en-US" dirty="0"/>
                  <a:t>循环老化：容量损失与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Q</m:t>
                        </m:r>
                      </m:e>
                    </m:rad>
                  </m:oMath>
                </a14:m>
                <a:r>
                  <a:rPr lang="zh-CN" altLang="en-US" dirty="0">
                    <a:latin typeface="Cambria Math" panose="02040503050406030204" charset="0"/>
                    <a:cs typeface="Cambria Math" panose="02040503050406030204" charset="0"/>
                  </a:rPr>
                  <a:t>呈线性关系</a:t>
                </a:r>
                <a:endParaRPr lang="zh-CN" altLang="en-US" dirty="0"/>
              </a:p>
              <a:p>
                <a:r>
                  <a:rPr lang="zh-CN" altLang="en-US" dirty="0"/>
                  <a:t>基于 1</a:t>
                </a:r>
                <a:r>
                  <a:rPr lang="en-US" altLang="zh-CN" dirty="0"/>
                  <a:t>C </a:t>
                </a:r>
                <a:r>
                  <a:rPr lang="zh-CN" altLang="en-US" dirty="0"/>
                  <a:t>倍率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内容占位符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Objekt 6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AICARD_INVALID" val="Invalid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0</TotalTime>
  <Words>944</Words>
  <Application>WPS 演示</Application>
  <PresentationFormat>自定义</PresentationFormat>
  <Paragraphs>47</Paragraphs>
  <Slides>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4</vt:i4>
      </vt:variant>
    </vt:vector>
  </HeadingPairs>
  <TitlesOfParts>
    <vt:vector size="29" baseType="lpstr">
      <vt:lpstr>Arial</vt:lpstr>
      <vt:lpstr>宋体</vt:lpstr>
      <vt:lpstr>Wingdings</vt:lpstr>
      <vt:lpstr>Symbol</vt:lpstr>
      <vt:lpstr>Cambria Math</vt:lpstr>
      <vt:lpstr>MS Mincho</vt:lpstr>
      <vt:lpstr>AMGDT</vt:lpstr>
      <vt:lpstr>Wingdings</vt:lpstr>
      <vt:lpstr>微软雅黑</vt:lpstr>
      <vt:lpstr>Arial Unicode MS</vt:lpstr>
      <vt:lpstr>黑体</vt:lpstr>
      <vt:lpstr>Calibri</vt:lpstr>
      <vt:lpstr>Ms.Luce</vt:lpstr>
      <vt:lpstr>BatangChe</vt:lpstr>
      <vt:lpstr>CARL 16zu9</vt:lpstr>
      <vt:lpstr>CARL English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Chemieübergreifende Transfer Learning für die  Vorhersage der Batteriekapazität von Li-Ion-Batterien  </vt:lpstr>
      <vt:lpstr>Aging mechanism in Li ion cells and calendar life predictions</vt:lpstr>
      <vt:lpstr>Data-driven state of health and state of safety estimation for alternative battery chemistries— A comparative review focusing on sodium-ion and LFP lithium-ion batteries</vt:lpstr>
      <vt:lpstr>Literature Review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1407726071</cp:lastModifiedBy>
  <cp:revision>29</cp:revision>
  <cp:lastPrinted>2016-04-11T06:30:00Z</cp:lastPrinted>
  <dcterms:created xsi:type="dcterms:W3CDTF">2026-04-21T09:31:00Z</dcterms:created>
  <dcterms:modified xsi:type="dcterms:W3CDTF">2026-05-11T11:55:52Z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DEF269845E534A35A1B17EC5BF2174C8_12</vt:lpwstr>
  </property>
</Properties>
</file>