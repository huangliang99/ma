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55" r:id="rId2"/>
  </p:sldMasterIdLst>
  <p:notesMasterIdLst>
    <p:notesMasterId r:id="rId11"/>
  </p:notesMasterIdLst>
  <p:handoutMasterIdLst>
    <p:handoutMasterId r:id="rId12"/>
  </p:handoutMasterIdLst>
  <p:sldIdLst>
    <p:sldId id="285" r:id="rId3"/>
    <p:sldId id="312" r:id="rId4"/>
    <p:sldId id="316" r:id="rId5"/>
    <p:sldId id="313" r:id="rId6"/>
    <p:sldId id="314" r:id="rId7"/>
    <p:sldId id="315" r:id="rId8"/>
    <p:sldId id="317" r:id="rId9"/>
    <p:sldId id="304" r:id="rId10"/>
  </p:sldIdLst>
  <p:sldSz cx="12190413" cy="6858000"/>
  <p:notesSz cx="6797675" cy="9926638"/>
  <p:custDataLst>
    <p:tags r:id="rId13"/>
  </p:custDataLst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orient="horz" pos="726" userDrawn="1">
          <p15:clr>
            <a:srgbClr val="A4A3A4"/>
          </p15:clr>
        </p15:guide>
        <p15:guide id="3" orient="horz" pos="3706" userDrawn="1">
          <p15:clr>
            <a:srgbClr val="A4A3A4"/>
          </p15:clr>
        </p15:guide>
        <p15:guide id="4" pos="242" userDrawn="1">
          <p15:clr>
            <a:srgbClr val="A4A3A4"/>
          </p15:clr>
        </p15:guide>
        <p15:guide id="5" pos="3782" userDrawn="1">
          <p15:clr>
            <a:srgbClr val="A4A3A4"/>
          </p15:clr>
        </p15:guide>
        <p15:guide id="6" pos="7437" userDrawn="1">
          <p15:clr>
            <a:srgbClr val="A4A3A4"/>
          </p15:clr>
        </p15:guide>
        <p15:guide id="7" pos="427" userDrawn="1">
          <p15:clr>
            <a:srgbClr val="A4A3A4"/>
          </p15:clr>
        </p15:guide>
        <p15:guide id="8" pos="7263" userDrawn="1">
          <p15:clr>
            <a:srgbClr val="A4A3A4"/>
          </p15:clr>
        </p15:guide>
        <p15:guide id="9" pos="3912" userDrawn="1">
          <p15:clr>
            <a:srgbClr val="A4A3A4"/>
          </p15:clr>
        </p15:guide>
        <p15:guide id="10" pos="38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549F"/>
    <a:srgbClr val="8EBAE5"/>
    <a:srgbClr val="33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86441" autoAdjust="0"/>
  </p:normalViewPr>
  <p:slideViewPr>
    <p:cSldViewPr snapToGrid="0" showGuides="1">
      <p:cViewPr varScale="1">
        <p:scale>
          <a:sx n="105" d="100"/>
          <a:sy n="105" d="100"/>
        </p:scale>
        <p:origin x="76" y="176"/>
      </p:cViewPr>
      <p:guideLst>
        <p:guide orient="horz" pos="2160"/>
        <p:guide orient="horz" pos="726"/>
        <p:guide orient="horz" pos="3706"/>
        <p:guide pos="242"/>
        <p:guide pos="3782"/>
        <p:guide pos="7437"/>
        <p:guide pos="427"/>
        <p:guide pos="7263"/>
        <p:guide pos="3912"/>
        <p:guide pos="38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gs" Target="tags/tag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862" cy="497333"/>
          </a:xfrm>
          <a:prstGeom prst="rect">
            <a:avLst/>
          </a:prstGeom>
        </p:spPr>
        <p:txBody>
          <a:bodyPr vert="horz" lIns="88221" tIns="44111" rIns="88221" bIns="44111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50294" y="1"/>
            <a:ext cx="2945862" cy="497333"/>
          </a:xfrm>
          <a:prstGeom prst="rect">
            <a:avLst/>
          </a:prstGeom>
        </p:spPr>
        <p:txBody>
          <a:bodyPr vert="horz" lIns="88221" tIns="44111" rIns="88221" bIns="44111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497B89D5-5017-4396-A2CE-F1C12124EE0F}" type="datetimeFigureOut">
              <a:rPr lang="de-DE"/>
              <a:t>26.05.2026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9305"/>
            <a:ext cx="2945862" cy="497333"/>
          </a:xfrm>
          <a:prstGeom prst="rect">
            <a:avLst/>
          </a:prstGeom>
        </p:spPr>
        <p:txBody>
          <a:bodyPr vert="horz" lIns="88221" tIns="44111" rIns="88221" bIns="44111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50294" y="9429305"/>
            <a:ext cx="2945862" cy="497333"/>
          </a:xfrm>
          <a:prstGeom prst="rect">
            <a:avLst/>
          </a:prstGeom>
        </p:spPr>
        <p:txBody>
          <a:bodyPr vert="horz" wrap="square" lIns="88221" tIns="44111" rIns="88221" bIns="44111" numCol="1" anchor="b" anchorCtr="0" compatLnSpc="1"/>
          <a:lstStyle>
            <a:lvl1pPr algn="r" eaLnBrk="1" hangingPunct="1">
              <a:defRPr sz="100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248FB1AA-A6AA-4E9E-8BA1-59AC7FC9D727}" type="slidenum">
              <a:rPr lang="de-DE" altLang="de-DE"/>
              <a:t>‹#›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862" cy="497333"/>
          </a:xfrm>
          <a:prstGeom prst="rect">
            <a:avLst/>
          </a:prstGeom>
        </p:spPr>
        <p:txBody>
          <a:bodyPr vert="horz" lIns="88221" tIns="44111" rIns="88221" bIns="44111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294" y="1"/>
            <a:ext cx="2945862" cy="497333"/>
          </a:xfrm>
          <a:prstGeom prst="rect">
            <a:avLst/>
          </a:prstGeom>
        </p:spPr>
        <p:txBody>
          <a:bodyPr vert="horz" lIns="88221" tIns="44111" rIns="88221" bIns="44111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+mn-lt"/>
              </a:defRPr>
            </a:lvl1pPr>
          </a:lstStyle>
          <a:p>
            <a:pPr>
              <a:defRPr/>
            </a:pPr>
            <a:fld id="{4EEC745E-66A0-4F49-903C-36561B63B5F1}" type="datetimeFigureOut">
              <a:rPr lang="de-DE"/>
              <a:t>26.05.2026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221" tIns="44111" rIns="88221" bIns="44111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64" y="4777782"/>
            <a:ext cx="5438748" cy="3907834"/>
          </a:xfrm>
          <a:prstGeom prst="rect">
            <a:avLst/>
          </a:prstGeom>
        </p:spPr>
        <p:txBody>
          <a:bodyPr vert="horz" lIns="88221" tIns="44111" rIns="88221" bIns="44111" rtlCol="0"/>
          <a:lstStyle/>
          <a:p>
            <a:pPr lvl="0"/>
            <a:r>
              <a:rPr lang="de-DE" noProof="0" dirty="0"/>
              <a:t>Textmasterformat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9305"/>
            <a:ext cx="2945862" cy="497333"/>
          </a:xfrm>
          <a:prstGeom prst="rect">
            <a:avLst/>
          </a:prstGeom>
        </p:spPr>
        <p:txBody>
          <a:bodyPr vert="horz" lIns="88221" tIns="44111" rIns="88221" bIns="44111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294" y="9429305"/>
            <a:ext cx="2945862" cy="497333"/>
          </a:xfrm>
          <a:prstGeom prst="rect">
            <a:avLst/>
          </a:prstGeom>
        </p:spPr>
        <p:txBody>
          <a:bodyPr vert="horz" wrap="square" lIns="88221" tIns="44111" rIns="88221" bIns="44111" numCol="1" anchor="b" anchorCtr="0" compatLnSpc="1"/>
          <a:lstStyle>
            <a:lvl1pPr algn="r" eaLnBrk="1" hangingPunct="1">
              <a:defRPr sz="100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0DA392A4-A5B0-45A3-B126-38BB4DB33CBB}" type="slidenum">
              <a:rPr lang="de-DE" altLang="de-DE"/>
              <a:t>‹#›</a:t>
            </a:fld>
            <a:endParaRPr lang="de-DE" alt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oleObject" Target="../embeddings/oleObject2.bin"/><Relationship Id="rId7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2.emf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.emf"/><Relationship Id="rId9" Type="http://schemas.openxmlformats.org/officeDocument/2006/relationships/image" Target="../media/image6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2.emf"/><Relationship Id="rId5" Type="http://schemas.openxmlformats.org/officeDocument/2006/relationships/image" Target="../media/image8.jpeg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oleObject" Target="../embeddings/oleObject5.bin"/><Relationship Id="rId7" Type="http://schemas.openxmlformats.org/officeDocument/2006/relationships/image" Target="../media/image4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6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10" Type="http://schemas.openxmlformats.org/officeDocument/2006/relationships/image" Target="../media/image7.jpeg"/><Relationship Id="rId4" Type="http://schemas.openxmlformats.org/officeDocument/2006/relationships/image" Target="../media/image1.emf"/><Relationship Id="rId9" Type="http://schemas.openxmlformats.org/officeDocument/2006/relationships/image" Target="../media/image6.jpe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7.xml"/><Relationship Id="rId6" Type="http://schemas.openxmlformats.org/officeDocument/2006/relationships/image" Target="../media/image10.jpeg"/><Relationship Id="rId5" Type="http://schemas.openxmlformats.org/officeDocument/2006/relationships/image" Target="../media/image2.emf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8.xml"/><Relationship Id="rId6" Type="http://schemas.openxmlformats.org/officeDocument/2006/relationships/image" Target="../media/image2.emf"/><Relationship Id="rId5" Type="http://schemas.openxmlformats.org/officeDocument/2006/relationships/image" Target="../media/image8.jpeg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Objekt 15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9525" imgH="9525" progId="TCLayout.ActiveDocument.1">
                  <p:embed/>
                </p:oleObj>
              </mc:Choice>
              <mc:Fallback>
                <p:oleObj name="think-cell Folie" r:id="rId3" imgW="9525" imgH="9525" progId="TCLayout.ActiveDocument.1">
                  <p:embed/>
                  <p:pic>
                    <p:nvPicPr>
                      <p:cNvPr id="0" name="图片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Grafik 19"/>
          <p:cNvPicPr>
            <a:picLocks noChangeAspect="1"/>
          </p:cNvPicPr>
          <p:nvPr userDrawn="1"/>
        </p:nvPicPr>
        <p:blipFill rotWithShape="1">
          <a:blip r:embed="rId5" cstate="hqprint"/>
          <a:srcRect/>
          <a:stretch>
            <a:fillRect/>
          </a:stretch>
        </p:blipFill>
        <p:spPr>
          <a:xfrm>
            <a:off x="9971531" y="-6889"/>
            <a:ext cx="2239901" cy="1902117"/>
          </a:xfrm>
          <a:prstGeom prst="rect">
            <a:avLst/>
          </a:prstGeom>
        </p:spPr>
      </p:pic>
      <p:sp>
        <p:nvSpPr>
          <p:cNvPr id="13" name="Untertitel 2"/>
          <p:cNvSpPr txBox="1"/>
          <p:nvPr/>
        </p:nvSpPr>
        <p:spPr>
          <a:xfrm>
            <a:off x="383950" y="6076425"/>
            <a:ext cx="6650934" cy="648524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2159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2159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None/>
              <a:tabLst>
                <a:tab pos="4318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tabLst>
                <a:tab pos="647700" algn="l"/>
              </a:tabLs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None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400" b="1" noProof="0" dirty="0">
                <a:solidFill>
                  <a:srgbClr val="00549F"/>
                </a:solidFill>
                <a:latin typeface="+mn-lt"/>
              </a:rPr>
              <a:t>Center for Ageing, Reliability and Lifetime Prediction of Electrochemical and Power Electronic Systems (CARL)</a:t>
            </a:r>
            <a:endParaRPr lang="de-DE" sz="1400" b="1" noProof="0" dirty="0">
              <a:solidFill>
                <a:srgbClr val="00549F"/>
              </a:solidFill>
              <a:latin typeface="+mn-lt"/>
            </a:endParaRPr>
          </a:p>
        </p:txBody>
      </p:sp>
      <p:sp>
        <p:nvSpPr>
          <p:cNvPr id="26" name="Title 1"/>
          <p:cNvSpPr>
            <a:spLocks noGrp="1"/>
          </p:cNvSpPr>
          <p:nvPr>
            <p:ph type="ctrTitle" hasCustomPrompt="1"/>
          </p:nvPr>
        </p:nvSpPr>
        <p:spPr>
          <a:xfrm>
            <a:off x="383950" y="2487599"/>
            <a:ext cx="11422513" cy="127477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defRPr sz="3200" b="1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3950" y="3857624"/>
            <a:ext cx="11422513" cy="60960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28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83950" y="4980225"/>
            <a:ext cx="11425513" cy="524824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29" name="Datumsplatzhalter 1"/>
          <p:cNvSpPr>
            <a:spLocks noGrp="1"/>
          </p:cNvSpPr>
          <p:nvPr>
            <p:ph type="dt" sz="half" idx="12"/>
          </p:nvPr>
        </p:nvSpPr>
        <p:spPr>
          <a:xfrm>
            <a:off x="383950" y="4675425"/>
            <a:ext cx="11425513" cy="306150"/>
          </a:xfrm>
        </p:spPr>
        <p:txBody>
          <a:bodyPr/>
          <a:lstStyle>
            <a:lvl1pPr algn="l">
              <a:defRPr sz="2000">
                <a:solidFill>
                  <a:schemeClr val="tx1"/>
                </a:solidFill>
              </a:defRPr>
            </a:lvl1pPr>
          </a:lstStyle>
          <a:p>
            <a:pPr algn="l"/>
            <a:fld id="{D7F12259-4066-44C3-AC08-F5ADAE7E0447}" type="datetime5">
              <a:rPr lang="zh-CN" altLang="en-US" smtClean="0"/>
              <a:t>2026/5/26</a:t>
            </a:fld>
            <a:endParaRPr lang="de-DE" dirty="0"/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6" cstate="print"/>
          <a:stretch>
            <a:fillRect/>
          </a:stretch>
        </p:blipFill>
        <p:spPr>
          <a:xfrm>
            <a:off x="7780427" y="5882400"/>
            <a:ext cx="4136919" cy="975600"/>
          </a:xfrm>
          <a:prstGeom prst="rect">
            <a:avLst/>
          </a:prstGeom>
        </p:spPr>
      </p:pic>
      <p:pic>
        <p:nvPicPr>
          <p:cNvPr id="23" name="Grafik 22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21020" y="-6889"/>
            <a:ext cx="2798307" cy="1908213"/>
          </a:xfrm>
          <a:prstGeom prst="rect">
            <a:avLst/>
          </a:prstGeom>
        </p:spPr>
      </p:pic>
      <p:pic>
        <p:nvPicPr>
          <p:cNvPr id="24" name="Grafik 23"/>
          <p:cNvPicPr>
            <a:picLocks noChangeAspect="1"/>
          </p:cNvPicPr>
          <p:nvPr userDrawn="1"/>
        </p:nvPicPr>
        <p:blipFill>
          <a:blip r:embed="rId8" cstate="hqprint"/>
          <a:stretch>
            <a:fillRect/>
          </a:stretch>
        </p:blipFill>
        <p:spPr>
          <a:xfrm>
            <a:off x="2777287" y="-6889"/>
            <a:ext cx="1436612" cy="1908000"/>
          </a:xfrm>
          <a:prstGeom prst="rect">
            <a:avLst/>
          </a:prstGeom>
        </p:spPr>
      </p:pic>
      <p:pic>
        <p:nvPicPr>
          <p:cNvPr id="30" name="Grafik 29"/>
          <p:cNvPicPr>
            <a:picLocks noChangeAspect="1"/>
          </p:cNvPicPr>
          <p:nvPr userDrawn="1"/>
        </p:nvPicPr>
        <p:blipFill rotWithShape="1">
          <a:blip r:embed="rId9" cstate="hqprint"/>
          <a:srcRect/>
          <a:stretch>
            <a:fillRect/>
          </a:stretch>
        </p:blipFill>
        <p:spPr>
          <a:xfrm>
            <a:off x="4213899" y="-6889"/>
            <a:ext cx="2491702" cy="1908000"/>
          </a:xfrm>
          <a:prstGeom prst="rect">
            <a:avLst/>
          </a:prstGeom>
        </p:spPr>
      </p:pic>
      <p:pic>
        <p:nvPicPr>
          <p:cNvPr id="32" name="Grafik 31"/>
          <p:cNvPicPr>
            <a:picLocks noChangeAspect="1"/>
          </p:cNvPicPr>
          <p:nvPr userDrawn="1"/>
        </p:nvPicPr>
        <p:blipFill rotWithShape="1">
          <a:blip r:embed="rId10" cstate="hqprint"/>
          <a:srcRect/>
          <a:stretch>
            <a:fillRect/>
          </a:stretch>
        </p:blipFill>
        <p:spPr>
          <a:xfrm>
            <a:off x="6660046" y="-6889"/>
            <a:ext cx="3321996" cy="1908000"/>
          </a:xfrm>
          <a:prstGeom prst="rect">
            <a:avLst/>
          </a:prstGeom>
        </p:spPr>
      </p:pic>
      <p:sp>
        <p:nvSpPr>
          <p:cNvPr id="11" name="Textfeld 10"/>
          <p:cNvSpPr txBox="1"/>
          <p:nvPr userDrawn="1"/>
        </p:nvSpPr>
        <p:spPr>
          <a:xfrm>
            <a:off x="0" y="1845525"/>
            <a:ext cx="12196800" cy="246221"/>
          </a:xfrm>
          <a:prstGeom prst="rect">
            <a:avLst/>
          </a:prstGeom>
          <a:solidFill>
            <a:srgbClr val="00549F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de-DE" sz="1000" dirty="0">
                <a:solidFill>
                  <a:schemeClr val="bg1"/>
                </a:solidFill>
              </a:rPr>
              <a:t>Alterung     •     Modelle     •     Diagnostik     •     Packdesign     •     Elektromobilität     •     Stationäre Energiespeicher     •     Energiesystemanalyse</a:t>
            </a:r>
          </a:p>
        </p:txBody>
      </p:sp>
    </p:spTree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folie Varia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9525" imgH="9525" progId="TCLayout.ActiveDocument.1">
                  <p:embed/>
                </p:oleObj>
              </mc:Choice>
              <mc:Fallback>
                <p:oleObj name="think-cell Folie" r:id="rId3" imgW="9525" imgH="9525" progId="TCLayout.ActiveDocument.1">
                  <p:embed/>
                  <p:pic>
                    <p:nvPicPr>
                      <p:cNvPr id="0" name="图片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Grafik 1"/>
          <p:cNvPicPr>
            <a:picLocks noChangeAspect="1"/>
          </p:cNvPicPr>
          <p:nvPr userDrawn="1"/>
        </p:nvPicPr>
        <p:blipFill rotWithShape="1">
          <a:blip r:embed="rId5" cstate="hqprint"/>
          <a:srcRect/>
          <a:stretch>
            <a:fillRect/>
          </a:stretch>
        </p:blipFill>
        <p:spPr>
          <a:xfrm>
            <a:off x="-1588" y="0"/>
            <a:ext cx="12192000" cy="272415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383950" y="2725724"/>
            <a:ext cx="11422513" cy="127477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defRPr sz="3200" b="1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3950" y="4095749"/>
            <a:ext cx="11422513" cy="60960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11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83950" y="5218350"/>
            <a:ext cx="11425513" cy="524824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Liang Huang</a:t>
            </a:r>
          </a:p>
        </p:txBody>
      </p:sp>
      <p:sp>
        <p:nvSpPr>
          <p:cNvPr id="12" name="Datumsplatzhalter 1"/>
          <p:cNvSpPr>
            <a:spLocks noGrp="1"/>
          </p:cNvSpPr>
          <p:nvPr>
            <p:ph type="dt" sz="half" idx="12"/>
          </p:nvPr>
        </p:nvSpPr>
        <p:spPr>
          <a:xfrm>
            <a:off x="383950" y="4913550"/>
            <a:ext cx="11425513" cy="306150"/>
          </a:xfrm>
        </p:spPr>
        <p:txBody>
          <a:bodyPr/>
          <a:lstStyle>
            <a:lvl1pPr algn="l">
              <a:defRPr sz="2000">
                <a:solidFill>
                  <a:schemeClr val="tx1"/>
                </a:solidFill>
              </a:defRPr>
            </a:lvl1pPr>
          </a:lstStyle>
          <a:p>
            <a:pPr algn="l"/>
            <a:fld id="{6D3069C6-0311-4A39-8CC1-DA405FE38D0C}" type="datetime5">
              <a:rPr lang="zh-CN" altLang="en-US" smtClean="0"/>
              <a:t>2026/5/26</a:t>
            </a:fld>
            <a:endParaRPr lang="de-DE" dirty="0"/>
          </a:p>
        </p:txBody>
      </p:sp>
      <p:sp>
        <p:nvSpPr>
          <p:cNvPr id="14" name="Untertitel 2"/>
          <p:cNvSpPr txBox="1"/>
          <p:nvPr userDrawn="1"/>
        </p:nvSpPr>
        <p:spPr>
          <a:xfrm>
            <a:off x="383950" y="6076425"/>
            <a:ext cx="6650934" cy="648524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2159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2159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None/>
              <a:tabLst>
                <a:tab pos="4318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tabLst>
                <a:tab pos="647700" algn="l"/>
              </a:tabLs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None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400" b="1" noProof="0" dirty="0">
                <a:solidFill>
                  <a:srgbClr val="00549F"/>
                </a:solidFill>
                <a:latin typeface="+mn-lt"/>
              </a:rPr>
              <a:t>Center for Ageing, Reliability and Lifetime Prediction of Electrochemical and Power Electronic Systems (CARL)</a:t>
            </a:r>
            <a:endParaRPr lang="de-DE" sz="1400" b="1" noProof="0" dirty="0">
              <a:solidFill>
                <a:srgbClr val="00549F"/>
              </a:solidFill>
              <a:latin typeface="+mn-lt"/>
            </a:endParaRP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6" cstate="print"/>
          <a:stretch>
            <a:fillRect/>
          </a:stretch>
        </p:blipFill>
        <p:spPr>
          <a:xfrm>
            <a:off x="7780427" y="5882400"/>
            <a:ext cx="4136919" cy="975600"/>
          </a:xfrm>
          <a:prstGeom prst="rect">
            <a:avLst/>
          </a:prstGeom>
        </p:spPr>
      </p:pic>
    </p:spTree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b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Gerader Verbinder 11"/>
          <p:cNvCxnSpPr/>
          <p:nvPr/>
        </p:nvCxnSpPr>
        <p:spPr>
          <a:xfrm>
            <a:off x="383068" y="6202363"/>
            <a:ext cx="114242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hteck 3"/>
          <p:cNvSpPr/>
          <p:nvPr/>
        </p:nvSpPr>
        <p:spPr>
          <a:xfrm>
            <a:off x="6249086" y="2124077"/>
            <a:ext cx="5561876" cy="3754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/>
          <p:cNvSpPr/>
          <p:nvPr/>
        </p:nvSpPr>
        <p:spPr>
          <a:xfrm>
            <a:off x="392649" y="2124076"/>
            <a:ext cx="5561876" cy="3756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" name="Title 1"/>
          <p:cNvSpPr txBox="1"/>
          <p:nvPr/>
        </p:nvSpPr>
        <p:spPr>
          <a:xfrm>
            <a:off x="383068" y="801688"/>
            <a:ext cx="11424279" cy="1004154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baseline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de-DE" dirty="0">
                <a:solidFill>
                  <a:srgbClr val="00549F"/>
                </a:solidFill>
              </a:rPr>
              <a:t>Vielen Dank</a:t>
            </a:r>
            <a:br>
              <a:rPr lang="de-DE" dirty="0">
                <a:solidFill>
                  <a:srgbClr val="00549F"/>
                </a:solidFill>
              </a:rPr>
            </a:br>
            <a:r>
              <a:rPr lang="de-DE" dirty="0">
                <a:solidFill>
                  <a:srgbClr val="00549F"/>
                </a:solidFill>
              </a:rPr>
              <a:t>für Ihre Aufmerksamkeit</a:t>
            </a:r>
            <a:endParaRPr lang="en-US" dirty="0">
              <a:solidFill>
                <a:srgbClr val="00549F"/>
              </a:solidFill>
            </a:endParaRP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955573" y="4878751"/>
            <a:ext cx="952500" cy="952500"/>
          </a:xfrm>
          <a:prstGeom prst="rect">
            <a:avLst/>
          </a:prstGeom>
        </p:spPr>
      </p:pic>
      <p:sp>
        <p:nvSpPr>
          <p:cNvPr id="17" name="Textplatzhalter 3"/>
          <p:cNvSpPr txBox="1"/>
          <p:nvPr/>
        </p:nvSpPr>
        <p:spPr>
          <a:xfrm>
            <a:off x="392649" y="2133599"/>
            <a:ext cx="5561876" cy="3745278"/>
          </a:xfrm>
          <a:prstGeom prst="rect">
            <a:avLst/>
          </a:prstGeom>
        </p:spPr>
        <p:txBody>
          <a:bodyPr lIns="90000" tIns="36000" rIns="90000" bIns="36000"/>
          <a:lstStyle>
            <a:lvl1pPr marL="0" indent="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215900" algn="l"/>
              </a:tabLst>
              <a:defRPr sz="16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31800" indent="-21590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tabLst>
                <a:tab pos="4318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47700" indent="-21590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tabLst>
                <a:tab pos="6477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864235" indent="-21590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-"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864235" indent="-21590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-"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Kontakt</a:t>
            </a:r>
            <a:endParaRPr kumimoji="0" lang="de-DE" sz="1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Lehrstuhl für Elektrochemische Energiewandlung</a:t>
            </a: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und Speichersystemtechnik</a:t>
            </a: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Univ.-Prof. Dr. </a:t>
            </a:r>
            <a:r>
              <a:rPr kumimoji="0" lang="de-DE" sz="14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rer</a:t>
            </a: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 nat. Dirk Uwe Sauer</a:t>
            </a: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RWTH Aachen University</a:t>
            </a: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Campus-Boulevard 89</a:t>
            </a: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52074 Aachen</a:t>
            </a: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GERMANY</a:t>
            </a: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www.isea.rwth-aachen.de</a:t>
            </a:r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Textplatzhalter 3"/>
          <p:cNvSpPr txBox="1"/>
          <p:nvPr/>
        </p:nvSpPr>
        <p:spPr>
          <a:xfrm>
            <a:off x="6245471" y="2133599"/>
            <a:ext cx="5561876" cy="3745278"/>
          </a:xfrm>
          <a:prstGeom prst="rect">
            <a:avLst/>
          </a:prstGeom>
        </p:spPr>
        <p:txBody>
          <a:bodyPr lIns="90000" tIns="36000" rIns="90000" bIns="36000"/>
          <a:lstStyle>
            <a:lvl1pPr marL="0" indent="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215900" algn="l"/>
              </a:tabLst>
              <a:defRPr sz="16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31800" indent="-21590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tabLst>
                <a:tab pos="4318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47700" indent="-21590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tabLst>
                <a:tab pos="6477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864235" indent="-21590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-"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864235" indent="-21590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-"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Wir danken</a:t>
            </a:r>
            <a:endParaRPr kumimoji="0" lang="de-DE" sz="1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" name="Textplatzhalter 23"/>
          <p:cNvSpPr>
            <a:spLocks noGrp="1"/>
          </p:cNvSpPr>
          <p:nvPr>
            <p:ph type="body" sz="quarter" idx="10" hasCustomPrompt="1"/>
          </p:nvPr>
        </p:nvSpPr>
        <p:spPr>
          <a:xfrm>
            <a:off x="392649" y="2828926"/>
            <a:ext cx="3886694" cy="7334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baseline="0"/>
            </a:lvl1pPr>
          </a:lstStyle>
          <a:p>
            <a:pPr lvl="0"/>
            <a:r>
              <a:rPr lang="en-US" dirty="0"/>
              <a:t>Tel.: +49 241 80-XXXXX</a:t>
            </a:r>
            <a:br>
              <a:rPr lang="en-US" dirty="0"/>
            </a:br>
            <a:r>
              <a:rPr lang="en-US" dirty="0"/>
              <a:t>xxx@isea.rwth-aachen.de</a:t>
            </a:r>
            <a:br>
              <a:rPr lang="en-US" dirty="0"/>
            </a:br>
            <a:r>
              <a:rPr lang="en-US" dirty="0"/>
              <a:t>batteries@isea.rwth-aachen.de</a:t>
            </a:r>
          </a:p>
        </p:txBody>
      </p:sp>
      <p:sp>
        <p:nvSpPr>
          <p:cNvPr id="26" name="Bildplatzhalter 25"/>
          <p:cNvSpPr>
            <a:spLocks noGrp="1"/>
          </p:cNvSpPr>
          <p:nvPr>
            <p:ph type="pic" sz="quarter" idx="11" hasCustomPrompt="1"/>
          </p:nvPr>
        </p:nvSpPr>
        <p:spPr>
          <a:xfrm>
            <a:off x="4811297" y="2124075"/>
            <a:ext cx="1137452" cy="14626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/>
            </a:lvl1pPr>
          </a:lstStyle>
          <a:p>
            <a:r>
              <a:rPr lang="de-DE" dirty="0"/>
              <a:t>Eigenes Foto durch Klicken hinzufügen</a:t>
            </a:r>
            <a:endParaRPr lang="en-US" dirty="0"/>
          </a:p>
        </p:txBody>
      </p:sp>
      <p:sp>
        <p:nvSpPr>
          <p:cNvPr id="28" name="Fußzeilenplatzhalter 27"/>
          <p:cNvSpPr>
            <a:spLocks noGrp="1"/>
          </p:cNvSpPr>
          <p:nvPr>
            <p:ph type="ftr" sz="quarter" idx="13"/>
          </p:nvPr>
        </p:nvSpPr>
        <p:spPr>
          <a:xfrm>
            <a:off x="392649" y="2570401"/>
            <a:ext cx="3886694" cy="334725"/>
          </a:xfrm>
        </p:spPr>
        <p:txBody>
          <a:bodyPr lIns="90000" tIns="90000" rIns="90000" bIns="90000"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31" name="Bildplatzhalter 30"/>
          <p:cNvSpPr>
            <a:spLocks noGrp="1"/>
          </p:cNvSpPr>
          <p:nvPr>
            <p:ph type="pic" sz="quarter" idx="14" hasCustomPrompt="1"/>
          </p:nvPr>
        </p:nvSpPr>
        <p:spPr>
          <a:xfrm>
            <a:off x="6361869" y="2571750"/>
            <a:ext cx="2591663" cy="154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Partnerlogo durch Klicken hinzufügen</a:t>
            </a:r>
            <a:endParaRPr lang="en-US" dirty="0"/>
          </a:p>
        </p:txBody>
      </p:sp>
      <p:sp>
        <p:nvSpPr>
          <p:cNvPr id="18" name="Bildplatzhalter 30"/>
          <p:cNvSpPr>
            <a:spLocks noGrp="1"/>
          </p:cNvSpPr>
          <p:nvPr>
            <p:ph type="pic" sz="quarter" idx="15" hasCustomPrompt="1"/>
          </p:nvPr>
        </p:nvSpPr>
        <p:spPr>
          <a:xfrm>
            <a:off x="9092013" y="2571750"/>
            <a:ext cx="2591663" cy="154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Partnerlogo durch Klicken hinzufügen</a:t>
            </a:r>
            <a:endParaRPr lang="en-US" dirty="0"/>
          </a:p>
        </p:txBody>
      </p:sp>
      <p:sp>
        <p:nvSpPr>
          <p:cNvPr id="19" name="Bildplatzhalter 30"/>
          <p:cNvSpPr>
            <a:spLocks noGrp="1"/>
          </p:cNvSpPr>
          <p:nvPr>
            <p:ph type="pic" sz="quarter" idx="16" hasCustomPrompt="1"/>
          </p:nvPr>
        </p:nvSpPr>
        <p:spPr>
          <a:xfrm>
            <a:off x="6361869" y="4229100"/>
            <a:ext cx="2591663" cy="154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Partnerlogo durch Klicken hinzufügen</a:t>
            </a:r>
            <a:endParaRPr lang="en-US" dirty="0"/>
          </a:p>
        </p:txBody>
      </p:sp>
      <p:sp>
        <p:nvSpPr>
          <p:cNvPr id="21" name="Bildplatzhalter 30"/>
          <p:cNvSpPr>
            <a:spLocks noGrp="1"/>
          </p:cNvSpPr>
          <p:nvPr>
            <p:ph type="pic" sz="quarter" idx="17" hasCustomPrompt="1"/>
          </p:nvPr>
        </p:nvSpPr>
        <p:spPr>
          <a:xfrm>
            <a:off x="9092013" y="4229100"/>
            <a:ext cx="2591663" cy="154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Partnerlogo durch Klicken hinzufügen</a:t>
            </a:r>
            <a:endParaRPr lang="en-US" dirty="0"/>
          </a:p>
        </p:txBody>
      </p:sp>
      <p:cxnSp>
        <p:nvCxnSpPr>
          <p:cNvPr id="22" name="Gerader Verbinder 11"/>
          <p:cNvCxnSpPr/>
          <p:nvPr userDrawn="1"/>
        </p:nvCxnSpPr>
        <p:spPr>
          <a:xfrm>
            <a:off x="383068" y="6202363"/>
            <a:ext cx="114242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fik 1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137882" y="6205415"/>
            <a:ext cx="2778300" cy="655200"/>
          </a:xfrm>
          <a:prstGeom prst="rect">
            <a:avLst/>
          </a:prstGeom>
        </p:spPr>
      </p:pic>
    </p:spTree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83950" y="201600"/>
            <a:ext cx="11422513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Inhaltsplatzhalter 2"/>
          <p:cNvSpPr>
            <a:spLocks noGrp="1"/>
          </p:cNvSpPr>
          <p:nvPr>
            <p:ph idx="1" hasCustomPrompt="1"/>
          </p:nvPr>
        </p:nvSpPr>
        <p:spPr>
          <a:xfrm>
            <a:off x="383950" y="1151999"/>
            <a:ext cx="11422513" cy="4731276"/>
          </a:xfrm>
          <a:prstGeom prst="rect">
            <a:avLst/>
          </a:prstGeom>
        </p:spPr>
        <p:txBody>
          <a:bodyPr lIns="0" tIns="0" rIns="0" bIns="0"/>
          <a:lstStyle>
            <a:lvl1pPr marL="215900" indent="-215900"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■"/>
              <a:defRPr sz="2000"/>
            </a:lvl1pPr>
            <a:lvl2pPr marL="431800" indent="-215900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□"/>
              <a:defRPr sz="1800"/>
            </a:lvl2pPr>
            <a:lvl3pPr marL="647700" indent="-215900">
              <a:spcBef>
                <a:spcPts val="0"/>
              </a:spcBef>
              <a:spcAft>
                <a:spcPts val="350"/>
              </a:spcAft>
              <a:buFont typeface="Arial" panose="020B0604020202020204" pitchFamily="34" charset="0"/>
              <a:buChar char="■"/>
              <a:defRPr sz="1800"/>
            </a:lvl3pPr>
            <a:lvl4pPr marL="863600" indent="-215900"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/>
            </a:lvl4pPr>
            <a:lvl5pPr marL="1080135" indent="-215900">
              <a:spcBef>
                <a:spcPts val="0"/>
              </a:spcBef>
              <a:spcAft>
                <a:spcPts val="25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11" name="Datumsplatzhalt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F887C18F-21B2-48B8-9586-9343C0AE58EE}" type="datetime5">
              <a:rPr lang="zh-CN" altLang="en-US" smtClean="0"/>
              <a:t>2026/5/26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13" name="Foliennummernplatzhalt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83950" y="201600"/>
            <a:ext cx="11422513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Inhaltsplatzhalter 2"/>
          <p:cNvSpPr>
            <a:spLocks noGrp="1"/>
          </p:cNvSpPr>
          <p:nvPr>
            <p:ph idx="1" hasCustomPrompt="1"/>
          </p:nvPr>
        </p:nvSpPr>
        <p:spPr>
          <a:xfrm>
            <a:off x="383950" y="1151999"/>
            <a:ext cx="5620068" cy="4731275"/>
          </a:xfrm>
          <a:prstGeom prst="rect">
            <a:avLst/>
          </a:prstGeom>
        </p:spPr>
        <p:txBody>
          <a:bodyPr lIns="0" tIns="0" rIns="0" bIns="0"/>
          <a:lstStyle>
            <a:lvl1pPr marL="215900" indent="-215900"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■"/>
              <a:defRPr sz="2000"/>
            </a:lvl1pPr>
            <a:lvl2pPr marL="431800" indent="-215900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□"/>
              <a:defRPr sz="1800"/>
            </a:lvl2pPr>
            <a:lvl3pPr marL="647700" indent="-215900">
              <a:spcBef>
                <a:spcPts val="0"/>
              </a:spcBef>
              <a:spcAft>
                <a:spcPts val="350"/>
              </a:spcAft>
              <a:buFont typeface="Arial" panose="020B0604020202020204" pitchFamily="34" charset="0"/>
              <a:buChar char="■"/>
              <a:defRPr sz="1800"/>
            </a:lvl3pPr>
            <a:lvl4pPr marL="863600" indent="-215900"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/>
            </a:lvl4pPr>
            <a:lvl5pPr marL="1080135" indent="-215900">
              <a:spcBef>
                <a:spcPts val="0"/>
              </a:spcBef>
              <a:spcAft>
                <a:spcPts val="25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11" name="Inhaltsplatzhalter 2"/>
          <p:cNvSpPr>
            <a:spLocks noGrp="1"/>
          </p:cNvSpPr>
          <p:nvPr>
            <p:ph idx="13" hasCustomPrompt="1"/>
          </p:nvPr>
        </p:nvSpPr>
        <p:spPr>
          <a:xfrm>
            <a:off x="6191194" y="1151999"/>
            <a:ext cx="5620068" cy="4731275"/>
          </a:xfrm>
          <a:prstGeom prst="rect">
            <a:avLst/>
          </a:prstGeom>
        </p:spPr>
        <p:txBody>
          <a:bodyPr lIns="0" tIns="0" rIns="0" bIns="0"/>
          <a:lstStyle>
            <a:lvl1pPr marL="215900" indent="-215900"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■"/>
              <a:defRPr sz="2000"/>
            </a:lvl1pPr>
            <a:lvl2pPr marL="431800" indent="-215900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□"/>
              <a:defRPr sz="1800"/>
            </a:lvl2pPr>
            <a:lvl3pPr marL="647700" indent="-215900">
              <a:spcBef>
                <a:spcPts val="0"/>
              </a:spcBef>
              <a:spcAft>
                <a:spcPts val="350"/>
              </a:spcAft>
              <a:buFont typeface="Arial" panose="020B0604020202020204" pitchFamily="34" charset="0"/>
              <a:buChar char="■"/>
              <a:defRPr sz="1800"/>
            </a:lvl3pPr>
            <a:lvl4pPr marL="863600" indent="-215900"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/>
            </a:lvl4pPr>
            <a:lvl5pPr marL="1080135" indent="-215900">
              <a:spcBef>
                <a:spcPts val="0"/>
              </a:spcBef>
              <a:spcAft>
                <a:spcPts val="25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algn="l"/>
            <a:fld id="{E5AF013B-EAD8-4321-9A97-347E14C68B05}" type="datetime5">
              <a:rPr lang="zh-CN" altLang="en-US" smtClean="0"/>
              <a:t>2026/5/26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12" name="Foliennummernplatzhalt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83950" y="201600"/>
            <a:ext cx="11422513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1" name="Datumsplatzhalt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D3F884E6-7726-4AAA-A0CE-C180A27151DE}" type="datetime5">
              <a:rPr lang="zh-CN" altLang="en-US" smtClean="0"/>
              <a:t>2026/5/26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13" name="Foliennummernplatzhalt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Objekt 2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9525" imgH="9525" progId="TCLayout.ActiveDocument.1">
                  <p:embed/>
                </p:oleObj>
              </mc:Choice>
              <mc:Fallback>
                <p:oleObj name="think-cell Folie" r:id="rId3" imgW="9525" imgH="9525" progId="TCLayout.ActiveDocument.1">
                  <p:embed/>
                  <p:pic>
                    <p:nvPicPr>
                      <p:cNvPr id="0" name="图片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" name="Grafik 23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7780427" y="5882400"/>
            <a:ext cx="4136919" cy="975600"/>
          </a:xfrm>
          <a:prstGeom prst="rect">
            <a:avLst/>
          </a:prstGeom>
        </p:spPr>
      </p:pic>
      <p:sp>
        <p:nvSpPr>
          <p:cNvPr id="19" name="Untertitel 2"/>
          <p:cNvSpPr txBox="1"/>
          <p:nvPr userDrawn="1"/>
        </p:nvSpPr>
        <p:spPr>
          <a:xfrm>
            <a:off x="383950" y="6076425"/>
            <a:ext cx="6650934" cy="648524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2159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2159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None/>
              <a:tabLst>
                <a:tab pos="4318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tabLst>
                <a:tab pos="647700" algn="l"/>
              </a:tabLs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None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baseline="0" noProof="0" dirty="0">
                <a:solidFill>
                  <a:schemeClr val="tx2"/>
                </a:solidFill>
              </a:rPr>
              <a:t>Center for Ageing, Reliability and Lifetime Prediction of Electrochemical and Power Electronic Systems (CARL)</a:t>
            </a:r>
            <a:endParaRPr lang="de-DE" sz="1400" b="1" noProof="0" dirty="0">
              <a:solidFill>
                <a:schemeClr val="tx2"/>
              </a:solidFill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383950" y="2487599"/>
            <a:ext cx="11422513" cy="127477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defRPr sz="3200" b="1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  <a:endParaRPr lang="en-US" dirty="0"/>
          </a:p>
        </p:txBody>
      </p:sp>
      <p:sp>
        <p:nvSpPr>
          <p:cNvPr id="15" name="Subtitle 2"/>
          <p:cNvSpPr>
            <a:spLocks noGrp="1"/>
          </p:cNvSpPr>
          <p:nvPr>
            <p:ph type="subTitle" idx="1"/>
          </p:nvPr>
        </p:nvSpPr>
        <p:spPr>
          <a:xfrm>
            <a:off x="383950" y="3857624"/>
            <a:ext cx="11422513" cy="60960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en-US" dirty="0"/>
          </a:p>
        </p:txBody>
      </p:sp>
      <p:sp>
        <p:nvSpPr>
          <p:cNvPr id="20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83950" y="4980225"/>
            <a:ext cx="11425513" cy="524824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21" name="Datumsplatzhalter 1"/>
          <p:cNvSpPr>
            <a:spLocks noGrp="1"/>
          </p:cNvSpPr>
          <p:nvPr>
            <p:ph type="dt" sz="half" idx="12"/>
          </p:nvPr>
        </p:nvSpPr>
        <p:spPr>
          <a:xfrm>
            <a:off x="383950" y="4675425"/>
            <a:ext cx="11425513" cy="306150"/>
          </a:xfrm>
          <a:prstGeom prst="rect">
            <a:avLst/>
          </a:prstGeom>
        </p:spPr>
        <p:txBody>
          <a:bodyPr/>
          <a:lstStyle>
            <a:lvl1pPr algn="l">
              <a:defRPr sz="2000">
                <a:solidFill>
                  <a:schemeClr val="tx1"/>
                </a:solidFill>
              </a:defRPr>
            </a:lvl1pPr>
          </a:lstStyle>
          <a:p>
            <a:pPr algn="l"/>
            <a:fld id="{11769DE8-88E0-424A-87BD-6924D1146258}" type="datetime5">
              <a:rPr lang="zh-CN" altLang="en-US" smtClean="0"/>
              <a:t>2026/5/26</a:t>
            </a:fld>
            <a:endParaRPr lang="de-DE" dirty="0"/>
          </a:p>
        </p:txBody>
      </p:sp>
      <p:pic>
        <p:nvPicPr>
          <p:cNvPr id="25" name="Grafik 24"/>
          <p:cNvPicPr>
            <a:picLocks noChangeAspect="1"/>
          </p:cNvPicPr>
          <p:nvPr userDrawn="1"/>
        </p:nvPicPr>
        <p:blipFill rotWithShape="1">
          <a:blip r:embed="rId6" cstate="hqprint"/>
          <a:srcRect/>
          <a:stretch>
            <a:fillRect/>
          </a:stretch>
        </p:blipFill>
        <p:spPr>
          <a:xfrm>
            <a:off x="9971531" y="-6889"/>
            <a:ext cx="2239901" cy="1902117"/>
          </a:xfrm>
          <a:prstGeom prst="rect">
            <a:avLst/>
          </a:prstGeom>
        </p:spPr>
      </p:pic>
      <p:pic>
        <p:nvPicPr>
          <p:cNvPr id="26" name="Grafik 25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21020" y="-6889"/>
            <a:ext cx="2798307" cy="1908213"/>
          </a:xfrm>
          <a:prstGeom prst="rect">
            <a:avLst/>
          </a:prstGeom>
        </p:spPr>
      </p:pic>
      <p:pic>
        <p:nvPicPr>
          <p:cNvPr id="29" name="Grafik 28"/>
          <p:cNvPicPr>
            <a:picLocks noChangeAspect="1"/>
          </p:cNvPicPr>
          <p:nvPr userDrawn="1"/>
        </p:nvPicPr>
        <p:blipFill>
          <a:blip r:embed="rId8" cstate="hqprint"/>
          <a:stretch>
            <a:fillRect/>
          </a:stretch>
        </p:blipFill>
        <p:spPr>
          <a:xfrm>
            <a:off x="2777287" y="-6889"/>
            <a:ext cx="1436612" cy="1908000"/>
          </a:xfrm>
          <a:prstGeom prst="rect">
            <a:avLst/>
          </a:prstGeom>
        </p:spPr>
      </p:pic>
      <p:pic>
        <p:nvPicPr>
          <p:cNvPr id="30" name="Grafik 29"/>
          <p:cNvPicPr>
            <a:picLocks noChangeAspect="1"/>
          </p:cNvPicPr>
          <p:nvPr userDrawn="1"/>
        </p:nvPicPr>
        <p:blipFill rotWithShape="1">
          <a:blip r:embed="rId9" cstate="hqprint"/>
          <a:srcRect/>
          <a:stretch>
            <a:fillRect/>
          </a:stretch>
        </p:blipFill>
        <p:spPr>
          <a:xfrm>
            <a:off x="4213899" y="-6889"/>
            <a:ext cx="2491702" cy="1908000"/>
          </a:xfrm>
          <a:prstGeom prst="rect">
            <a:avLst/>
          </a:prstGeom>
        </p:spPr>
      </p:pic>
      <p:pic>
        <p:nvPicPr>
          <p:cNvPr id="31" name="Grafik 30"/>
          <p:cNvPicPr>
            <a:picLocks noChangeAspect="1"/>
          </p:cNvPicPr>
          <p:nvPr userDrawn="1"/>
        </p:nvPicPr>
        <p:blipFill rotWithShape="1">
          <a:blip r:embed="rId10" cstate="hqprint"/>
          <a:srcRect/>
          <a:stretch>
            <a:fillRect/>
          </a:stretch>
        </p:blipFill>
        <p:spPr>
          <a:xfrm>
            <a:off x="6660046" y="-6889"/>
            <a:ext cx="3321996" cy="1908000"/>
          </a:xfrm>
          <a:prstGeom prst="rect">
            <a:avLst/>
          </a:prstGeom>
        </p:spPr>
      </p:pic>
      <p:sp>
        <p:nvSpPr>
          <p:cNvPr id="28" name="Textfeld 27"/>
          <p:cNvSpPr txBox="1"/>
          <p:nvPr userDrawn="1"/>
        </p:nvSpPr>
        <p:spPr>
          <a:xfrm>
            <a:off x="0" y="1845525"/>
            <a:ext cx="12196800" cy="246221"/>
          </a:xfrm>
          <a:prstGeom prst="rect">
            <a:avLst/>
          </a:prstGeom>
          <a:solidFill>
            <a:srgbClr val="00549F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chemeClr val="bg1"/>
                </a:solidFill>
              </a:rPr>
              <a:t>Ageing     •     Models     •     Diagnostics     •     Pack Design     •     </a:t>
            </a:r>
            <a:r>
              <a:rPr lang="en-US" sz="1000" noProof="0" dirty="0" err="1">
                <a:solidFill>
                  <a:schemeClr val="bg1"/>
                </a:solidFill>
              </a:rPr>
              <a:t>Electromobility</a:t>
            </a:r>
            <a:r>
              <a:rPr lang="en-US" sz="1000" noProof="0" dirty="0">
                <a:solidFill>
                  <a:schemeClr val="bg1"/>
                </a:solidFill>
              </a:rPr>
              <a:t>     •     Stationary Energy Storage     •     Energy System Analysis</a:t>
            </a:r>
          </a:p>
        </p:txBody>
      </p:sp>
    </p:spTree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Objekt 2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9525" imgH="9525" progId="TCLayout.ActiveDocument.1">
                  <p:embed/>
                </p:oleObj>
              </mc:Choice>
              <mc:Fallback>
                <p:oleObj name="think-cell Folie" r:id="rId3" imgW="9525" imgH="9525" progId="TCLayout.ActiveDocument.1">
                  <p:embed/>
                  <p:pic>
                    <p:nvPicPr>
                      <p:cNvPr id="0" name="Objekt 2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" name="Grafik 23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7780427" y="5882400"/>
            <a:ext cx="4136919" cy="975600"/>
          </a:xfrm>
          <a:prstGeom prst="rect">
            <a:avLst/>
          </a:prstGeom>
        </p:spPr>
      </p:pic>
      <p:sp>
        <p:nvSpPr>
          <p:cNvPr id="19" name="Untertitel 2"/>
          <p:cNvSpPr txBox="1"/>
          <p:nvPr userDrawn="1"/>
        </p:nvSpPr>
        <p:spPr>
          <a:xfrm>
            <a:off x="383950" y="6076425"/>
            <a:ext cx="6650934" cy="648524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2159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2159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None/>
              <a:tabLst>
                <a:tab pos="4318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tabLst>
                <a:tab pos="647700" algn="l"/>
              </a:tabLs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None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baseline="0" noProof="0" dirty="0">
                <a:solidFill>
                  <a:schemeClr val="tx2"/>
                </a:solidFill>
              </a:rPr>
              <a:t>Center for Ageing, Reliability and Lifetime Prediction of Electrochemical and Power Electronic Systems (CARL)</a:t>
            </a:r>
            <a:endParaRPr lang="de-DE" sz="1400" b="1" noProof="0" dirty="0">
              <a:solidFill>
                <a:schemeClr val="tx2"/>
              </a:solidFill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383950" y="2487599"/>
            <a:ext cx="11422513" cy="127477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defRPr sz="3200" b="1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  <a:endParaRPr lang="en-US" dirty="0"/>
          </a:p>
        </p:txBody>
      </p:sp>
      <p:sp>
        <p:nvSpPr>
          <p:cNvPr id="15" name="Subtitle 2"/>
          <p:cNvSpPr>
            <a:spLocks noGrp="1"/>
          </p:cNvSpPr>
          <p:nvPr>
            <p:ph type="subTitle" idx="1"/>
          </p:nvPr>
        </p:nvSpPr>
        <p:spPr>
          <a:xfrm>
            <a:off x="383950" y="3857624"/>
            <a:ext cx="11422513" cy="60960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en-US" dirty="0"/>
          </a:p>
        </p:txBody>
      </p:sp>
      <p:sp>
        <p:nvSpPr>
          <p:cNvPr id="20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83950" y="4980225"/>
            <a:ext cx="11425513" cy="524824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21" name="Datumsplatzhalter 1"/>
          <p:cNvSpPr>
            <a:spLocks noGrp="1"/>
          </p:cNvSpPr>
          <p:nvPr>
            <p:ph type="dt" sz="half" idx="12"/>
          </p:nvPr>
        </p:nvSpPr>
        <p:spPr>
          <a:xfrm>
            <a:off x="383950" y="4675425"/>
            <a:ext cx="11425513" cy="306150"/>
          </a:xfrm>
          <a:prstGeom prst="rect">
            <a:avLst/>
          </a:prstGeom>
        </p:spPr>
        <p:txBody>
          <a:bodyPr/>
          <a:lstStyle>
            <a:lvl1pPr algn="l">
              <a:defRPr sz="2000">
                <a:solidFill>
                  <a:schemeClr val="tx1"/>
                </a:solidFill>
              </a:defRPr>
            </a:lvl1pPr>
          </a:lstStyle>
          <a:p>
            <a:pPr algn="l"/>
            <a:fld id="{11769DE8-88E0-424A-87BD-6924D1146258}" type="datetime5">
              <a:rPr lang="zh-CN" altLang="en-US" smtClean="0"/>
              <a:t>2026/5/26</a:t>
            </a:fld>
            <a:endParaRPr lang="de-DE" dirty="0"/>
          </a:p>
        </p:txBody>
      </p:sp>
      <p:pic>
        <p:nvPicPr>
          <p:cNvPr id="16" name="Grafik 15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84" b="31438"/>
          <a:stretch>
            <a:fillRect/>
          </a:stretch>
        </p:blipFill>
        <p:spPr>
          <a:xfrm>
            <a:off x="0" y="0"/>
            <a:ext cx="12190413" cy="2768838"/>
          </a:xfrm>
          <a:prstGeom prst="rect">
            <a:avLst/>
          </a:prstGeom>
        </p:spPr>
      </p:pic>
    </p:spTree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Vari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9525" imgH="9525" progId="TCLayout.ActiveDocument.1">
                  <p:embed/>
                </p:oleObj>
              </mc:Choice>
              <mc:Fallback>
                <p:oleObj name="think-cell Folie" r:id="rId3" imgW="9525" imgH="9525" progId="TCLayout.ActiveDocument.1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Untertitel 2"/>
          <p:cNvSpPr txBox="1"/>
          <p:nvPr/>
        </p:nvSpPr>
        <p:spPr>
          <a:xfrm>
            <a:off x="383950" y="6076425"/>
            <a:ext cx="6650934" cy="648524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2159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2159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None/>
              <a:tabLst>
                <a:tab pos="4318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tabLst>
                <a:tab pos="647700" algn="l"/>
              </a:tabLs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None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baseline="0" noProof="0" dirty="0">
                <a:solidFill>
                  <a:schemeClr val="tx2"/>
                </a:solidFill>
              </a:rPr>
              <a:t>Center for Ageing, Reliability and Lifetime Prediction of Electrochemical and Power Electronic Systems (CARL)</a:t>
            </a:r>
            <a:endParaRPr lang="de-DE" sz="1400" b="1" noProof="0" dirty="0">
              <a:solidFill>
                <a:schemeClr val="tx2"/>
              </a:solidFill>
            </a:endParaRPr>
          </a:p>
        </p:txBody>
      </p:sp>
      <p:pic>
        <p:nvPicPr>
          <p:cNvPr id="4" name="Grafik 2"/>
          <p:cNvPicPr>
            <a:picLocks noChangeAspect="1"/>
          </p:cNvPicPr>
          <p:nvPr userDrawn="1"/>
        </p:nvPicPr>
        <p:blipFill rotWithShape="1">
          <a:blip r:embed="rId5" cstate="hqprint"/>
          <a:srcRect/>
          <a:stretch>
            <a:fillRect/>
          </a:stretch>
        </p:blipFill>
        <p:spPr>
          <a:xfrm>
            <a:off x="-1588" y="0"/>
            <a:ext cx="12192000" cy="272415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383950" y="2725724"/>
            <a:ext cx="11422513" cy="127477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defRPr sz="3200" b="1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3950" y="4095749"/>
            <a:ext cx="11422513" cy="60960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7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83950" y="5218350"/>
            <a:ext cx="11425513" cy="524824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Liang Huang</a:t>
            </a:r>
          </a:p>
        </p:txBody>
      </p:sp>
      <p:sp>
        <p:nvSpPr>
          <p:cNvPr id="8" name="Datumsplatzhalter 1"/>
          <p:cNvSpPr>
            <a:spLocks noGrp="1"/>
          </p:cNvSpPr>
          <p:nvPr>
            <p:ph type="dt" sz="half" idx="12"/>
          </p:nvPr>
        </p:nvSpPr>
        <p:spPr>
          <a:xfrm>
            <a:off x="383950" y="4913550"/>
            <a:ext cx="11425513" cy="306150"/>
          </a:xfrm>
        </p:spPr>
        <p:txBody>
          <a:bodyPr/>
          <a:lstStyle>
            <a:lvl1pPr algn="l">
              <a:defRPr sz="2000">
                <a:solidFill>
                  <a:schemeClr val="tx1"/>
                </a:solidFill>
              </a:defRPr>
            </a:lvl1pPr>
          </a:lstStyle>
          <a:p>
            <a:pPr algn="l"/>
            <a:fld id="{6D3069C6-0311-4A39-8CC1-DA405FE38D0C}" type="datetime5">
              <a:rPr lang="zh-CN" altLang="en-US" smtClean="0"/>
              <a:t>2026/5/26</a:t>
            </a:fld>
            <a:endParaRPr lang="de-DE" dirty="0"/>
          </a:p>
        </p:txBody>
      </p:sp>
      <p:pic>
        <p:nvPicPr>
          <p:cNvPr id="12" name="Grafik 11"/>
          <p:cNvPicPr>
            <a:picLocks noChangeAspect="1"/>
          </p:cNvPicPr>
          <p:nvPr userDrawn="1"/>
        </p:nvPicPr>
        <p:blipFill>
          <a:blip r:embed="rId6" cstate="print"/>
          <a:stretch>
            <a:fillRect/>
          </a:stretch>
        </p:blipFill>
        <p:spPr>
          <a:xfrm>
            <a:off x="7780427" y="5882400"/>
            <a:ext cx="4136919" cy="975600"/>
          </a:xfrm>
          <a:prstGeom prst="rect">
            <a:avLst/>
          </a:prstGeom>
        </p:spPr>
      </p:pic>
    </p:spTree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 txBox="1"/>
          <p:nvPr/>
        </p:nvSpPr>
        <p:spPr>
          <a:xfrm>
            <a:off x="383068" y="801688"/>
            <a:ext cx="11424279" cy="1079500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baseline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US" noProof="0" dirty="0"/>
              <a:t>Thank you</a:t>
            </a:r>
            <a:br>
              <a:rPr lang="en-US" noProof="0" dirty="0"/>
            </a:br>
            <a:r>
              <a:rPr lang="en-US" noProof="0" dirty="0"/>
              <a:t>for your attention</a:t>
            </a:r>
          </a:p>
        </p:txBody>
      </p:sp>
      <p:cxnSp>
        <p:nvCxnSpPr>
          <p:cNvPr id="18" name="Gerader Verbinder 11"/>
          <p:cNvCxnSpPr/>
          <p:nvPr/>
        </p:nvCxnSpPr>
        <p:spPr>
          <a:xfrm>
            <a:off x="383068" y="6202363"/>
            <a:ext cx="114242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hteck 18"/>
          <p:cNvSpPr/>
          <p:nvPr/>
        </p:nvSpPr>
        <p:spPr>
          <a:xfrm>
            <a:off x="6249086" y="2124077"/>
            <a:ext cx="5561876" cy="3754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Rechteck 19"/>
          <p:cNvSpPr/>
          <p:nvPr/>
        </p:nvSpPr>
        <p:spPr>
          <a:xfrm>
            <a:off x="392649" y="2124076"/>
            <a:ext cx="5561876" cy="3756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1" name="Grafik 20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955573" y="4878751"/>
            <a:ext cx="952500" cy="952500"/>
          </a:xfrm>
          <a:prstGeom prst="rect">
            <a:avLst/>
          </a:prstGeom>
        </p:spPr>
      </p:pic>
      <p:sp>
        <p:nvSpPr>
          <p:cNvPr id="22" name="Textplatzhalter 3"/>
          <p:cNvSpPr txBox="1"/>
          <p:nvPr/>
        </p:nvSpPr>
        <p:spPr>
          <a:xfrm>
            <a:off x="392649" y="2133599"/>
            <a:ext cx="5561876" cy="3745278"/>
          </a:xfrm>
          <a:prstGeom prst="rect">
            <a:avLst/>
          </a:prstGeom>
        </p:spPr>
        <p:txBody>
          <a:bodyPr lIns="90000" tIns="36000" rIns="90000" bIns="36000"/>
          <a:lstStyle>
            <a:lvl1pPr marL="0" indent="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215900" algn="l"/>
              </a:tabLst>
              <a:defRPr sz="16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31800" indent="-21590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tabLst>
                <a:tab pos="4318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47700" indent="-21590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tabLst>
                <a:tab pos="6477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864235" indent="-21590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-"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864235" indent="-21590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-"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Contact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Chair for Electrochemical Energy Conversion</a:t>
            </a: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and Storage Systems</a:t>
            </a: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Univ.-Prof. Dr.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rer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 nat. Dirk Uwe Sauer</a:t>
            </a: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RWTH Aachen University</a:t>
            </a: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Campus-Boulevard 89</a:t>
            </a: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52074 Aachen</a:t>
            </a: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GERMANY</a:t>
            </a: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www.isea.rwth-aachen.de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3" name="Textplatzhalter 3"/>
          <p:cNvSpPr txBox="1"/>
          <p:nvPr/>
        </p:nvSpPr>
        <p:spPr>
          <a:xfrm>
            <a:off x="6245471" y="2133599"/>
            <a:ext cx="5561876" cy="3745278"/>
          </a:xfrm>
          <a:prstGeom prst="rect">
            <a:avLst/>
          </a:prstGeom>
        </p:spPr>
        <p:txBody>
          <a:bodyPr lIns="90000" tIns="36000" rIns="90000" bIns="36000"/>
          <a:lstStyle>
            <a:lvl1pPr marL="0" indent="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215900" algn="l"/>
              </a:tabLst>
              <a:defRPr sz="16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31800" indent="-21590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tabLst>
                <a:tab pos="4318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47700" indent="-21590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tabLst>
                <a:tab pos="6477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864235" indent="-21590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-"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864235" indent="-21590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-"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We thank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" name="Textplatzhalter 23"/>
          <p:cNvSpPr>
            <a:spLocks noGrp="1"/>
          </p:cNvSpPr>
          <p:nvPr>
            <p:ph type="body" sz="quarter" idx="10" hasCustomPrompt="1"/>
          </p:nvPr>
        </p:nvSpPr>
        <p:spPr>
          <a:xfrm>
            <a:off x="392649" y="2828926"/>
            <a:ext cx="3886694" cy="733425"/>
          </a:xfrm>
          <a:prstGeom prst="rect">
            <a:avLst/>
          </a:prstGeom>
        </p:spPr>
        <p:txBody>
          <a:bodyPr/>
          <a:lstStyle>
            <a:lvl1pPr marL="0" marR="0" indent="0" algn="l" defTabSz="2159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 sz="1400" b="0" baseline="0"/>
            </a:lvl1pPr>
          </a:lstStyle>
          <a:p>
            <a:pPr lvl="0"/>
            <a:r>
              <a:rPr lang="de-DE" noProof="0" dirty="0"/>
              <a:t>Tel.: +49 241 80-XXXXX</a:t>
            </a:r>
            <a:br>
              <a:rPr lang="de-DE" noProof="0" dirty="0"/>
            </a:br>
            <a:r>
              <a:rPr lang="de-DE" noProof="0" dirty="0"/>
              <a:t>xxx@isea.rwth-aachen.de</a:t>
            </a:r>
            <a:br>
              <a:rPr lang="de-DE" noProof="0" dirty="0"/>
            </a:br>
            <a:r>
              <a:rPr lang="de-DE" noProof="0" dirty="0"/>
              <a:t>batteries@isea.rwth-aachen.de</a:t>
            </a:r>
          </a:p>
        </p:txBody>
      </p:sp>
      <p:sp>
        <p:nvSpPr>
          <p:cNvPr id="26" name="Fußzeilenplatzhalter 27"/>
          <p:cNvSpPr>
            <a:spLocks noGrp="1"/>
          </p:cNvSpPr>
          <p:nvPr>
            <p:ph type="ftr" sz="quarter" idx="13"/>
          </p:nvPr>
        </p:nvSpPr>
        <p:spPr>
          <a:xfrm>
            <a:off x="392649" y="2570401"/>
            <a:ext cx="3886694" cy="334725"/>
          </a:xfrm>
          <a:prstGeom prst="rect">
            <a:avLst/>
          </a:prstGeom>
        </p:spPr>
        <p:txBody>
          <a:bodyPr lIns="90000" tIns="90000" rIns="90000" bIns="90000"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17" name="Bildplatzhalter 25"/>
          <p:cNvSpPr>
            <a:spLocks noGrp="1"/>
          </p:cNvSpPr>
          <p:nvPr>
            <p:ph type="pic" sz="quarter" idx="11" hasCustomPrompt="1"/>
          </p:nvPr>
        </p:nvSpPr>
        <p:spPr>
          <a:xfrm>
            <a:off x="4811297" y="2124075"/>
            <a:ext cx="1137452" cy="14626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/>
            </a:lvl1pPr>
          </a:lstStyle>
          <a:p>
            <a:r>
              <a:rPr lang="de-DE" dirty="0"/>
              <a:t>Eigenes Foto durch Klicken hinzufügen</a:t>
            </a:r>
            <a:endParaRPr lang="en-US" dirty="0"/>
          </a:p>
        </p:txBody>
      </p:sp>
      <p:sp>
        <p:nvSpPr>
          <p:cNvPr id="25" name="Bildplatzhalter 30"/>
          <p:cNvSpPr>
            <a:spLocks noGrp="1"/>
          </p:cNvSpPr>
          <p:nvPr>
            <p:ph type="pic" sz="quarter" idx="14" hasCustomPrompt="1"/>
          </p:nvPr>
        </p:nvSpPr>
        <p:spPr>
          <a:xfrm>
            <a:off x="6361869" y="2571750"/>
            <a:ext cx="2591663" cy="154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Partnerlogo durch Klicken hinzufügen</a:t>
            </a:r>
            <a:endParaRPr lang="en-US" dirty="0"/>
          </a:p>
        </p:txBody>
      </p:sp>
      <p:sp>
        <p:nvSpPr>
          <p:cNvPr id="27" name="Bildplatzhalter 30"/>
          <p:cNvSpPr>
            <a:spLocks noGrp="1"/>
          </p:cNvSpPr>
          <p:nvPr>
            <p:ph type="pic" sz="quarter" idx="15" hasCustomPrompt="1"/>
          </p:nvPr>
        </p:nvSpPr>
        <p:spPr>
          <a:xfrm>
            <a:off x="9092013" y="2571750"/>
            <a:ext cx="2591663" cy="154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Partnerlogo durch Klicken hinzufügen</a:t>
            </a:r>
            <a:endParaRPr lang="en-US" dirty="0"/>
          </a:p>
        </p:txBody>
      </p:sp>
      <p:sp>
        <p:nvSpPr>
          <p:cNvPr id="28" name="Bildplatzhalter 30"/>
          <p:cNvSpPr>
            <a:spLocks noGrp="1"/>
          </p:cNvSpPr>
          <p:nvPr>
            <p:ph type="pic" sz="quarter" idx="16" hasCustomPrompt="1"/>
          </p:nvPr>
        </p:nvSpPr>
        <p:spPr>
          <a:xfrm>
            <a:off x="6361869" y="4229100"/>
            <a:ext cx="2591663" cy="154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Partnerlogo durch Klicken hinzufügen</a:t>
            </a:r>
            <a:endParaRPr lang="en-US" dirty="0"/>
          </a:p>
        </p:txBody>
      </p:sp>
      <p:sp>
        <p:nvSpPr>
          <p:cNvPr id="29" name="Bildplatzhalter 30"/>
          <p:cNvSpPr>
            <a:spLocks noGrp="1"/>
          </p:cNvSpPr>
          <p:nvPr>
            <p:ph type="pic" sz="quarter" idx="17" hasCustomPrompt="1"/>
          </p:nvPr>
        </p:nvSpPr>
        <p:spPr>
          <a:xfrm>
            <a:off x="9092013" y="4229100"/>
            <a:ext cx="2591663" cy="154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Partnerlogo durch Klicken hinzufügen</a:t>
            </a:r>
            <a:endParaRPr lang="en-US" dirty="0"/>
          </a:p>
        </p:txBody>
      </p:sp>
      <p:cxnSp>
        <p:nvCxnSpPr>
          <p:cNvPr id="30" name="Gerader Verbinder 11"/>
          <p:cNvCxnSpPr/>
          <p:nvPr userDrawn="1"/>
        </p:nvCxnSpPr>
        <p:spPr>
          <a:xfrm>
            <a:off x="383068" y="6202363"/>
            <a:ext cx="114242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fik 1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137882" y="6205415"/>
            <a:ext cx="2778300" cy="655200"/>
          </a:xfrm>
          <a:prstGeom prst="rect">
            <a:avLst/>
          </a:prstGeom>
        </p:spPr>
      </p:pic>
    </p:spTree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1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3950" y="201600"/>
            <a:ext cx="11422513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7" name="Inhaltsplatzhalter 2"/>
          <p:cNvSpPr>
            <a:spLocks noGrp="1"/>
          </p:cNvSpPr>
          <p:nvPr>
            <p:ph idx="1" hasCustomPrompt="1"/>
          </p:nvPr>
        </p:nvSpPr>
        <p:spPr>
          <a:xfrm>
            <a:off x="383950" y="1151999"/>
            <a:ext cx="11422513" cy="4731275"/>
          </a:xfrm>
          <a:prstGeom prst="rect">
            <a:avLst/>
          </a:prstGeom>
        </p:spPr>
        <p:txBody>
          <a:bodyPr lIns="0" tIns="0" rIns="0" bIns="0"/>
          <a:lstStyle>
            <a:lvl1pPr marL="215900" indent="-215900"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■"/>
              <a:defRPr sz="2000"/>
            </a:lvl1pPr>
            <a:lvl2pPr marL="431800" indent="-215900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□"/>
              <a:defRPr sz="1800"/>
            </a:lvl2pPr>
            <a:lvl3pPr marL="647700" indent="-215900">
              <a:spcBef>
                <a:spcPts val="0"/>
              </a:spcBef>
              <a:spcAft>
                <a:spcPts val="350"/>
              </a:spcAft>
              <a:buFont typeface="Arial" panose="020B0604020202020204" pitchFamily="34" charset="0"/>
              <a:buChar char="■"/>
              <a:defRPr sz="1800"/>
            </a:lvl3pPr>
            <a:lvl4pPr marL="863600" indent="-215900"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/>
            </a:lvl4pPr>
            <a:lvl5pPr marL="1080135" indent="-215900">
              <a:spcBef>
                <a:spcPts val="0"/>
              </a:spcBef>
              <a:spcAft>
                <a:spcPts val="25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 algn="l"/>
            <a:fld id="{74486B41-BCE2-48B7-876C-2B3490450D97}" type="datetime5">
              <a:rPr lang="zh-CN" altLang="en-US" smtClean="0"/>
              <a:t>2026/5/26</a:t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3950" y="201600"/>
            <a:ext cx="11422513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10" name="Inhaltsplatzhalter 2"/>
          <p:cNvSpPr>
            <a:spLocks noGrp="1"/>
          </p:cNvSpPr>
          <p:nvPr>
            <p:ph idx="1" hasCustomPrompt="1"/>
          </p:nvPr>
        </p:nvSpPr>
        <p:spPr>
          <a:xfrm>
            <a:off x="383950" y="1151999"/>
            <a:ext cx="5620068" cy="4731275"/>
          </a:xfrm>
          <a:prstGeom prst="rect">
            <a:avLst/>
          </a:prstGeom>
        </p:spPr>
        <p:txBody>
          <a:bodyPr lIns="0" tIns="0" rIns="0" bIns="0"/>
          <a:lstStyle>
            <a:lvl1pPr marL="215900" indent="-215900"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■"/>
              <a:defRPr sz="2000"/>
            </a:lvl1pPr>
            <a:lvl2pPr marL="431800" indent="-215900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□"/>
              <a:defRPr sz="1800"/>
            </a:lvl2pPr>
            <a:lvl3pPr marL="647700" indent="-215900">
              <a:spcBef>
                <a:spcPts val="0"/>
              </a:spcBef>
              <a:spcAft>
                <a:spcPts val="350"/>
              </a:spcAft>
              <a:buFont typeface="Arial" panose="020B0604020202020204" pitchFamily="34" charset="0"/>
              <a:buChar char="■"/>
              <a:defRPr sz="1800"/>
            </a:lvl3pPr>
            <a:lvl4pPr marL="863600" indent="-215900"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/>
            </a:lvl4pPr>
            <a:lvl5pPr marL="1080135" indent="-215900">
              <a:spcBef>
                <a:spcPts val="0"/>
              </a:spcBef>
              <a:spcAft>
                <a:spcPts val="25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11" name="Inhaltsplatzhalter 2"/>
          <p:cNvSpPr>
            <a:spLocks noGrp="1"/>
          </p:cNvSpPr>
          <p:nvPr>
            <p:ph idx="13" hasCustomPrompt="1"/>
          </p:nvPr>
        </p:nvSpPr>
        <p:spPr>
          <a:xfrm>
            <a:off x="6191194" y="1151999"/>
            <a:ext cx="5620068" cy="4731275"/>
          </a:xfrm>
          <a:prstGeom prst="rect">
            <a:avLst/>
          </a:prstGeom>
        </p:spPr>
        <p:txBody>
          <a:bodyPr lIns="0" tIns="0" rIns="0" bIns="0"/>
          <a:lstStyle>
            <a:lvl1pPr marL="215900" indent="-215900"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■"/>
              <a:defRPr sz="2000"/>
            </a:lvl1pPr>
            <a:lvl2pPr marL="431800" indent="-215900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□"/>
              <a:defRPr sz="1800"/>
            </a:lvl2pPr>
            <a:lvl3pPr marL="647700" indent="-215900">
              <a:spcBef>
                <a:spcPts val="0"/>
              </a:spcBef>
              <a:spcAft>
                <a:spcPts val="350"/>
              </a:spcAft>
              <a:buFont typeface="Arial" panose="020B0604020202020204" pitchFamily="34" charset="0"/>
              <a:buChar char="■"/>
              <a:defRPr sz="1800"/>
            </a:lvl3pPr>
            <a:lvl4pPr marL="863600" indent="-215900"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/>
            </a:lvl4pPr>
            <a:lvl5pPr marL="1080135" indent="-215900">
              <a:spcBef>
                <a:spcPts val="0"/>
              </a:spcBef>
              <a:spcAft>
                <a:spcPts val="25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algn="l">
              <a:defRPr/>
            </a:lvl1pPr>
          </a:lstStyle>
          <a:p>
            <a:pPr algn="l"/>
            <a:fld id="{85D6FCC3-EE37-4749-9624-859AF44EE717}" type="datetime5">
              <a:rPr lang="zh-CN" altLang="en-US" smtClean="0"/>
              <a:t>2026/5/26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lt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3950" y="201600"/>
            <a:ext cx="11422513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 algn="l"/>
            <a:fld id="{E47FF345-F1B3-44B8-9B74-D6676F7F0EE5}" type="datetime5">
              <a:rPr lang="zh-CN" altLang="en-US" smtClean="0"/>
              <a:t>2026/5/26</a:t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emf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image" Target="../media/image2.emf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11.xml"/><Relationship Id="rId10" Type="http://schemas.openxmlformats.org/officeDocument/2006/relationships/oleObject" Target="../embeddings/oleObject4.bin"/><Relationship Id="rId4" Type="http://schemas.openxmlformats.org/officeDocument/2006/relationships/slideLayout" Target="../slideLayouts/slideLayout10.xml"/><Relationship Id="rId9" Type="http://schemas.openxmlformats.org/officeDocument/2006/relationships/tags" Target="../tags/tag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8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9" imgW="9525" imgH="9525" progId="TCLayout.ActiveDocument.1">
                  <p:embed/>
                </p:oleObj>
              </mc:Choice>
              <mc:Fallback>
                <p:oleObj name="think-cell Folie" r:id="rId9" imgW="9525" imgH="9525" progId="TCLayout.ActiveDocument.1">
                  <p:embed/>
                  <p:pic>
                    <p:nvPicPr>
                      <p:cNvPr id="0" name="图片 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" name="Gerader Verbinder 10"/>
          <p:cNvCxnSpPr/>
          <p:nvPr/>
        </p:nvCxnSpPr>
        <p:spPr>
          <a:xfrm>
            <a:off x="383068" y="814388"/>
            <a:ext cx="114242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/>
          <p:cNvCxnSpPr/>
          <p:nvPr/>
        </p:nvCxnSpPr>
        <p:spPr>
          <a:xfrm>
            <a:off x="383068" y="6202363"/>
            <a:ext cx="114242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umsplatzhalter 1"/>
          <p:cNvSpPr>
            <a:spLocks noGrp="1"/>
          </p:cNvSpPr>
          <p:nvPr>
            <p:ph type="dt" sz="half" idx="2"/>
          </p:nvPr>
        </p:nvSpPr>
        <p:spPr>
          <a:xfrm>
            <a:off x="935480" y="6361350"/>
            <a:ext cx="5668062" cy="52482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100" b="0">
                <a:solidFill>
                  <a:schemeClr val="tx2"/>
                </a:solidFill>
              </a:defRPr>
            </a:lvl1pPr>
          </a:lstStyle>
          <a:p>
            <a:fld id="{D35072EC-9367-4D7B-8652-6A082F0A7E89}" type="datetime5">
              <a:rPr lang="zh-CN" altLang="en-US" smtClean="0"/>
              <a:t>2026/5/26</a:t>
            </a:fld>
            <a:endParaRPr lang="de-DE" dirty="0"/>
          </a:p>
        </p:txBody>
      </p:sp>
      <p:sp>
        <p:nvSpPr>
          <p:cNvPr id="4" name="Fußzeilenplatzhalter 2"/>
          <p:cNvSpPr>
            <a:spLocks noGrp="1"/>
          </p:cNvSpPr>
          <p:nvPr>
            <p:ph type="ftr" sz="quarter" idx="3"/>
          </p:nvPr>
        </p:nvSpPr>
        <p:spPr>
          <a:xfrm>
            <a:off x="1818425" y="6361350"/>
            <a:ext cx="4391428" cy="52482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100" b="0">
                <a:solidFill>
                  <a:schemeClr val="tx2"/>
                </a:solidFill>
              </a:defRPr>
            </a:lvl1pPr>
          </a:lstStyle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5" name="Foliennummernplatzhalter 3"/>
          <p:cNvSpPr>
            <a:spLocks noGrp="1"/>
          </p:cNvSpPr>
          <p:nvPr>
            <p:ph type="sldNum" sz="quarter" idx="4"/>
          </p:nvPr>
        </p:nvSpPr>
        <p:spPr>
          <a:xfrm>
            <a:off x="383950" y="6361350"/>
            <a:ext cx="974273" cy="396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fld id="{4D01E63C-D794-4429-8564-635E6253AC5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extfeld 4"/>
          <p:cNvSpPr txBox="1"/>
          <p:nvPr/>
        </p:nvSpPr>
        <p:spPr>
          <a:xfrm>
            <a:off x="1706633" y="6352041"/>
            <a:ext cx="36870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e-DE" sz="1100" b="0" dirty="0">
                <a:solidFill>
                  <a:schemeClr val="tx2"/>
                </a:solidFill>
              </a:rPr>
              <a:t>|</a:t>
            </a:r>
            <a:endParaRPr lang="en-US" sz="1200" b="0" dirty="0">
              <a:solidFill>
                <a:schemeClr val="tx2"/>
              </a:solidFill>
            </a:endParaRPr>
          </a:p>
        </p:txBody>
      </p:sp>
      <p:sp>
        <p:nvSpPr>
          <p:cNvPr id="9" name="Textfeld 8"/>
          <p:cNvSpPr txBox="1"/>
          <p:nvPr/>
        </p:nvSpPr>
        <p:spPr>
          <a:xfrm>
            <a:off x="935242" y="6542541"/>
            <a:ext cx="6913752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100" b="0" baseline="0" noProof="0" dirty="0">
                <a:solidFill>
                  <a:schemeClr val="tx2"/>
                </a:solidFill>
              </a:rPr>
              <a:t>Center for Ageing, Reliability and Lifetime Prediction of Electrochemical and Power Electronic Systems (CARL)</a:t>
            </a:r>
            <a:endParaRPr lang="de-DE" sz="1100" b="0" noProof="0" dirty="0">
              <a:solidFill>
                <a:schemeClr val="tx2"/>
              </a:solidFill>
            </a:endParaRPr>
          </a:p>
        </p:txBody>
      </p:sp>
      <p:pic>
        <p:nvPicPr>
          <p:cNvPr id="8" name="Grafik 6"/>
          <p:cNvPicPr>
            <a:picLocks noChangeAspect="1"/>
          </p:cNvPicPr>
          <p:nvPr userDrawn="1"/>
        </p:nvPicPr>
        <p:blipFill>
          <a:blip r:embed="rId11" cstate="print"/>
          <a:stretch>
            <a:fillRect/>
          </a:stretch>
        </p:blipFill>
        <p:spPr>
          <a:xfrm>
            <a:off x="9137882" y="6205415"/>
            <a:ext cx="2778300" cy="655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2159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tabLst>
          <a:tab pos="215900" algn="l"/>
        </a:tabLst>
        <a:defRPr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31800" indent="-215900" algn="l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Symbol" panose="05050102010706020507" pitchFamily="18" charset="2"/>
        <a:buChar char="-"/>
        <a:tabLst>
          <a:tab pos="4318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6477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tabLst>
          <a:tab pos="6477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8636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00000"/>
        <a:buFont typeface="Arial" panose="020B0604020202020204" pitchFamily="34" charset="0"/>
        <a:buChar char="-"/>
        <a:tabLst>
          <a:tab pos="8636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863600" indent="-2159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-"/>
        <a:tabLst>
          <a:tab pos="89535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 userDrawn="1">
            <p:custDataLst>
              <p:tags r:id="rId9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0" imgW="9525" imgH="9525" progId="TCLayout.ActiveDocument.1">
                  <p:embed/>
                </p:oleObj>
              </mc:Choice>
              <mc:Fallback>
                <p:oleObj name="think-cell Folie" r:id="rId10" imgW="9525" imgH="9525" progId="TCLayout.ActiveDocument.1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Grafik 3"/>
          <p:cNvPicPr>
            <a:picLocks noChangeAspect="1"/>
          </p:cNvPicPr>
          <p:nvPr userDrawn="1"/>
        </p:nvPicPr>
        <p:blipFill>
          <a:blip r:embed="rId12" cstate="print"/>
          <a:stretch>
            <a:fillRect/>
          </a:stretch>
        </p:blipFill>
        <p:spPr>
          <a:xfrm>
            <a:off x="9137882" y="6205415"/>
            <a:ext cx="2778300" cy="655200"/>
          </a:xfrm>
          <a:prstGeom prst="rect">
            <a:avLst/>
          </a:prstGeom>
        </p:spPr>
      </p:pic>
      <p:cxnSp>
        <p:nvCxnSpPr>
          <p:cNvPr id="11" name="Gerader Verbinder 10"/>
          <p:cNvCxnSpPr/>
          <p:nvPr/>
        </p:nvCxnSpPr>
        <p:spPr>
          <a:xfrm>
            <a:off x="383068" y="814388"/>
            <a:ext cx="114242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r Verbinder 11"/>
          <p:cNvCxnSpPr/>
          <p:nvPr/>
        </p:nvCxnSpPr>
        <p:spPr>
          <a:xfrm>
            <a:off x="383068" y="6202363"/>
            <a:ext cx="114242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Datumsplatzhalter 1"/>
          <p:cNvSpPr>
            <a:spLocks noGrp="1"/>
          </p:cNvSpPr>
          <p:nvPr>
            <p:ph type="dt" sz="half" idx="2"/>
          </p:nvPr>
        </p:nvSpPr>
        <p:spPr>
          <a:xfrm>
            <a:off x="935480" y="6361350"/>
            <a:ext cx="5668062" cy="52482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100" b="0">
                <a:solidFill>
                  <a:schemeClr val="tx2"/>
                </a:solidFill>
              </a:defRPr>
            </a:lvl1pPr>
          </a:lstStyle>
          <a:p>
            <a:fld id="{C2CC8288-72D4-44E2-951D-741F8F954282}" type="datetime5">
              <a:rPr lang="zh-CN" altLang="en-US" smtClean="0"/>
              <a:t>2026/5/26</a:t>
            </a:fld>
            <a:endParaRPr lang="de-DE" dirty="0"/>
          </a:p>
        </p:txBody>
      </p:sp>
      <p:sp>
        <p:nvSpPr>
          <p:cNvPr id="14" name="Fußzeilenplatzhalter 2"/>
          <p:cNvSpPr>
            <a:spLocks noGrp="1"/>
          </p:cNvSpPr>
          <p:nvPr>
            <p:ph type="ftr" sz="quarter" idx="3"/>
          </p:nvPr>
        </p:nvSpPr>
        <p:spPr>
          <a:xfrm>
            <a:off x="1818425" y="6361350"/>
            <a:ext cx="4391428" cy="52482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100" b="0">
                <a:solidFill>
                  <a:schemeClr val="tx2"/>
                </a:solidFill>
              </a:defRPr>
            </a:lvl1pPr>
          </a:lstStyle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15" name="Foliennummernplatzhalter 3"/>
          <p:cNvSpPr>
            <a:spLocks noGrp="1"/>
          </p:cNvSpPr>
          <p:nvPr>
            <p:ph type="sldNum" sz="quarter" idx="4"/>
          </p:nvPr>
        </p:nvSpPr>
        <p:spPr>
          <a:xfrm>
            <a:off x="383950" y="6361350"/>
            <a:ext cx="974273" cy="396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fld id="{4D01E63C-D794-4429-8564-635E6253AC5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Textfeld 15"/>
          <p:cNvSpPr txBox="1"/>
          <p:nvPr/>
        </p:nvSpPr>
        <p:spPr>
          <a:xfrm>
            <a:off x="1706633" y="6352041"/>
            <a:ext cx="36870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e-DE" sz="1100" b="0" dirty="0">
                <a:solidFill>
                  <a:schemeClr val="tx2"/>
                </a:solidFill>
              </a:rPr>
              <a:t>|</a:t>
            </a:r>
            <a:endParaRPr lang="en-US" sz="1200" b="0" dirty="0">
              <a:solidFill>
                <a:schemeClr val="tx2"/>
              </a:solidFill>
            </a:endParaRPr>
          </a:p>
        </p:txBody>
      </p:sp>
      <p:sp>
        <p:nvSpPr>
          <p:cNvPr id="17" name="Textfeld 16"/>
          <p:cNvSpPr txBox="1"/>
          <p:nvPr/>
        </p:nvSpPr>
        <p:spPr>
          <a:xfrm>
            <a:off x="935242" y="6542541"/>
            <a:ext cx="6913752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100" b="0" baseline="0" noProof="0" dirty="0">
                <a:solidFill>
                  <a:schemeClr val="tx2"/>
                </a:solidFill>
              </a:rPr>
              <a:t>Center for Ageing, Reliability and Lifetime Prediction of Electrochemical and Power Electronic Systems (CARL)</a:t>
            </a:r>
            <a:endParaRPr lang="de-DE" sz="1100" b="0" noProof="0" dirty="0">
              <a:solidFill>
                <a:schemeClr val="tx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</p:sldLayoutIdLst>
  <p:hf hdr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2159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tabLst>
          <a:tab pos="215900" algn="l"/>
        </a:tabLst>
        <a:defRPr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31800" indent="-215900" algn="l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Symbol" panose="05050102010706020507" pitchFamily="18" charset="2"/>
        <a:buChar char="-"/>
        <a:tabLst>
          <a:tab pos="4318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6477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tabLst>
          <a:tab pos="6477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8636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00000"/>
        <a:buFont typeface="Arial" panose="020B0604020202020204" pitchFamily="34" charset="0"/>
        <a:buChar char="-"/>
        <a:tabLst>
          <a:tab pos="8636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863600" indent="-2159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-"/>
        <a:tabLst>
          <a:tab pos="89535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0.xml"/><Relationship Id="rId4" Type="http://schemas.openxmlformats.org/officeDocument/2006/relationships/image" Target="../media/image11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13" Type="http://schemas.openxmlformats.org/officeDocument/2006/relationships/oleObject" Target="../embeddings/oleObject13.bin"/><Relationship Id="rId3" Type="http://schemas.openxmlformats.org/officeDocument/2006/relationships/image" Target="../media/image13.png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16.wmf"/><Relationship Id="rId2" Type="http://schemas.openxmlformats.org/officeDocument/2006/relationships/hyperlink" Target="&#30005;&#21387;&#25512;&#23548;.html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wmf"/><Relationship Id="rId11" Type="http://schemas.openxmlformats.org/officeDocument/2006/relationships/oleObject" Target="../embeddings/oleObject12.bin"/><Relationship Id="rId5" Type="http://schemas.openxmlformats.org/officeDocument/2006/relationships/oleObject" Target="../embeddings/oleObject9.bin"/><Relationship Id="rId10" Type="http://schemas.openxmlformats.org/officeDocument/2006/relationships/image" Target="../media/image15.wmf"/><Relationship Id="rId4" Type="http://schemas.openxmlformats.org/officeDocument/2006/relationships/image" Target="../media/image12.jpeg"/><Relationship Id="rId9" Type="http://schemas.openxmlformats.org/officeDocument/2006/relationships/oleObject" Target="../embeddings/oleObject11.bin"/><Relationship Id="rId14" Type="http://schemas.openxmlformats.org/officeDocument/2006/relationships/image" Target="../media/image17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8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3" Type="http://schemas.openxmlformats.org/officeDocument/2006/relationships/image" Target="../media/image24.png"/><Relationship Id="rId7" Type="http://schemas.openxmlformats.org/officeDocument/2006/relationships/image" Target="../media/image22.wmf"/><Relationship Id="rId2" Type="http://schemas.openxmlformats.org/officeDocument/2006/relationships/hyperlink" Target="&#32769;&#21270;&#25512;&#23548;.html" TargetMode="External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18.bin"/><Relationship Id="rId11" Type="http://schemas.openxmlformats.org/officeDocument/2006/relationships/image" Target="../media/image24.wmf"/><Relationship Id="rId5" Type="http://schemas.openxmlformats.org/officeDocument/2006/relationships/image" Target="../media/image21.wmf"/><Relationship Id="rId10" Type="http://schemas.openxmlformats.org/officeDocument/2006/relationships/oleObject" Target="../embeddings/oleObject20.bin"/><Relationship Id="rId4" Type="http://schemas.openxmlformats.org/officeDocument/2006/relationships/oleObject" Target="../embeddings/oleObject17.bin"/><Relationship Id="rId9" Type="http://schemas.openxmlformats.org/officeDocument/2006/relationships/image" Target="../media/image23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6.emf"/><Relationship Id="rId4" Type="http://schemas.openxmlformats.org/officeDocument/2006/relationships/oleObject" Target="../embeddings/oleObject21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9525" imgH="9525" progId="TCLayout.ActiveDocument.1">
                  <p:embed/>
                </p:oleObj>
              </mc:Choice>
              <mc:Fallback>
                <p:oleObj name="think-cell Folie" r:id="rId3" imgW="9525" imgH="9525" progId="TCLayout.ActiveDocument.1">
                  <p:embed/>
                  <p:pic>
                    <p:nvPicPr>
                      <p:cNvPr id="0" name="图片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el 1"/>
          <p:cNvSpPr>
            <a:spLocks noGrp="1"/>
          </p:cNvSpPr>
          <p:nvPr>
            <p:ph type="ctrTitle"/>
          </p:nvPr>
        </p:nvSpPr>
        <p:spPr>
          <a:xfrm>
            <a:off x="384175" y="2725420"/>
            <a:ext cx="11422380" cy="3261995"/>
          </a:xfrm>
        </p:spPr>
        <p:txBody>
          <a:bodyPr/>
          <a:lstStyle/>
          <a:p>
            <a:pPr algn="l"/>
            <a:r>
              <a:rPr lang="en-US" altLang="zh-CN" dirty="0"/>
              <a:t>Chemie</a:t>
            </a:r>
            <a:r>
              <a:rPr lang="en-US" altLang="en-US" dirty="0"/>
              <a:t>ü</a:t>
            </a:r>
            <a:r>
              <a:rPr lang="en-US" altLang="zh-CN" dirty="0"/>
              <a:t>bergreifende Transfer Learning f</a:t>
            </a:r>
            <a:r>
              <a:rPr lang="en-US" altLang="en-US" dirty="0"/>
              <a:t>ü</a:t>
            </a:r>
            <a:r>
              <a:rPr lang="en-US" altLang="zh-CN" dirty="0"/>
              <a:t>r die </a:t>
            </a:r>
            <a:br>
              <a:rPr lang="en-US" altLang="zh-CN" dirty="0"/>
            </a:br>
            <a:r>
              <a:rPr lang="en-US" altLang="zh-CN" dirty="0"/>
              <a:t>Vorhersage der Batteriekapazit</a:t>
            </a:r>
            <a:r>
              <a:rPr lang="en-US" altLang="en-US" dirty="0"/>
              <a:t>ä</a:t>
            </a:r>
            <a:r>
              <a:rPr lang="en-US" altLang="zh-CN" dirty="0"/>
              <a:t>t von Li-Ion-Batterien</a:t>
            </a:r>
            <a:br>
              <a:rPr lang="en-US" altLang="zh-CN" dirty="0"/>
            </a:br>
            <a:br>
              <a:rPr lang="en-US" altLang="zh-CN" dirty="0"/>
            </a:br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algn="l"/>
            <a:fld id="{6D3069C6-0311-4A39-8CC1-DA405FE38D0C}" type="datetime5">
              <a:rPr lang="zh-CN" altLang="en-US" smtClean="0"/>
              <a:t>2026/5/26</a:t>
            </a:fld>
            <a:endParaRPr lang="de-DE" dirty="0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Liang Huang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内容占位符 13"/>
              <p:cNvSpPr>
                <a:spLocks noGrp="1"/>
              </p:cNvSpPr>
              <p:nvPr>
                <p:ph idx="1"/>
              </p:nvPr>
            </p:nvSpPr>
            <p:spPr>
              <a:xfrm>
                <a:off x="383950" y="1151999"/>
                <a:ext cx="8102127" cy="4731276"/>
              </a:xfrm>
            </p:spPr>
            <p:txBody>
              <a:bodyPr/>
              <a:lstStyle/>
              <a:p>
                <a:r>
                  <a:rPr lang="zh-CN" altLang="en-US" dirty="0"/>
                  <a:t>电</a:t>
                </a:r>
                <a:r>
                  <a:rPr lang="en-US" altLang="zh-CN" dirty="0"/>
                  <a:t>-</a:t>
                </a:r>
                <a:r>
                  <a:rPr lang="zh-CN" altLang="en-US" dirty="0"/>
                  <a:t>热耦合模型（</a:t>
                </a:r>
                <a:r>
                  <a:rPr lang="en-US" altLang="zh-CN" dirty="0"/>
                  <a:t>Electric-thermal model</a:t>
                </a:r>
                <a:r>
                  <a:rPr lang="zh-CN" altLang="en-US" dirty="0"/>
                  <a:t>）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输入： 外部的负载工况（实时电流 </a:t>
                </a:r>
                <a14:m>
                  <m:oMath xmlns:m="http://schemas.openxmlformats.org/officeDocument/2006/math">
                    <m:r>
                      <a:rPr lang="zh-CN" altLang="en-US" b="0" i="1">
                        <a:latin typeface="Cambria Math" panose="02040503050406030204" charset="0"/>
                      </a:rPr>
                      <m:t>𝐼</m:t>
                    </m:r>
                  </m:oMath>
                </a14:m>
                <a:r>
                  <a:rPr lang="zh-CN" altLang="en-US" dirty="0"/>
                  <a:t>或功率 </a:t>
                </a:r>
                <a14:m>
                  <m:oMath xmlns:m="http://schemas.openxmlformats.org/officeDocument/2006/math">
                    <m:r>
                      <a:rPr lang="zh-CN" altLang="en-US" b="0" i="1">
                        <a:latin typeface="Cambria Math" panose="02040503050406030204" charset="0"/>
                      </a:rPr>
                      <m:t>𝑃</m:t>
                    </m:r>
                  </m:oMath>
                </a14:m>
                <a:r>
                  <a:rPr lang="zh-CN" altLang="en-US" dirty="0"/>
                  <a:t>）以及环境温度（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b="0" i="1">
                            <a:latin typeface="Cambria Math" panose="02040503050406030204" charset="0"/>
                          </a:rPr>
                          <m:t>𝑇</m:t>
                        </m:r>
                      </m:e>
                      <m:sub>
                        <m:r>
                          <a:rPr lang="zh-CN" altLang="ar-AE" b="0" i="1">
                            <a:latin typeface="Cambria Math" panose="02040503050406030204" charset="0"/>
                          </a:rPr>
                          <m:t>𝑎𝑚𝑏</m:t>
                        </m:r>
                      </m:sub>
                    </m:sSub>
                  </m:oMath>
                </a14:m>
                <a:r>
                  <a:rPr lang="zh-CN" altLang="ar-AE" dirty="0"/>
                  <a:t>）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使用初始阻抗参数（</a:t>
                </a:r>
                <a:r>
                  <a:rPr lang="en-US" altLang="zh-CN" dirty="0"/>
                  <a:t>Initial impedance parameter</a:t>
                </a:r>
                <a:r>
                  <a:rPr lang="zh-CN" altLang="en-US" dirty="0"/>
                  <a:t>）进行驱动</a:t>
                </a:r>
                <a:endParaRPr lang="en-US" altLang="zh-CN" dirty="0"/>
              </a:p>
              <a:p>
                <a:r>
                  <a:rPr lang="zh-CN" altLang="en-US" dirty="0"/>
                  <a:t>老化模型（</a:t>
                </a:r>
                <a:r>
                  <a:rPr lang="en-US" altLang="zh-CN" dirty="0"/>
                  <a:t>Aging model</a:t>
                </a:r>
                <a:r>
                  <a:rPr lang="zh-CN" altLang="en-US" dirty="0"/>
                  <a:t>）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输入：来自电</a:t>
                </a:r>
                <a:r>
                  <a:rPr lang="en-US" altLang="zh-CN" dirty="0"/>
                  <a:t>-</a:t>
                </a:r>
                <a:r>
                  <a:rPr lang="zh-CN" altLang="en-US" dirty="0"/>
                  <a:t>热耦合模型输出的六种应力因子（时间 </a:t>
                </a:r>
                <a14:m>
                  <m:oMath xmlns:m="http://schemas.openxmlformats.org/officeDocument/2006/math">
                    <m:r>
                      <a:rPr lang="zh-CN" altLang="en-US" b="0" i="1">
                        <a:latin typeface="Cambria Math" panose="02040503050406030204" charset="0"/>
                      </a:rPr>
                      <m:t>𝑡</m:t>
                    </m:r>
                  </m:oMath>
                </a14:m>
                <a:r>
                  <a:rPr lang="zh-CN" altLang="en-US" dirty="0"/>
                  <a:t>、核心温度 </a:t>
                </a:r>
                <a14:m>
                  <m:oMath xmlns:m="http://schemas.openxmlformats.org/officeDocument/2006/math">
                    <m:r>
                      <a:rPr lang="zh-CN" altLang="en-US" b="0" i="1">
                        <a:latin typeface="Cambria Math" panose="02040503050406030204" charset="0"/>
                      </a:rPr>
                      <m:t>𝑇</m:t>
                    </m:r>
                  </m:oMath>
                </a14:m>
                <a:r>
                  <a:rPr lang="zh-CN" altLang="en-US" dirty="0"/>
                  <a:t>、端电压 </a:t>
                </a:r>
                <a14:m>
                  <m:oMath xmlns:m="http://schemas.openxmlformats.org/officeDocument/2006/math">
                    <m:r>
                      <a:rPr lang="zh-CN" altLang="en-US" b="0" i="1">
                        <a:latin typeface="Cambria Math" panose="02040503050406030204" charset="0"/>
                      </a:rPr>
                      <m:t>𝑈</m:t>
                    </m:r>
                  </m:oMath>
                </a14:m>
                <a:r>
                  <a:rPr lang="zh-CN" altLang="en-US" dirty="0"/>
                  <a:t>、累积电荷吞吐量 </a:t>
                </a:r>
                <a14:m>
                  <m:oMath xmlns:m="http://schemas.openxmlformats.org/officeDocument/2006/math">
                    <m:r>
                      <a:rPr lang="zh-CN" altLang="en-US" b="0" i="1">
                        <a:latin typeface="Cambria Math" panose="02040503050406030204" charset="0"/>
                      </a:rPr>
                      <m:t>𝑄</m:t>
                    </m:r>
                  </m:oMath>
                </a14:m>
                <a:r>
                  <a:rPr lang="zh-CN" altLang="en-US" dirty="0"/>
                  <a:t>、放电深度 </a:t>
                </a:r>
                <a14:m>
                  <m:oMath xmlns:m="http://schemas.openxmlformats.org/officeDocument/2006/math">
                    <m:r>
                      <a:rPr lang="zh-CN" altLang="en-US" b="0" i="1">
                        <a:latin typeface="Cambria Math" panose="02040503050406030204" charset="0"/>
                      </a:rPr>
                      <m:t>𝐷𝑂𝐷</m:t>
                    </m:r>
                  </m:oMath>
                </a14:m>
                <a:r>
                  <a:rPr lang="zh-CN" altLang="en-US" dirty="0"/>
                  <a:t>、循环平均电压 </a:t>
                </a:r>
                <a14:m>
                  <m:oMath xmlns:m="http://schemas.openxmlformats.org/officeDocument/2006/math">
                    <m:r>
                      <a:rPr lang="zh-CN" altLang="en-US" b="0">
                        <a:latin typeface="Cambria Math" panose="02040503050406030204" charset="0"/>
                      </a:rPr>
                      <m:t>∅</m:t>
                    </m:r>
                    <m:r>
                      <a:rPr lang="zh-CN" altLang="en-US" b="0" i="1">
                        <a:latin typeface="Cambria Math" panose="02040503050406030204" charset="0"/>
                      </a:rPr>
                      <m:t>𝑈</m:t>
                    </m:r>
                  </m:oMath>
                </a14:m>
                <a:r>
                  <a:rPr lang="zh-CN" altLang="en-US" dirty="0"/>
                  <a:t>）。</a:t>
                </a:r>
                <a:endParaRPr lang="en-US" altLang="zh-CN" dirty="0"/>
              </a:p>
              <a:p>
                <a:r>
                  <a:rPr lang="zh-CN" altLang="en-US" dirty="0"/>
                  <a:t>动态参数改写与寿命预测（</a:t>
                </a:r>
                <a:r>
                  <a:rPr lang="en-US" altLang="zh-CN" dirty="0"/>
                  <a:t>Updating parameters &amp; Lifetime prognosis</a:t>
                </a:r>
                <a:r>
                  <a:rPr lang="zh-CN" altLang="en-US" dirty="0"/>
                  <a:t>）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将老化模型输出的容量与内阻增量输入电热耦合模型，对初始阻抗参数（</a:t>
                </a:r>
                <a:r>
                  <a:rPr lang="en-US" altLang="zh-CN" dirty="0"/>
                  <a:t>Initial impedance parameter</a:t>
                </a:r>
                <a:r>
                  <a:rPr lang="zh-CN" altLang="en-US" dirty="0"/>
                  <a:t>）进行迭代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输出寿命预测</a:t>
                </a:r>
              </a:p>
            </p:txBody>
          </p:sp>
        </mc:Choice>
        <mc:Fallback xmlns="">
          <p:sp>
            <p:nvSpPr>
              <p:cNvPr id="14" name="内容占位符 1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3950" y="1151999"/>
                <a:ext cx="8102127" cy="4731276"/>
              </a:xfrm>
              <a:blipFill rotWithShape="1">
                <a:blip r:embed="rId3"/>
                <a:stretch>
                  <a:fillRect l="-5" t="-2" r="-18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F887C18F-21B2-48B8-9586-9343C0AE58EE}" type="datetime5">
              <a:rPr lang="zh-CN" altLang="en-US" smtClean="0"/>
              <a:t>2026/5/26</a:t>
            </a:fld>
            <a:endParaRPr lang="de-DE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  <a:t>2</a:t>
            </a:fld>
            <a:endParaRPr lang="en-US" dirty="0"/>
          </a:p>
        </p:txBody>
      </p:sp>
      <p:pic>
        <p:nvPicPr>
          <p:cNvPr id="9222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6077" y="3031470"/>
            <a:ext cx="3320385" cy="3096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电学模型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altLang="zh-CN" dirty="0"/>
              </a:p>
              <a:p>
                <a:endParaRPr lang="en-US" altLang="zh-CN" dirty="0"/>
              </a:p>
              <a:p>
                <a:pPr lvl="1"/>
                <a:r>
                  <a:rPr lang="zh-CN" altLang="en-US" dirty="0"/>
                  <a:t>电荷转移极化电压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charset="0"/>
                          </a:rPr>
                          <m:t>𝑉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charset="0"/>
                          </a:rPr>
                          <m:t>𝑟𝑐</m:t>
                        </m:r>
                        <m:r>
                          <a:rPr lang="en-US" altLang="zh-CN">
                            <a:latin typeface="Cambria Math" panose="02040503050406030204" charset="0"/>
                          </a:rPr>
                          <m:t>,</m:t>
                        </m:r>
                        <m:r>
                          <a:rPr lang="en-US" altLang="zh-CN">
                            <a:latin typeface="Cambria Math" panose="02040503050406030204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pPr lvl="1"/>
                <a:r>
                  <a:rPr lang="zh-CN" altLang="en-US" dirty="0"/>
                  <a:t>固相扩散极化电压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charset="0"/>
                          </a:rPr>
                          <m:t>𝑉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charset="0"/>
                          </a:rPr>
                          <m:t>𝑟𝑐</m:t>
                        </m:r>
                        <m:r>
                          <a:rPr lang="en-US" altLang="zh-CN">
                            <a:latin typeface="Cambria Math" panose="02040503050406030204" charset="0"/>
                          </a:rPr>
                          <m:t>,</m:t>
                        </m:r>
                        <m:r>
                          <a:rPr lang="en-US" altLang="zh-CN">
                            <a:latin typeface="Cambria Math" panose="02040503050406030204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r>
                  <a:rPr lang="zh-CN" altLang="en-US" dirty="0"/>
                  <a:t>微小时间步长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charset="0"/>
                      </a:rPr>
                      <m:t>Δ</m:t>
                    </m:r>
                    <m:r>
                      <a:rPr lang="zh-CN" altLang="en-US" i="1">
                        <a:latin typeface="Cambria Math" panose="02040503050406030204" charset="0"/>
                      </a:rPr>
                      <m:t>𝑡</m:t>
                    </m:r>
                  </m:oMath>
                </a14:m>
                <a:r>
                  <a:rPr lang="zh-CN" altLang="en-US" dirty="0"/>
                  <a:t>内假设电流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charset="0"/>
                      </a:rPr>
                      <m:t>𝐼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dirty="0"/>
                  <a:t>保持恒定，对该微分方程求解析解，可以得到其离散时间步进递推公式（</a:t>
                </a:r>
                <a:r>
                  <a:rPr lang="zh-CN" altLang="en-US" dirty="0">
                    <a:hlinkClick r:id="rId2" action="ppaction://hlinkfile"/>
                  </a:rPr>
                  <a:t>推导过程</a:t>
                </a:r>
                <a:r>
                  <a:rPr lang="zh-CN" altLang="en-US" dirty="0"/>
                  <a:t>）：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4" t="-2" r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F887C18F-21B2-48B8-9586-9343C0AE58EE}" type="datetime5">
              <a:rPr lang="zh-CN" altLang="en-US" smtClean="0"/>
              <a:t>2026/5/26</a:t>
            </a:fld>
            <a:endParaRPr lang="de-DE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  <a:t>3</a:t>
            </a:fld>
            <a:endParaRPr lang="en-US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4975" y="1151998"/>
            <a:ext cx="5841488" cy="989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5604167"/>
              </p:ext>
            </p:extLst>
          </p:nvPr>
        </p:nvGraphicFramePr>
        <p:xfrm>
          <a:off x="383950" y="1023175"/>
          <a:ext cx="4204190" cy="6836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3703200" imgH="10363200" progId="Equation.DSMT4">
                  <p:embed/>
                </p:oleObj>
              </mc:Choice>
              <mc:Fallback>
                <p:oleObj name="Equation" r:id="rId5" imgW="63703200" imgH="10363200" progId="Equation.DSMT4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83950" y="1023175"/>
                        <a:ext cx="4204190" cy="6836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5511800" y="44450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743200" imgH="4267200" progId="Equation.DSMT4">
                  <p:embed/>
                </p:oleObj>
              </mc:Choice>
              <mc:Fallback>
                <p:oleObj name="Equation" r:id="rId7" imgW="2743200" imgH="4267200" progId="Equation.DSMT4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511800" y="44450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383950" y="2618255"/>
          <a:ext cx="2381487" cy="6364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5356800" imgH="9448800" progId="Equation.DSMT4">
                  <p:embed/>
                </p:oleObj>
              </mc:Choice>
              <mc:Fallback>
                <p:oleObj name="Equation" r:id="rId9" imgW="35356800" imgH="9448800" progId="Equation.DSMT4">
                  <p:embed/>
                  <p:pic>
                    <p:nvPicPr>
                      <p:cNvPr id="0" name="图片 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83950" y="2618255"/>
                        <a:ext cx="2381487" cy="6364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383950" y="3269626"/>
          <a:ext cx="2956329" cy="6364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3891200" imgH="9448800" progId="Equation.DSMT4">
                  <p:embed/>
                </p:oleObj>
              </mc:Choice>
              <mc:Fallback>
                <p:oleObj name="Equation" r:id="rId11" imgW="43891200" imgH="9448800" progId="Equation.DSMT4">
                  <p:embed/>
                  <p:pic>
                    <p:nvPicPr>
                      <p:cNvPr id="0" name="图片 1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83950" y="3269626"/>
                        <a:ext cx="2956329" cy="6364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4884546"/>
              </p:ext>
            </p:extLst>
          </p:nvPr>
        </p:nvGraphicFramePr>
        <p:xfrm>
          <a:off x="1723172" y="4847776"/>
          <a:ext cx="7838491" cy="11237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85039200" imgH="12192000" progId="Equation.DSMT4">
                  <p:embed/>
                </p:oleObj>
              </mc:Choice>
              <mc:Fallback>
                <p:oleObj name="Equation" r:id="rId13" imgW="85039200" imgH="12192000" progId="Equation.DSMT4">
                  <p:embed/>
                  <p:pic>
                    <p:nvPicPr>
                      <p:cNvPr id="0" name="图片 16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723172" y="4847776"/>
                        <a:ext cx="7838491" cy="11237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热学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F887C18F-21B2-48B8-9586-9343C0AE58EE}" type="datetime5">
              <a:rPr lang="zh-CN" altLang="en-US" smtClean="0"/>
              <a:t>2026/5/26</a:t>
            </a:fld>
            <a:endParaRPr lang="de-DE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  <a:t>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内容占位符 8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本文忽略了可逆热（熵变热），只考虑不可逆热（欧姆热、电荷转移极化热</a:t>
                </a:r>
                <a:r>
                  <a:rPr lang="en-US" altLang="zh-CN" dirty="0"/>
                  <a:t>Charge Transfer Heat</a:t>
                </a:r>
                <a:r>
                  <a:rPr lang="zh-CN" altLang="en-US" dirty="0"/>
                  <a:t>、浓差扩散极化热</a:t>
                </a:r>
                <a:r>
                  <a:rPr lang="en-US" altLang="zh-CN" dirty="0"/>
                  <a:t>Diffusion Heat</a:t>
                </a:r>
                <a:r>
                  <a:rPr lang="zh-CN" altLang="en-US" dirty="0"/>
                  <a:t>）</a:t>
                </a:r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热流平衡计算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charset="0"/>
                          </a:rPr>
                          <m:t>𝑇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charset="0"/>
                          </a:rPr>
                          <m:t>𝑐𝑒𝑙𝑙</m:t>
                        </m:r>
                      </m:sub>
                    </m:sSub>
                  </m:oMath>
                </a14:m>
                <a:endParaRPr lang="en-US" altLang="zh-CN" sz="1800" dirty="0"/>
              </a:p>
              <a:p>
                <a:pPr lvl="1"/>
                <a:endParaRPr lang="en-US" altLang="zh-CN" sz="2000" dirty="0"/>
              </a:p>
              <a:p>
                <a:pPr lvl="1"/>
                <a:endParaRPr lang="en-US" altLang="zh-CN" sz="2000" dirty="0"/>
              </a:p>
              <a:p>
                <a:pPr lvl="1"/>
                <a:r>
                  <a:rPr lang="zh-CN" altLang="en-US" sz="2000" dirty="0"/>
                  <a:t>基于热力学第一定律（能量守恒定律）：单位时间内电池内部内能的增加量 </a:t>
                </a:r>
                <a:r>
                  <a:rPr lang="en-US" altLang="zh-CN" sz="2000" dirty="0"/>
                  <a:t>= </a:t>
                </a:r>
                <a:r>
                  <a:rPr lang="zh-CN" altLang="en-US" sz="2000" dirty="0"/>
                  <a:t>内部发热功率 </a:t>
                </a:r>
                <a:r>
                  <a:rPr lang="en-US" altLang="zh-CN" sz="2000" dirty="0"/>
                  <a:t>- </a:t>
                </a:r>
                <a:r>
                  <a:rPr lang="zh-CN" altLang="en-US" sz="2000" dirty="0"/>
                  <a:t>向外界散发的瞬时热功率</a:t>
                </a:r>
                <a:endParaRPr lang="en-US" altLang="zh-CN" sz="3200" dirty="0"/>
              </a:p>
              <a:p>
                <a:pPr lvl="1"/>
                <a:r>
                  <a:rPr lang="zh-CN" altLang="en-US" dirty="0"/>
                  <a:t>左侧：内能导数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右侧第二项：牛顿冷却热流</a:t>
                </a:r>
              </a:p>
            </p:txBody>
          </p:sp>
        </mc:Choice>
        <mc:Fallback xmlns="">
          <p:sp>
            <p:nvSpPr>
              <p:cNvPr id="9" name="内容占位符 8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4" t="-2" r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4545383" y="1435741"/>
          <a:ext cx="3590297" cy="11142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5356800" imgH="10972800" progId="Equation.DSMT4">
                  <p:embed/>
                </p:oleObj>
              </mc:Choice>
              <mc:Fallback>
                <p:oleObj name="Equation" r:id="rId3" imgW="35356800" imgH="10972800" progId="Equation.DSMT4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45383" y="1435741"/>
                        <a:ext cx="3590297" cy="11142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2822035" y="2549971"/>
          <a:ext cx="4424148" cy="11142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1148000" imgH="10363200" progId="Equation.DSMT4">
                  <p:embed/>
                </p:oleObj>
              </mc:Choice>
              <mc:Fallback>
                <p:oleObj name="Equation" r:id="rId5" imgW="41148000" imgH="10363200" progId="Equation.DSMT4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22035" y="2549971"/>
                        <a:ext cx="4424148" cy="11142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1276350" y="5051425"/>
          <a:ext cx="10128250" cy="1184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4241600" imgH="12192000" progId="Equation.DSMT4">
                  <p:embed/>
                </p:oleObj>
              </mc:Choice>
              <mc:Fallback>
                <p:oleObj name="Equation" r:id="rId7" imgW="104241600" imgH="12192000" progId="Equation.DSMT4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276350" y="5051425"/>
                        <a:ext cx="10128250" cy="11849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老化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F887C18F-21B2-48B8-9586-9343C0AE58EE}" type="datetime5">
              <a:rPr lang="zh-CN" altLang="en-US" smtClean="0"/>
              <a:t>2026/5/26</a:t>
            </a:fld>
            <a:endParaRPr lang="de-DE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  <a:t>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内容占位符 8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日历老化</a:t>
                </a:r>
                <a:r>
                  <a:rPr lang="en-US" altLang="zh-CN" dirty="0"/>
                  <a:t>(α)</a:t>
                </a:r>
                <a:r>
                  <a:rPr lang="zh-CN" altLang="en-US" dirty="0"/>
                  <a:t>：</a:t>
                </a:r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pPr lvl="1"/>
                <a:r>
                  <a:rPr lang="zh-CN" altLang="en-US" dirty="0"/>
                  <a:t>温度依赖性（阿伦尼乌斯项）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电压依赖性（线性电压驱动</a:t>
                </a:r>
                <a:r>
                  <a:rPr lang="en-US" altLang="zh-CN" dirty="0"/>
                  <a:t>V</a:t>
                </a:r>
                <a:r>
                  <a:rPr lang="zh-CN" altLang="en-US" dirty="0"/>
                  <a:t>）</a:t>
                </a:r>
                <a:endParaRPr lang="en-US" altLang="zh-CN" dirty="0"/>
              </a:p>
              <a:p>
                <a:pPr lvl="2"/>
                <a:r>
                  <a:rPr lang="zh-CN" altLang="en-US" dirty="0"/>
                  <a:t>本文中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charset="0"/>
                      </a:rPr>
                      <m:t>f</m:t>
                    </m:r>
                    <m:r>
                      <a:rPr lang="en-US" altLang="zh-CN" b="0" i="1" smtClean="0">
                        <a:latin typeface="Cambria Math" panose="02040503050406030204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charset="0"/>
                      </a:rPr>
                      <m:t>V</m:t>
                    </m:r>
                    <m:r>
                      <a:rPr lang="en-US" altLang="zh-CN" b="0" i="1" smtClean="0">
                        <a:latin typeface="Cambria Math" panose="02040503050406030204" charset="0"/>
                      </a:rPr>
                      <m:t>)=</m:t>
                    </m:r>
                    <m:r>
                      <a:rPr lang="en-US" altLang="zh-CN" b="0" i="1" smtClean="0">
                        <a:latin typeface="Cambria Math" panose="02040503050406030204" charset="0"/>
                      </a:rPr>
                      <m:t>7</m:t>
                    </m:r>
                    <m:r>
                      <a:rPr lang="en-US" altLang="zh-CN" b="0" i="1" smtClean="0">
                        <a:latin typeface="Cambria Math" panose="02040503050406030204" charset="0"/>
                      </a:rPr>
                      <m:t>.</m:t>
                    </m:r>
                    <m:r>
                      <a:rPr lang="en-US" altLang="zh-CN" b="0" i="1" smtClean="0">
                        <a:latin typeface="Cambria Math" panose="02040503050406030204" charset="0"/>
                      </a:rPr>
                      <m:t>543</m:t>
                    </m:r>
                    <m:r>
                      <a:rPr lang="en-US" altLang="zh-CN" b="0" i="1" smtClean="0">
                        <a:latin typeface="Cambria Math" panose="02040503050406030204" charset="0"/>
                      </a:rPr>
                      <m:t>∗</m:t>
                    </m:r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charset="0"/>
                      </a:rPr>
                      <m:t>V</m:t>
                    </m:r>
                    <m:r>
                      <a:rPr lang="en-US" altLang="zh-CN" b="0" i="1" smtClean="0">
                        <a:latin typeface="Cambria Math" panose="02040503050406030204" charset="0"/>
                      </a:rPr>
                      <m:t> − </m:t>
                    </m:r>
                    <m:r>
                      <a:rPr lang="en-US" altLang="zh-CN" b="0" i="1" smtClean="0">
                        <a:latin typeface="Cambria Math" panose="02040503050406030204" charset="0"/>
                      </a:rPr>
                      <m:t>23</m:t>
                    </m:r>
                    <m:r>
                      <a:rPr lang="en-US" altLang="zh-CN" b="0" i="1" smtClean="0">
                        <a:latin typeface="Cambria Math" panose="02040503050406030204" charset="0"/>
                      </a:rPr>
                      <m:t>.</m:t>
                    </m:r>
                    <m:r>
                      <a:rPr lang="en-US" altLang="zh-CN" b="0" i="1" smtClean="0">
                        <a:latin typeface="Cambria Math" panose="02040503050406030204" charset="0"/>
                      </a:rPr>
                      <m:t>75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循环老化（</a:t>
                </a:r>
                <a:r>
                  <a:rPr lang="en-US" altLang="zh-CN" dirty="0"/>
                  <a:t>b</a:t>
                </a:r>
                <a:r>
                  <a:rPr lang="zh-CN" altLang="en-US" dirty="0"/>
                  <a:t>）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与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charset="0"/>
                          </a:rPr>
                          <m:t>Ah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charset="0"/>
                          </a:rPr>
                          <m:t>0</m:t>
                        </m:r>
                        <m:r>
                          <a:rPr lang="en-US" altLang="zh-CN" b="0" i="1" smtClean="0">
                            <a:latin typeface="Cambria Math" panose="02040503050406030204" charset="0"/>
                          </a:rPr>
                          <m:t>.</m:t>
                        </m:r>
                        <m:r>
                          <a:rPr lang="en-US" altLang="zh-CN" b="0" i="1" smtClean="0">
                            <a:latin typeface="Cambria Math" panose="02040503050406030204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zh-CN" altLang="en-US" dirty="0"/>
                  <a:t>相关</a:t>
                </a:r>
                <a:endParaRPr lang="en-US" altLang="zh-CN" dirty="0"/>
              </a:p>
              <a:p>
                <a:pPr lvl="1"/>
                <a:endParaRPr lang="en-US" altLang="zh-CN" dirty="0"/>
              </a:p>
              <a:p>
                <a:r>
                  <a:rPr lang="zh-CN" altLang="en-US" dirty="0"/>
                  <a:t>此处输出的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 dirty="0">
                            <a:latin typeface="Cambria Math" panose="02040503050406030204" charset="0"/>
                          </a:rPr>
                          <m:t>L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b="0" i="1" dirty="0" smtClean="0">
                            <a:latin typeface="Cambria Math" panose="02040503050406030204" charset="0"/>
                          </a:rPr>
                          <m:t>cal</m:t>
                        </m:r>
                      </m:sub>
                    </m:sSub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 dirty="0">
                            <a:latin typeface="Cambria Math" panose="02040503050406030204" charset="0"/>
                          </a:rPr>
                          <m:t>L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b="0" i="1" dirty="0" smtClean="0">
                            <a:latin typeface="Cambria Math" panose="02040503050406030204" charset="0"/>
                          </a:rPr>
                          <m:t>cyc</m:t>
                        </m:r>
                      </m:sub>
                    </m:sSub>
                  </m:oMath>
                </a14:m>
                <a:r>
                  <a:rPr lang="zh-CN" altLang="en-US" dirty="0"/>
                  <a:t>用于更新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1" dirty="0" smtClean="0">
                            <a:latin typeface="Cambria Math" panose="02040503050406030204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b="0" i="1" dirty="0" smtClean="0">
                            <a:latin typeface="Cambria Math" panose="02040503050406030204" charset="0"/>
                          </a:rPr>
                          <m:t>act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charset="0"/>
                      </a:rPr>
                      <m:t> </m:t>
                    </m:r>
                  </m:oMath>
                </a14:m>
                <a:r>
                  <a:rPr lang="zh-CN" altLang="en-US" dirty="0"/>
                  <a:t>，进而更新</a:t>
                </a:r>
                <a:r>
                  <a:rPr lang="en-US" altLang="zh-CN" dirty="0"/>
                  <a:t>SOC</a:t>
                </a:r>
                <a:r>
                  <a:rPr lang="zh-CN" altLang="en-US" dirty="0"/>
                  <a:t>曲线</a:t>
                </a:r>
                <a:endParaRPr lang="en-US" altLang="zh-CN" dirty="0"/>
              </a:p>
              <a:p>
                <a:r>
                  <a:rPr lang="zh-CN" altLang="en-US" dirty="0">
                    <a:hlinkClick r:id="rId2" action="ppaction://hlinkfile"/>
                  </a:rPr>
                  <a:t>推导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9" name="内容占位符 8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4" t="-2" r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6299200" y="1487488"/>
          <a:ext cx="3101975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6880800" imgH="8229600" progId="Equation.DSMT4">
                  <p:embed/>
                </p:oleObj>
              </mc:Choice>
              <mc:Fallback>
                <p:oleObj name="Equation" r:id="rId4" imgW="36880800" imgH="8229600" progId="Equation.DSMT4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299200" y="1487488"/>
                        <a:ext cx="3101975" cy="692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1358223" y="1475384"/>
          <a:ext cx="4042026" cy="7177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2613600" imgH="5791200" progId="Equation.DSMT4">
                  <p:embed/>
                </p:oleObj>
              </mc:Choice>
              <mc:Fallback>
                <p:oleObj name="Equation" r:id="rId6" imgW="32613600" imgH="5791200" progId="Equation.DSMT4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358223" y="1475384"/>
                        <a:ext cx="4042026" cy="7177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6095206" y="2657713"/>
          <a:ext cx="4901829" cy="1516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5168800" imgH="17068800" progId="Equation.DSMT4">
                  <p:embed/>
                </p:oleObj>
              </mc:Choice>
              <mc:Fallback>
                <p:oleObj name="Equation" r:id="rId8" imgW="55168800" imgH="17068800" progId="Equation.DSMT4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095206" y="2657713"/>
                        <a:ext cx="4901829" cy="1516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6095206" y="4270494"/>
          <a:ext cx="5227388" cy="1516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9377600" imgH="14325600" progId="Equation.DSMT4">
                  <p:embed/>
                </p:oleObj>
              </mc:Choice>
              <mc:Fallback>
                <p:oleObj name="Equation" r:id="rId10" imgW="49377600" imgH="14325600" progId="Equation.DSMT4">
                  <p:embed/>
                  <p:pic>
                    <p:nvPicPr>
                      <p:cNvPr id="0" name="图片 14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095206" y="4270494"/>
                        <a:ext cx="5227388" cy="1516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整体模型作用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F887C18F-21B2-48B8-9586-9343C0AE58EE}" type="datetime5">
              <a:rPr lang="zh-CN" altLang="en-US" smtClean="0"/>
              <a:t>2026/5/26</a:t>
            </a:fld>
            <a:endParaRPr lang="de-DE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  <a:t>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6"/>
              <p:cNvSpPr>
                <a:spLocks noGrp="1"/>
              </p:cNvSpPr>
              <p:nvPr>
                <p:ph idx="1"/>
              </p:nvPr>
            </p:nvSpPr>
            <p:spPr>
              <a:xfrm>
                <a:off x="384175" y="1151890"/>
                <a:ext cx="11421745" cy="4731385"/>
              </a:xfrm>
            </p:spPr>
            <p:txBody>
              <a:bodyPr/>
              <a:lstStyle/>
              <a:p>
                <a:r>
                  <a:rPr lang="en-US" altLang="zh-CN"/>
                  <a:t>1</a:t>
                </a:r>
                <a:r>
                  <a:rPr lang="zh-CN" altLang="en-US"/>
                  <a:t>：电流在内阻和极化阻抗上产生功耗，导致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𝑐𝑒𝑙𝑙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上升</a:t>
                </a:r>
              </a:p>
              <a:p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2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𝑐𝑒𝑙𝑙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𝑉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𝑡𝑒𝑟𝑚𝑖𝑛𝑎𝑙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作为老化模型输入，加速活性锂损失和内阻增大</a:t>
                </a:r>
              </a:p>
              <a:p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3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：老化模型输出实时容量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C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和实时电阻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，导致更大的发热，更新新的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SoC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7" name="内容占位符 6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4175" y="1151890"/>
                <a:ext cx="11421745" cy="4731385"/>
              </a:xfr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529955" y="2139950"/>
            <a:ext cx="3276600" cy="3743325"/>
          </a:xfrm>
          <a:prstGeom prst="rect">
            <a:avLst/>
          </a:prstGeom>
        </p:spPr>
      </p:pic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7B1B06F7-975C-3685-BC01-FB3E419F04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1767422"/>
              </p:ext>
            </p:extLst>
          </p:nvPr>
        </p:nvGraphicFramePr>
        <p:xfrm>
          <a:off x="935480" y="2274236"/>
          <a:ext cx="2133600" cy="636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33879" imgH="637223" progId="Equation.DSMT4">
                  <p:embed/>
                </p:oleObj>
              </mc:Choice>
              <mc:Fallback>
                <p:oleObj name="Equation" r:id="rId4" imgW="2133879" imgH="637223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35480" y="2274236"/>
                        <a:ext cx="2133600" cy="636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本周计划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尝试寻找数据用于计算初始参数，包括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𝑠𝑒𝑟</m:t>
                        </m:r>
                      </m:sub>
                    </m:sSub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 </m:t>
                    </m:r>
                  </m:oMath>
                </a14:m>
                <a:r>
                  <a:rPr lang="en-US" altLang="zh-CN" dirty="0">
                    <a:latin typeface="Cambria Math" panose="02040503050406030204" charset="0"/>
                    <a:cs typeface="Cambria Math" panose="02040503050406030204" charset="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>
                    <a:latin typeface="Cambria Math" panose="02040503050406030204" charset="0"/>
                    <a:cs typeface="Cambria Math" panose="02040503050406030204" charset="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𝐶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𝐶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i="1">
                    <a:latin typeface="Cambria Math" panose="02040503050406030204" charset="0"/>
                    <a:cs typeface="Cambria Math" panose="02040503050406030204" charset="0"/>
                  </a:rPr>
                  <a:t>,</a:t>
                </a:r>
              </a:p>
              <a:p>
                <a:r>
                  <a:rPr lang="zh-CN" altLang="en-US" dirty="0">
                    <a:latin typeface="Cambria Math" panose="02040503050406030204" charset="0"/>
                    <a:cs typeface="Cambria Math" panose="02040503050406030204" charset="0"/>
                  </a:rPr>
                  <a:t>通过文献查找相关参数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𝐶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altLang="zh-CN" i="1" dirty="0">
                    <a:latin typeface="Cambria Math" panose="02040503050406030204" charset="0"/>
                    <a:cs typeface="Cambria Math" panose="02040503050406030204" charset="0"/>
                  </a:rPr>
                  <a:t> 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altLang="zh-CN" i="1" dirty="0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4" t="-2" r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F887C18F-21B2-48B8-9586-9343C0AE58EE}" type="datetime5">
              <a:rPr lang="zh-CN" altLang="en-US" smtClean="0"/>
              <a:t>2026/5/26</a:t>
            </a:fld>
            <a:endParaRPr lang="de-DE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9525" imgH="9525" progId="TCLayout.ActiveDocument.1">
                  <p:embed/>
                </p:oleObj>
              </mc:Choice>
              <mc:Fallback>
                <p:oleObj name="think-cell Folie" r:id="rId3" imgW="9525" imgH="9525" progId="TCLayout.ActiveDocument.1">
                  <p:embed/>
                  <p:pic>
                    <p:nvPicPr>
                      <p:cNvPr id="0" name="Objek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err="1"/>
              <a:t>Aufschlüsselung</a:t>
            </a:r>
            <a:r>
              <a:rPr lang="en-US" altLang="zh-CN" dirty="0"/>
              <a:t> des </a:t>
            </a:r>
            <a:r>
              <a:rPr lang="en-US" altLang="zh-CN" dirty="0" err="1"/>
              <a:t>Kapazitätsverlusts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Liang Huang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BB962C8B-B14F-4D97-AF65-F5344CB8AC3E}" type="datetime5">
              <a:rPr lang="zh-CN" altLang="zh-CN" dirty="0">
                <a:effectLst/>
              </a:rPr>
              <a:t>2026/5/26</a:t>
            </a:fld>
            <a:endParaRPr lang="de-DE" altLang="zh-CN" dirty="0">
              <a:effectLst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AICARD_INVALID" val="Inval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CARL 16zu9">
  <a:themeElements>
    <a:clrScheme name="Benutzerdefiniert 4">
      <a:dk1>
        <a:sysClr val="windowText" lastClr="000000"/>
      </a:dk1>
      <a:lt1>
        <a:sysClr val="window" lastClr="FFFFFF"/>
      </a:lt1>
      <a:dk2>
        <a:srgbClr val="00549F"/>
      </a:dk2>
      <a:lt2>
        <a:srgbClr val="8EBAE5"/>
      </a:lt2>
      <a:accent1>
        <a:srgbClr val="00549F"/>
      </a:accent1>
      <a:accent2>
        <a:srgbClr val="0098A1"/>
      </a:accent2>
      <a:accent3>
        <a:srgbClr val="57AB27"/>
      </a:accent3>
      <a:accent4>
        <a:srgbClr val="F6A800"/>
      </a:accent4>
      <a:accent5>
        <a:srgbClr val="CC071E"/>
      </a:accent5>
      <a:accent6>
        <a:srgbClr val="612158"/>
      </a:accent6>
      <a:hlink>
        <a:srgbClr val="00549F"/>
      </a:hlink>
      <a:folHlink>
        <a:srgbClr val="8EBAE5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solidFill>
            <a:schemeClr val="tx2"/>
          </a:solidFill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ARL English">
  <a:themeElements>
    <a:clrScheme name="Benutzerdefiniert 1">
      <a:dk1>
        <a:sysClr val="windowText" lastClr="000000"/>
      </a:dk1>
      <a:lt1>
        <a:sysClr val="window" lastClr="FFFFFF"/>
      </a:lt1>
      <a:dk2>
        <a:srgbClr val="00549F"/>
      </a:dk2>
      <a:lt2>
        <a:srgbClr val="8EBAE5"/>
      </a:lt2>
      <a:accent1>
        <a:srgbClr val="00549F"/>
      </a:accent1>
      <a:accent2>
        <a:srgbClr val="0098A1"/>
      </a:accent2>
      <a:accent3>
        <a:srgbClr val="57AB27"/>
      </a:accent3>
      <a:accent4>
        <a:srgbClr val="F6A800"/>
      </a:accent4>
      <a:accent5>
        <a:srgbClr val="CC071E"/>
      </a:accent5>
      <a:accent6>
        <a:srgbClr val="612158"/>
      </a:accent6>
      <a:hlink>
        <a:srgbClr val="00549F"/>
      </a:hlink>
      <a:folHlink>
        <a:srgbClr val="8EBAE5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solidFill>
            <a:schemeClr val="tx2"/>
          </a:solidFill>
        </a:ln>
      </a:spPr>
      <a:bodyPr rtlCol="0" anchor="ctr"/>
      <a:lstStyle>
        <a:defPPr algn="ctr">
          <a:defRPr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CARL</Template>
  <TotalTime>40</TotalTime>
  <Words>434</Words>
  <Application>Microsoft Office PowerPoint</Application>
  <PresentationFormat>自定义</PresentationFormat>
  <Paragraphs>73</Paragraphs>
  <Slides>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8</vt:i4>
      </vt:variant>
    </vt:vector>
  </HeadingPairs>
  <TitlesOfParts>
    <vt:vector size="18" baseType="lpstr">
      <vt:lpstr>Arial</vt:lpstr>
      <vt:lpstr>Calibri</vt:lpstr>
      <vt:lpstr>Cambria Math</vt:lpstr>
      <vt:lpstr>Symbol</vt:lpstr>
      <vt:lpstr>Wingdings</vt:lpstr>
      <vt:lpstr>CARL 16zu9</vt:lpstr>
      <vt:lpstr>CARL English</vt:lpstr>
      <vt:lpstr>think-cell Folie</vt:lpstr>
      <vt:lpstr>Equation</vt:lpstr>
      <vt:lpstr>MathType 7.0 Equation</vt:lpstr>
      <vt:lpstr>Chemieübergreifende Transfer Learning für die  Vorhersage der Batteriekapazität von Li-Ion-Batterien  </vt:lpstr>
      <vt:lpstr>Model</vt:lpstr>
      <vt:lpstr>电学模型</vt:lpstr>
      <vt:lpstr>热学</vt:lpstr>
      <vt:lpstr>老化</vt:lpstr>
      <vt:lpstr>整体模型作用</vt:lpstr>
      <vt:lpstr>本周计划</vt:lpstr>
      <vt:lpstr>Aufschlüsselung des Kapazitätsverlusts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Verwendung der PowerPoint-Vorlage</dc:title>
  <dc:creator>Zijuan Hong</dc:creator>
  <cp:lastModifiedBy>Liang Huang</cp:lastModifiedBy>
  <cp:revision>38</cp:revision>
  <cp:lastPrinted>2016-04-11T06:30:00Z</cp:lastPrinted>
  <dcterms:created xsi:type="dcterms:W3CDTF">2026-04-21T09:31:00Z</dcterms:created>
  <dcterms:modified xsi:type="dcterms:W3CDTF">2026-05-26T12:48:36Z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DEF269845E534A35A1B17EC5BF2174C8_12</vt:lpwstr>
  </property>
</Properties>
</file>