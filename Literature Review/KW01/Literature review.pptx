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55" r:id="rId3"/>
  </p:sldMasterIdLst>
  <p:notesMasterIdLst>
    <p:notesMasterId r:id="rId7"/>
  </p:notesMasterIdLst>
  <p:handoutMasterIdLst>
    <p:handoutMasterId r:id="rId13"/>
  </p:handoutMasterIdLst>
  <p:sldIdLst>
    <p:sldId id="285" r:id="rId4"/>
    <p:sldId id="312" r:id="rId5"/>
    <p:sldId id="305" r:id="rId6"/>
    <p:sldId id="308" r:id="rId8"/>
    <p:sldId id="307" r:id="rId9"/>
    <p:sldId id="311" r:id="rId10"/>
    <p:sldId id="304" r:id="rId11"/>
    <p:sldId id="309" r:id="rId12"/>
  </p:sldIdLst>
  <p:sldSz cx="12190095" cy="6858000"/>
  <p:notesSz cx="6797675" cy="9926320"/>
  <p:custDataLst>
    <p:tags r:id="rId17"/>
  </p:custDataLst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1" userDrawn="1">
          <p15:clr>
            <a:srgbClr val="A4A3A4"/>
          </p15:clr>
        </p15:guide>
        <p15:guide id="2" orient="horz" pos="725" userDrawn="1">
          <p15:clr>
            <a:srgbClr val="A4A3A4"/>
          </p15:clr>
        </p15:guide>
        <p15:guide id="3" orient="horz" pos="3706" userDrawn="1">
          <p15:clr>
            <a:srgbClr val="A4A3A4"/>
          </p15:clr>
        </p15:guide>
        <p15:guide id="4" pos="242" userDrawn="1">
          <p15:clr>
            <a:srgbClr val="A4A3A4"/>
          </p15:clr>
        </p15:guide>
        <p15:guide id="5" pos="3782" userDrawn="1">
          <p15:clr>
            <a:srgbClr val="A4A3A4"/>
          </p15:clr>
        </p15:guide>
        <p15:guide id="6" pos="7437" userDrawn="1">
          <p15:clr>
            <a:srgbClr val="A4A3A4"/>
          </p15:clr>
        </p15:guide>
        <p15:guide id="7" pos="427" userDrawn="1">
          <p15:clr>
            <a:srgbClr val="A4A3A4"/>
          </p15:clr>
        </p15:guide>
        <p15:guide id="8" pos="7263" userDrawn="1">
          <p15:clr>
            <a:srgbClr val="A4A3A4"/>
          </p15:clr>
        </p15:guide>
        <p15:guide id="9" pos="3912" userDrawn="1">
          <p15:clr>
            <a:srgbClr val="A4A3A4"/>
          </p15:clr>
        </p15:guide>
        <p15:guide id="10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549F"/>
    <a:srgbClr val="8EBAE5"/>
    <a:srgbClr val="336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6441" autoAdjust="0"/>
  </p:normalViewPr>
  <p:slideViewPr>
    <p:cSldViewPr snapToGrid="0" showGuides="1">
      <p:cViewPr varScale="1">
        <p:scale>
          <a:sx n="108" d="100"/>
          <a:sy n="108" d="100"/>
        </p:scale>
        <p:origin x="2148" y="102"/>
      </p:cViewPr>
      <p:guideLst>
        <p:guide orient="horz" pos="2161"/>
        <p:guide orient="horz" pos="725"/>
        <p:guide orient="horz" pos="3706"/>
        <p:guide pos="242"/>
        <p:guide pos="3782"/>
        <p:guide pos="7437"/>
        <p:guide pos="427"/>
        <p:guide pos="7263"/>
        <p:guide pos="3912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gs" Target="tags/tag12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handoutMaster" Target="handoutMasters/handoutMaster1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294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97B89D5-5017-4396-A2CE-F1C12124EE0F}" type="datetimeFigureOut">
              <a:rPr lang="de-DE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5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4" y="9429305"/>
            <a:ext cx="2945862" cy="497333"/>
          </a:xfrm>
          <a:prstGeom prst="rect">
            <a:avLst/>
          </a:prstGeom>
        </p:spPr>
        <p:txBody>
          <a:bodyPr vert="horz" wrap="square" lIns="88221" tIns="44111" rIns="88221" bIns="44111" numCol="1" anchor="b" anchorCtr="0" compatLnSpc="1"/>
          <a:lstStyle>
            <a:lvl1pPr algn="r" eaLnBrk="1" hangingPunct="1">
              <a:defRPr sz="10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48FB1AA-A6AA-4E9E-8BA1-59AC7FC9D727}" type="slidenum">
              <a:rPr lang="de-DE" altLang="de-DE"/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94" y="1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+mn-lt"/>
              </a:defRPr>
            </a:lvl1pPr>
          </a:lstStyle>
          <a:p>
            <a:pPr>
              <a:defRPr/>
            </a:pPr>
            <a:fld id="{4EEC745E-66A0-4F49-903C-36561B63B5F1}" type="datetimeFigureOut">
              <a:rPr lang="de-DE"/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21" tIns="44111" rIns="88221" bIns="44111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64" y="4777782"/>
            <a:ext cx="5438748" cy="3907834"/>
          </a:xfrm>
          <a:prstGeom prst="rect">
            <a:avLst/>
          </a:prstGeom>
        </p:spPr>
        <p:txBody>
          <a:bodyPr vert="horz" lIns="88221" tIns="44111" rIns="88221" bIns="44111" rtlCol="0"/>
          <a:lstStyle/>
          <a:p>
            <a:pPr lvl="0"/>
            <a:r>
              <a:rPr lang="de-DE" noProof="0" dirty="0"/>
              <a:t>Textmasterformat bearbeiten</a:t>
            </a:r>
            <a:endParaRPr lang="de-DE" noProof="0" dirty="0"/>
          </a:p>
          <a:p>
            <a:pPr lvl="1"/>
            <a:r>
              <a:rPr lang="de-DE" noProof="0" dirty="0"/>
              <a:t>Zweite Ebene</a:t>
            </a:r>
            <a:endParaRPr lang="de-DE" noProof="0" dirty="0"/>
          </a:p>
          <a:p>
            <a:pPr lvl="2"/>
            <a:r>
              <a:rPr lang="de-DE" noProof="0" dirty="0"/>
              <a:t>Dritte Ebene</a:t>
            </a:r>
            <a:endParaRPr lang="de-DE" noProof="0" dirty="0"/>
          </a:p>
          <a:p>
            <a:pPr lvl="3"/>
            <a:r>
              <a:rPr lang="de-DE" noProof="0" dirty="0"/>
              <a:t>Vierte Ebene</a:t>
            </a:r>
            <a:endParaRPr lang="de-DE" noProof="0" dirty="0"/>
          </a:p>
          <a:p>
            <a:pPr lvl="4"/>
            <a:r>
              <a:rPr lang="de-DE" noProof="0" dirty="0"/>
              <a:t>Fünfte Ebene</a:t>
            </a:r>
            <a:endParaRPr lang="de-DE" noProof="0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5"/>
            <a:ext cx="2945862" cy="497333"/>
          </a:xfrm>
          <a:prstGeom prst="rect">
            <a:avLst/>
          </a:prstGeom>
        </p:spPr>
        <p:txBody>
          <a:bodyPr vert="horz" lIns="88221" tIns="44111" rIns="88221" bIns="44111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94" y="9429305"/>
            <a:ext cx="2945862" cy="497333"/>
          </a:xfrm>
          <a:prstGeom prst="rect">
            <a:avLst/>
          </a:prstGeom>
        </p:spPr>
        <p:txBody>
          <a:bodyPr vert="horz" wrap="square" lIns="88221" tIns="44111" rIns="88221" bIns="44111" numCol="1" anchor="b" anchorCtr="0" compatLnSpc="1"/>
          <a:lstStyle>
            <a:lvl1pPr algn="r" eaLnBrk="1" hangingPunct="1">
              <a:defRPr sz="1000" smtClean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0DA392A4-A5B0-45A3-B126-38BB4DB33CBB}" type="slidenum">
              <a:rPr lang="de-DE" altLang="de-DE"/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image" Target="../media/image5.jpeg"/><Relationship Id="rId7" Type="http://schemas.openxmlformats.org/officeDocument/2006/relationships/image" Target="../media/image4.png"/><Relationship Id="rId6" Type="http://schemas.openxmlformats.org/officeDocument/2006/relationships/image" Target="../media/image3.emf"/><Relationship Id="rId5" Type="http://schemas.openxmlformats.org/officeDocument/2006/relationships/image" Target="../media/image2.png"/><Relationship Id="rId4" Type="http://schemas.openxmlformats.org/officeDocument/2006/relationships/image" Target="../media/image1.emf"/><Relationship Id="rId3" Type="http://schemas.openxmlformats.org/officeDocument/2006/relationships/oleObject" Target="../embeddings/oleObject1.bin"/><Relationship Id="rId2" Type="http://schemas.openxmlformats.org/officeDocument/2006/relationships/tags" Target="../tags/tag1.xml"/><Relationship Id="rId11" Type="http://schemas.openxmlformats.org/officeDocument/2006/relationships/vmlDrawing" Target="../drawings/vmlDrawing1.vml"/><Relationship Id="rId10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2.vml"/><Relationship Id="rId6" Type="http://schemas.openxmlformats.org/officeDocument/2006/relationships/image" Target="../media/image3.emf"/><Relationship Id="rId5" Type="http://schemas.openxmlformats.org/officeDocument/2006/relationships/image" Target="../media/image8.jpeg"/><Relationship Id="rId4" Type="http://schemas.openxmlformats.org/officeDocument/2006/relationships/image" Target="../media/image1.emf"/><Relationship Id="rId3" Type="http://schemas.openxmlformats.org/officeDocument/2006/relationships/oleObject" Target="../embeddings/oleObject2.bin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image" Target="../media/image5.jpeg"/><Relationship Id="rId7" Type="http://schemas.openxmlformats.org/officeDocument/2006/relationships/image" Target="../media/image4.png"/><Relationship Id="rId6" Type="http://schemas.openxmlformats.org/officeDocument/2006/relationships/image" Target="../media/image2.png"/><Relationship Id="rId5" Type="http://schemas.openxmlformats.org/officeDocument/2006/relationships/image" Target="../media/image3.emf"/><Relationship Id="rId4" Type="http://schemas.openxmlformats.org/officeDocument/2006/relationships/image" Target="../media/image1.emf"/><Relationship Id="rId3" Type="http://schemas.openxmlformats.org/officeDocument/2006/relationships/oleObject" Target="../embeddings/oleObject4.bin"/><Relationship Id="rId2" Type="http://schemas.openxmlformats.org/officeDocument/2006/relationships/tags" Target="../tags/tag4.xml"/><Relationship Id="rId11" Type="http://schemas.openxmlformats.org/officeDocument/2006/relationships/vmlDrawing" Target="../drawings/vmlDrawing4.vml"/><Relationship Id="rId10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5.vml"/><Relationship Id="rId6" Type="http://schemas.openxmlformats.org/officeDocument/2006/relationships/image" Target="../media/image10.jpeg"/><Relationship Id="rId5" Type="http://schemas.openxmlformats.org/officeDocument/2006/relationships/image" Target="../media/image3.emf"/><Relationship Id="rId4" Type="http://schemas.openxmlformats.org/officeDocument/2006/relationships/image" Target="../media/image1.emf"/><Relationship Id="rId3" Type="http://schemas.openxmlformats.org/officeDocument/2006/relationships/oleObject" Target="../embeddings/oleObject5.bin"/><Relationship Id="rId2" Type="http://schemas.openxmlformats.org/officeDocument/2006/relationships/tags" Target="../tags/tag5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6.vml"/><Relationship Id="rId6" Type="http://schemas.openxmlformats.org/officeDocument/2006/relationships/image" Target="../media/image3.emf"/><Relationship Id="rId5" Type="http://schemas.openxmlformats.org/officeDocument/2006/relationships/image" Target="../media/image8.jpeg"/><Relationship Id="rId4" Type="http://schemas.openxmlformats.org/officeDocument/2006/relationships/image" Target="../media/image1.emf"/><Relationship Id="rId3" Type="http://schemas.openxmlformats.org/officeDocument/2006/relationships/oleObject" Target="../embeddings/oleObject6.bin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kt 15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Grafik 19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9971531" y="-6889"/>
            <a:ext cx="2239901" cy="1902117"/>
          </a:xfrm>
          <a:prstGeom prst="rect">
            <a:avLst/>
          </a:prstGeom>
        </p:spPr>
      </p:pic>
      <p:sp>
        <p:nvSpPr>
          <p:cNvPr id="13" name="Untertitel 2"/>
          <p:cNvSpPr txBox="1"/>
          <p:nvPr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b="1" noProof="0" dirty="0">
                <a:solidFill>
                  <a:srgbClr val="00549F"/>
                </a:solidFill>
                <a:latin typeface="+mn-lt"/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rgbClr val="00549F"/>
              </a:solidFill>
              <a:latin typeface="+mn-lt"/>
            </a:endParaRPr>
          </a:p>
        </p:txBody>
      </p:sp>
      <p:sp>
        <p:nvSpPr>
          <p:cNvPr id="26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2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28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9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D7F12259-4066-44C3-AC08-F5ADAE7E0447}" type="datetime5">
              <a:rPr lang="zh-CN" altLang="en-US" smtClean="0"/>
            </a:fld>
            <a:endParaRPr lang="de-DE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pic>
        <p:nvPicPr>
          <p:cNvPr id="23" name="Grafik 22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21020" y="-6889"/>
            <a:ext cx="2798307" cy="1908213"/>
          </a:xfrm>
          <a:prstGeom prst="rect">
            <a:avLst/>
          </a:prstGeom>
        </p:spPr>
      </p:pic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8" cstate="hqprint"/>
          <a:stretch>
            <a:fillRect/>
          </a:stretch>
        </p:blipFill>
        <p:spPr>
          <a:xfrm>
            <a:off x="2777287" y="-6889"/>
            <a:ext cx="1436612" cy="190800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 userDrawn="1"/>
        </p:nvPicPr>
        <p:blipFill rotWithShape="1">
          <a:blip r:embed="rId9" cstate="hqprint"/>
          <a:srcRect/>
          <a:stretch>
            <a:fillRect/>
          </a:stretch>
        </p:blipFill>
        <p:spPr>
          <a:xfrm>
            <a:off x="4213899" y="-6889"/>
            <a:ext cx="2491702" cy="1908000"/>
          </a:xfrm>
          <a:prstGeom prst="rect">
            <a:avLst/>
          </a:prstGeom>
        </p:spPr>
      </p:pic>
      <p:pic>
        <p:nvPicPr>
          <p:cNvPr id="32" name="Grafik 31"/>
          <p:cNvPicPr>
            <a:picLocks noChangeAspect="1"/>
          </p:cNvPicPr>
          <p:nvPr userDrawn="1"/>
        </p:nvPicPr>
        <p:blipFill rotWithShape="1">
          <a:blip r:embed="rId10" cstate="hqprint"/>
          <a:srcRect/>
          <a:stretch>
            <a:fillRect/>
          </a:stretch>
        </p:blipFill>
        <p:spPr>
          <a:xfrm>
            <a:off x="6660046" y="-6889"/>
            <a:ext cx="3321996" cy="19080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0" y="1845525"/>
            <a:ext cx="12196800" cy="246221"/>
          </a:xfrm>
          <a:prstGeom prst="rect">
            <a:avLst/>
          </a:prstGeom>
          <a:solidFill>
            <a:srgbClr val="00549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de-DE" sz="1000" dirty="0">
                <a:solidFill>
                  <a:schemeClr val="bg1"/>
                </a:solidFill>
              </a:rPr>
              <a:t>Alterung     •     Modelle     •     Diagnostik     •     Packdesign     •     Elektromobilität     •     Stationäre Energiespeicher     •     Energiesystemanalyse</a:t>
            </a:r>
            <a:endParaRPr lang="de-DE" sz="1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elfolie Varian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kt 3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Grafik 1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-1588" y="0"/>
            <a:ext cx="12192000" cy="272415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725724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4095749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11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5218350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Liang Huang</a:t>
            </a:r>
            <a:endParaRPr lang="en-US" dirty="0"/>
          </a:p>
        </p:txBody>
      </p:sp>
      <p:sp>
        <p:nvSpPr>
          <p:cNvPr id="12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913550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6D3069C6-0311-4A39-8CC1-DA405FE38D0C}" type="datetime5">
              <a:rPr lang="zh-CN" altLang="en-US" smtClean="0"/>
            </a:fld>
            <a:endParaRPr lang="de-DE" dirty="0"/>
          </a:p>
        </p:txBody>
      </p:sp>
      <p:sp>
        <p:nvSpPr>
          <p:cNvPr id="14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400" b="1" noProof="0" dirty="0">
                <a:solidFill>
                  <a:srgbClr val="00549F"/>
                </a:solidFill>
                <a:latin typeface="+mn-lt"/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rgbClr val="00549F"/>
              </a:solidFill>
              <a:latin typeface="+mn-lt"/>
            </a:endParaRPr>
          </a:p>
        </p:txBody>
      </p:sp>
      <p:pic>
        <p:nvPicPr>
          <p:cNvPr id="8" name="Grafik 7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hteck 3"/>
          <p:cNvSpPr/>
          <p:nvPr/>
        </p:nvSpPr>
        <p:spPr>
          <a:xfrm>
            <a:off x="6249086" y="2124077"/>
            <a:ext cx="5561876" cy="375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Rechteck 4"/>
          <p:cNvSpPr/>
          <p:nvPr/>
        </p:nvSpPr>
        <p:spPr>
          <a:xfrm>
            <a:off x="392649" y="2124076"/>
            <a:ext cx="5561876" cy="3756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Title 1"/>
          <p:cNvSpPr txBox="1"/>
          <p:nvPr/>
        </p:nvSpPr>
        <p:spPr>
          <a:xfrm>
            <a:off x="383068" y="801688"/>
            <a:ext cx="11424279" cy="1004154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de-DE" dirty="0">
                <a:solidFill>
                  <a:srgbClr val="00549F"/>
                </a:solidFill>
              </a:rPr>
              <a:t>Vielen Dank</a:t>
            </a:r>
            <a:br>
              <a:rPr lang="de-DE" dirty="0">
                <a:solidFill>
                  <a:srgbClr val="00549F"/>
                </a:solidFill>
              </a:rPr>
            </a:br>
            <a:r>
              <a:rPr lang="de-DE" dirty="0">
                <a:solidFill>
                  <a:srgbClr val="00549F"/>
                </a:solidFill>
              </a:rPr>
              <a:t>für Ihre Aufmerksamkeit</a:t>
            </a:r>
            <a:endParaRPr lang="en-US" dirty="0">
              <a:solidFill>
                <a:srgbClr val="00549F"/>
              </a:solidFill>
            </a:endParaRPr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55573" y="4878751"/>
            <a:ext cx="952500" cy="952500"/>
          </a:xfrm>
          <a:prstGeom prst="rect">
            <a:avLst/>
          </a:prstGeom>
        </p:spPr>
      </p:pic>
      <p:sp>
        <p:nvSpPr>
          <p:cNvPr id="17" name="Textplatzhalter 3"/>
          <p:cNvSpPr txBox="1"/>
          <p:nvPr/>
        </p:nvSpPr>
        <p:spPr>
          <a:xfrm>
            <a:off x="392649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Kontakt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Lehrstuhl für Elektrochemische Energiewandlung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und Speichersystemtechnik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Univ.-Prof. Dr. </a:t>
            </a:r>
            <a:r>
              <a:rPr kumimoji="0" lang="de-DE" sz="1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rer</a:t>
            </a: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nat. Dirk Uwe Sauer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RWTH Aachen University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Campus-Boulevard 89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52074 Aachen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GERMANY</a:t>
            </a: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de-DE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www.isea.rwth-aachen.de</a:t>
            </a:r>
            <a:endParaRPr kumimoji="0" lang="de-DE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platzhalter 3"/>
          <p:cNvSpPr txBox="1"/>
          <p:nvPr/>
        </p:nvSpPr>
        <p:spPr>
          <a:xfrm>
            <a:off x="6245471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de-DE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Wir danken</a:t>
            </a:r>
            <a:endParaRPr kumimoji="0" lang="de-DE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392649" y="2828926"/>
            <a:ext cx="3886694" cy="733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="0" baseline="0"/>
            </a:lvl1pPr>
          </a:lstStyle>
          <a:p>
            <a:pPr lvl="0"/>
            <a:r>
              <a:rPr lang="en-US" dirty="0"/>
              <a:t>Tel.: +49 241 80-XXXXX</a:t>
            </a:r>
            <a:br>
              <a:rPr lang="en-US" dirty="0"/>
            </a:br>
            <a:r>
              <a:rPr lang="en-US" dirty="0"/>
              <a:t>xxx@isea.rwth-aachen.de</a:t>
            </a:r>
            <a:br>
              <a:rPr lang="en-US" dirty="0"/>
            </a:br>
            <a:r>
              <a:rPr lang="en-US" dirty="0"/>
              <a:t>batteries@isea.rwth-aachen.de</a:t>
            </a:r>
            <a:endParaRPr lang="en-US" dirty="0"/>
          </a:p>
        </p:txBody>
      </p:sp>
      <p:sp>
        <p:nvSpPr>
          <p:cNvPr id="26" name="Bildplatzhalter 25"/>
          <p:cNvSpPr>
            <a:spLocks noGrp="1"/>
          </p:cNvSpPr>
          <p:nvPr>
            <p:ph type="pic" sz="quarter" idx="11" hasCustomPrompt="1"/>
          </p:nvPr>
        </p:nvSpPr>
        <p:spPr>
          <a:xfrm>
            <a:off x="4811297" y="2124075"/>
            <a:ext cx="1137452" cy="1462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de-DE" dirty="0"/>
              <a:t>Eigenes Foto durch Klicken hinzufügen</a:t>
            </a:r>
            <a:endParaRPr lang="en-US" dirty="0"/>
          </a:p>
        </p:txBody>
      </p:sp>
      <p:sp>
        <p:nvSpPr>
          <p:cNvPr id="28" name="Fußzeilenplatzhalter 27"/>
          <p:cNvSpPr>
            <a:spLocks noGrp="1"/>
          </p:cNvSpPr>
          <p:nvPr>
            <p:ph type="ftr" sz="quarter" idx="13"/>
          </p:nvPr>
        </p:nvSpPr>
        <p:spPr>
          <a:xfrm>
            <a:off x="392649" y="2570401"/>
            <a:ext cx="3886694" cy="334725"/>
          </a:xfrm>
        </p:spPr>
        <p:txBody>
          <a:bodyPr lIns="90000" tIns="90000" rIns="90000" bIns="90000"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31" name="Bildplatzhalter 30"/>
          <p:cNvSpPr>
            <a:spLocks noGrp="1"/>
          </p:cNvSpPr>
          <p:nvPr>
            <p:ph type="pic" sz="quarter" idx="14" hasCustomPrompt="1"/>
          </p:nvPr>
        </p:nvSpPr>
        <p:spPr>
          <a:xfrm>
            <a:off x="6361869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18" name="Bildplatzhalter 30"/>
          <p:cNvSpPr>
            <a:spLocks noGrp="1"/>
          </p:cNvSpPr>
          <p:nvPr>
            <p:ph type="pic" sz="quarter" idx="15" hasCustomPrompt="1"/>
          </p:nvPr>
        </p:nvSpPr>
        <p:spPr>
          <a:xfrm>
            <a:off x="9092013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19" name="Bildplatzhalter 30"/>
          <p:cNvSpPr>
            <a:spLocks noGrp="1"/>
          </p:cNvSpPr>
          <p:nvPr>
            <p:ph type="pic" sz="quarter" idx="16" hasCustomPrompt="1"/>
          </p:nvPr>
        </p:nvSpPr>
        <p:spPr>
          <a:xfrm>
            <a:off x="6361869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1" name="Bildplatzhalter 30"/>
          <p:cNvSpPr>
            <a:spLocks noGrp="1"/>
          </p:cNvSpPr>
          <p:nvPr>
            <p:ph type="pic" sz="quarter" idx="17" hasCustomPrompt="1"/>
          </p:nvPr>
        </p:nvSpPr>
        <p:spPr>
          <a:xfrm>
            <a:off x="9092013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cxnSp>
        <p:nvCxnSpPr>
          <p:cNvPr id="22" name="Gerader Verbinder 11"/>
          <p:cNvCxnSpPr/>
          <p:nvPr userDrawn="1"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11422513" cy="4731276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Inhaltsplatzhalter 2"/>
          <p:cNvSpPr>
            <a:spLocks noGrp="1"/>
          </p:cNvSpPr>
          <p:nvPr>
            <p:ph idx="13" hasCustomPrompt="1"/>
          </p:nvPr>
        </p:nvSpPr>
        <p:spPr>
          <a:xfrm>
            <a:off x="6191194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Mastertextformat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pPr algn="l"/>
            <a:fld id="{E5AF013B-EAD8-4321-9A97-347E14C68B05}" type="datetime5">
              <a:rPr lang="zh-CN" altLang="en-US" smtClean="0"/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2" name="Foliennummernplatzhalter 11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Datumsplatzhalt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D3F884E6-7726-4AAA-A0CE-C180A27151DE}" type="datetime5">
              <a:rPr lang="zh-CN" altLang="en-US" smtClean="0"/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3" name="Foliennummernplatzhalt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kt 2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sp>
        <p:nvSpPr>
          <p:cNvPr id="19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20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1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  <a:prstGeom prst="rect">
            <a:avLst/>
          </a:prstGeo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11769DE8-88E0-424A-87BD-6924D1146258}" type="datetime5">
              <a:rPr lang="zh-CN" altLang="en-US" smtClean="0"/>
            </a:fld>
            <a:endParaRPr lang="de-DE" dirty="0"/>
          </a:p>
        </p:txBody>
      </p:sp>
      <p:pic>
        <p:nvPicPr>
          <p:cNvPr id="25" name="Grafik 24"/>
          <p:cNvPicPr>
            <a:picLocks noChangeAspect="1"/>
          </p:cNvPicPr>
          <p:nvPr userDrawn="1"/>
        </p:nvPicPr>
        <p:blipFill rotWithShape="1">
          <a:blip r:embed="rId6" cstate="hqprint"/>
          <a:srcRect/>
          <a:stretch>
            <a:fillRect/>
          </a:stretch>
        </p:blipFill>
        <p:spPr>
          <a:xfrm>
            <a:off x="9971531" y="-6889"/>
            <a:ext cx="2239901" cy="1902117"/>
          </a:xfrm>
          <a:prstGeom prst="rect">
            <a:avLst/>
          </a:prstGeom>
        </p:spPr>
      </p:pic>
      <p:pic>
        <p:nvPicPr>
          <p:cNvPr id="26" name="Grafik 25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-21020" y="-6889"/>
            <a:ext cx="2798307" cy="1908213"/>
          </a:xfrm>
          <a:prstGeom prst="rect">
            <a:avLst/>
          </a:prstGeom>
        </p:spPr>
      </p:pic>
      <p:pic>
        <p:nvPicPr>
          <p:cNvPr id="29" name="Grafik 28"/>
          <p:cNvPicPr>
            <a:picLocks noChangeAspect="1"/>
          </p:cNvPicPr>
          <p:nvPr userDrawn="1"/>
        </p:nvPicPr>
        <p:blipFill>
          <a:blip r:embed="rId8" cstate="hqprint"/>
          <a:stretch>
            <a:fillRect/>
          </a:stretch>
        </p:blipFill>
        <p:spPr>
          <a:xfrm>
            <a:off x="2777287" y="-6889"/>
            <a:ext cx="1436612" cy="1908000"/>
          </a:xfrm>
          <a:prstGeom prst="rect">
            <a:avLst/>
          </a:prstGeom>
        </p:spPr>
      </p:pic>
      <p:pic>
        <p:nvPicPr>
          <p:cNvPr id="30" name="Grafik 29"/>
          <p:cNvPicPr>
            <a:picLocks noChangeAspect="1"/>
          </p:cNvPicPr>
          <p:nvPr userDrawn="1"/>
        </p:nvPicPr>
        <p:blipFill rotWithShape="1">
          <a:blip r:embed="rId9" cstate="hqprint"/>
          <a:srcRect/>
          <a:stretch>
            <a:fillRect/>
          </a:stretch>
        </p:blipFill>
        <p:spPr>
          <a:xfrm>
            <a:off x="4213899" y="-6889"/>
            <a:ext cx="2491702" cy="1908000"/>
          </a:xfrm>
          <a:prstGeom prst="rect">
            <a:avLst/>
          </a:prstGeom>
        </p:spPr>
      </p:pic>
      <p:pic>
        <p:nvPicPr>
          <p:cNvPr id="31" name="Grafik 30"/>
          <p:cNvPicPr>
            <a:picLocks noChangeAspect="1"/>
          </p:cNvPicPr>
          <p:nvPr userDrawn="1"/>
        </p:nvPicPr>
        <p:blipFill rotWithShape="1">
          <a:blip r:embed="rId10" cstate="hqprint"/>
          <a:srcRect/>
          <a:stretch>
            <a:fillRect/>
          </a:stretch>
        </p:blipFill>
        <p:spPr>
          <a:xfrm>
            <a:off x="6660046" y="-6889"/>
            <a:ext cx="3321996" cy="1908000"/>
          </a:xfrm>
          <a:prstGeom prst="rect">
            <a:avLst/>
          </a:prstGeom>
        </p:spPr>
      </p:pic>
      <p:sp>
        <p:nvSpPr>
          <p:cNvPr id="28" name="Textfeld 27"/>
          <p:cNvSpPr txBox="1"/>
          <p:nvPr userDrawn="1"/>
        </p:nvSpPr>
        <p:spPr>
          <a:xfrm>
            <a:off x="0" y="1845525"/>
            <a:ext cx="12196800" cy="246221"/>
          </a:xfrm>
          <a:prstGeom prst="rect">
            <a:avLst/>
          </a:prstGeom>
          <a:solidFill>
            <a:srgbClr val="00549F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000" noProof="0" dirty="0">
                <a:solidFill>
                  <a:schemeClr val="bg1"/>
                </a:solidFill>
              </a:rPr>
              <a:t>Ageing     •     Models     •     Diagnostics     •     Pack Design     •     </a:t>
            </a:r>
            <a:r>
              <a:rPr lang="en-US" sz="1000" noProof="0" dirty="0" err="1">
                <a:solidFill>
                  <a:schemeClr val="bg1"/>
                </a:solidFill>
              </a:rPr>
              <a:t>Electromobility</a:t>
            </a:r>
            <a:r>
              <a:rPr lang="en-US" sz="1000" noProof="0" dirty="0">
                <a:solidFill>
                  <a:schemeClr val="bg1"/>
                </a:solidFill>
              </a:rPr>
              <a:t>     •     Stationary Energy Storage     •     Energy System Analysis</a:t>
            </a:r>
            <a:endParaRPr lang="en-US" sz="1000" noProof="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Objekt 22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Objekt 2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4" name="Grafik 23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  <p:sp>
        <p:nvSpPr>
          <p:cNvPr id="19" name="Untertitel 2"/>
          <p:cNvSpPr txBox="1"/>
          <p:nvPr userDrawn="1"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383950" y="2487599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383950" y="3857624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Formatvorlage des Untertitelmasters durch Klicken bearbeiten</a:t>
            </a:r>
            <a:endParaRPr lang="en-US" dirty="0"/>
          </a:p>
        </p:txBody>
      </p:sp>
      <p:sp>
        <p:nvSpPr>
          <p:cNvPr id="20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4980225"/>
            <a:ext cx="11425513" cy="524824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21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675425"/>
            <a:ext cx="11425513" cy="306150"/>
          </a:xfrm>
          <a:prstGeom prst="rect">
            <a:avLst/>
          </a:prstGeo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11769DE8-88E0-424A-87BD-6924D1146258}" type="datetime5">
              <a:rPr lang="zh-CN" altLang="en-US" smtClean="0"/>
            </a:fld>
            <a:endParaRPr lang="de-DE" dirty="0"/>
          </a:p>
        </p:txBody>
      </p:sp>
      <p:pic>
        <p:nvPicPr>
          <p:cNvPr id="16" name="Grafik 15"/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184" b="31438"/>
          <a:stretch>
            <a:fillRect/>
          </a:stretch>
        </p:blipFill>
        <p:spPr>
          <a:xfrm>
            <a:off x="0" y="0"/>
            <a:ext cx="12190413" cy="2768838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 Vari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Folie" r:id="rId3" imgW="9525" imgH="9525" progId="TCLayout.ActiveDocument.1">
                  <p:embed/>
                </p:oleObj>
              </mc:Choice>
              <mc:Fallback>
                <p:oleObj name="think-cell Folie" r:id="rId3" imgW="9525" imgH="9525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Untertitel 2"/>
          <p:cNvSpPr txBox="1"/>
          <p:nvPr/>
        </p:nvSpPr>
        <p:spPr>
          <a:xfrm>
            <a:off x="383950" y="6076425"/>
            <a:ext cx="6650934" cy="648524"/>
          </a:xfrm>
          <a:prstGeom prst="rect">
            <a:avLst/>
          </a:prstGeom>
        </p:spPr>
        <p:txBody>
          <a:bodyPr lIns="0" tIns="0" rIns="0" bIns="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indent="0" algn="ctr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None/>
              <a:tabLst>
                <a:tab pos="431800" algn="l"/>
              </a:tabLst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None/>
              <a:tabLst>
                <a:tab pos="647700" algn="l"/>
              </a:tabLs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indent="0" algn="ctr" defTabSz="215900" rtl="0" eaLnBrk="1" fontAlgn="base" hangingPunct="1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None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indent="0" algn="ctr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400" b="1" noProof="0" dirty="0">
              <a:solidFill>
                <a:schemeClr val="tx2"/>
              </a:solidFill>
            </a:endParaRPr>
          </a:p>
        </p:txBody>
      </p:sp>
      <p:pic>
        <p:nvPicPr>
          <p:cNvPr id="4" name="Grafik 2"/>
          <p:cNvPicPr>
            <a:picLocks noChangeAspect="1"/>
          </p:cNvPicPr>
          <p:nvPr userDrawn="1"/>
        </p:nvPicPr>
        <p:blipFill rotWithShape="1">
          <a:blip r:embed="rId5" cstate="hqprint"/>
          <a:srcRect/>
          <a:stretch>
            <a:fillRect/>
          </a:stretch>
        </p:blipFill>
        <p:spPr>
          <a:xfrm>
            <a:off x="-1588" y="0"/>
            <a:ext cx="12192000" cy="2724150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ctrTitle" hasCustomPrompt="1"/>
          </p:nvPr>
        </p:nvSpPr>
        <p:spPr>
          <a:xfrm>
            <a:off x="383950" y="2725724"/>
            <a:ext cx="11422513" cy="127477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defRPr sz="3200" b="1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83950" y="4095749"/>
            <a:ext cx="11422513" cy="60960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7" name="Fußzeilenplatzhalter 2"/>
          <p:cNvSpPr>
            <a:spLocks noGrp="1"/>
          </p:cNvSpPr>
          <p:nvPr>
            <p:ph type="ftr" sz="quarter" idx="11"/>
          </p:nvPr>
        </p:nvSpPr>
        <p:spPr>
          <a:xfrm>
            <a:off x="383950" y="5218350"/>
            <a:ext cx="11425513" cy="524824"/>
          </a:xfrm>
        </p:spPr>
        <p:txBody>
          <a:bodyPr/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Liang Huang</a:t>
            </a:r>
            <a:endParaRPr lang="en-US" dirty="0"/>
          </a:p>
        </p:txBody>
      </p:sp>
      <p:sp>
        <p:nvSpPr>
          <p:cNvPr id="8" name="Datumsplatzhalter 1"/>
          <p:cNvSpPr>
            <a:spLocks noGrp="1"/>
          </p:cNvSpPr>
          <p:nvPr>
            <p:ph type="dt" sz="half" idx="12"/>
          </p:nvPr>
        </p:nvSpPr>
        <p:spPr>
          <a:xfrm>
            <a:off x="383950" y="4913550"/>
            <a:ext cx="11425513" cy="306150"/>
          </a:xfrm>
        </p:spPr>
        <p:txBody>
          <a:bodyPr/>
          <a:lstStyle>
            <a:lvl1pPr algn="l">
              <a:defRPr sz="2000">
                <a:solidFill>
                  <a:schemeClr val="tx1"/>
                </a:solidFill>
              </a:defRPr>
            </a:lvl1pPr>
          </a:lstStyle>
          <a:p>
            <a:pPr algn="l"/>
            <a:fld id="{6D3069C6-0311-4A39-8CC1-DA405FE38D0C}" type="datetime5">
              <a:rPr lang="zh-CN" altLang="en-US" smtClean="0"/>
            </a:fld>
            <a:endParaRPr lang="de-DE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6" cstate="print"/>
          <a:stretch>
            <a:fillRect/>
          </a:stretch>
        </p:blipFill>
        <p:spPr>
          <a:xfrm>
            <a:off x="7780427" y="5882400"/>
            <a:ext cx="4136919" cy="9756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Final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 txBox="1"/>
          <p:nvPr/>
        </p:nvSpPr>
        <p:spPr>
          <a:xfrm>
            <a:off x="383068" y="801688"/>
            <a:ext cx="11424279" cy="1079500"/>
          </a:xfrm>
          <a:prstGeom prst="rect">
            <a:avLst/>
          </a:prstGeom>
        </p:spPr>
        <p:txBody>
          <a:bodyPr lIns="0" tIns="0" rIns="0" bIns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 baseline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fontAlgn="auto">
              <a:spcAft>
                <a:spcPts val="0"/>
              </a:spcAft>
              <a:defRPr/>
            </a:pPr>
            <a:r>
              <a:rPr lang="en-US" noProof="0" dirty="0"/>
              <a:t>Thank you</a:t>
            </a:r>
            <a:br>
              <a:rPr lang="en-US" noProof="0" dirty="0"/>
            </a:br>
            <a:r>
              <a:rPr lang="en-US" noProof="0" dirty="0"/>
              <a:t>for your attention</a:t>
            </a:r>
            <a:endParaRPr lang="en-US" noProof="0" dirty="0"/>
          </a:p>
        </p:txBody>
      </p:sp>
      <p:cxnSp>
        <p:nvCxnSpPr>
          <p:cNvPr id="18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hteck 18"/>
          <p:cNvSpPr/>
          <p:nvPr/>
        </p:nvSpPr>
        <p:spPr>
          <a:xfrm>
            <a:off x="6249086" y="2124077"/>
            <a:ext cx="5561876" cy="37548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Rechteck 19"/>
          <p:cNvSpPr/>
          <p:nvPr/>
        </p:nvSpPr>
        <p:spPr>
          <a:xfrm>
            <a:off x="392649" y="2124076"/>
            <a:ext cx="5561876" cy="3756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1" name="Grafik 20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955573" y="4878751"/>
            <a:ext cx="952500" cy="952500"/>
          </a:xfrm>
          <a:prstGeom prst="rect">
            <a:avLst/>
          </a:prstGeom>
        </p:spPr>
      </p:pic>
      <p:sp>
        <p:nvSpPr>
          <p:cNvPr id="22" name="Textplatzhalter 3"/>
          <p:cNvSpPr txBox="1"/>
          <p:nvPr/>
        </p:nvSpPr>
        <p:spPr>
          <a:xfrm>
            <a:off x="392649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Contact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Chair for Electrochemical Energy Conversion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and Storage Systems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Univ.-Prof. Dr.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rer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nat. Dirk Uwe Sauer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RWTH Aachen University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Campus-Boulevard 89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52074 Aachen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GERMANY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www.isea.rwth-aachen.de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3" name="Textplatzhalter 3"/>
          <p:cNvSpPr txBox="1"/>
          <p:nvPr/>
        </p:nvSpPr>
        <p:spPr>
          <a:xfrm>
            <a:off x="6245471" y="2133599"/>
            <a:ext cx="5561876" cy="3745278"/>
          </a:xfrm>
          <a:prstGeom prst="rect">
            <a:avLst/>
          </a:prstGeom>
        </p:spPr>
        <p:txBody>
          <a:bodyPr lIns="90000" tIns="36000" rIns="90000" bIns="36000"/>
          <a:lstStyle>
            <a:lvl1pPr marL="0" indent="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None/>
              <a:tabLst>
                <a:tab pos="215900" algn="l"/>
              </a:tabLst>
              <a:defRPr sz="1600" b="1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31800" indent="-215900" algn="l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Symbol" panose="05050102010706020507" pitchFamily="18" charset="2"/>
              <a:buChar char="-"/>
              <a:tabLst>
                <a:tab pos="4318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647700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80000"/>
              <a:buFont typeface="Wingdings" panose="05000000000000000000" pitchFamily="2" charset="2"/>
              <a:buChar char="§"/>
              <a:tabLst>
                <a:tab pos="6477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235" indent="-215900" algn="l" defTabSz="215900" rtl="0" eaLnBrk="1" fontAlgn="base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Arial" panose="020B0604020202020204" pitchFamily="34" charset="0"/>
              <a:buChar char="-"/>
              <a:tabLst>
                <a:tab pos="86360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235" indent="-215900" algn="l" rtl="0" eaLnBrk="1" fontAlgn="base" hangingPunct="1">
              <a:lnSpc>
                <a:spcPct val="90000"/>
              </a:lnSpc>
              <a:spcBef>
                <a:spcPts val="0"/>
              </a:spcBef>
              <a:spcAft>
                <a:spcPct val="0"/>
              </a:spcAft>
              <a:buClr>
                <a:schemeClr val="tx2"/>
              </a:buClr>
              <a:buFont typeface="Arial" panose="020B0604020202020204" pitchFamily="34" charset="0"/>
              <a:buChar char="-"/>
              <a:tabLst>
                <a:tab pos="895350" algn="l"/>
              </a:tabLst>
              <a:defRPr sz="16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159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DD402D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We thank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Textplatzhalter 23"/>
          <p:cNvSpPr>
            <a:spLocks noGrp="1"/>
          </p:cNvSpPr>
          <p:nvPr>
            <p:ph type="body" sz="quarter" idx="10" hasCustomPrompt="1"/>
          </p:nvPr>
        </p:nvSpPr>
        <p:spPr>
          <a:xfrm>
            <a:off x="392649" y="2828926"/>
            <a:ext cx="3886694" cy="733425"/>
          </a:xfrm>
          <a:prstGeom prst="rect">
            <a:avLst/>
          </a:prstGeom>
        </p:spPr>
        <p:txBody>
          <a:bodyPr/>
          <a:lstStyle>
            <a:lvl1pPr marL="0" marR="0" indent="0" algn="l" defTabSz="2159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Tx/>
              <a:buFont typeface="Arial" panose="020B0604020202020204" pitchFamily="34" charset="0"/>
              <a:buNone/>
              <a:tabLst>
                <a:tab pos="215900" algn="l"/>
              </a:tabLst>
              <a:defRPr sz="1400" b="0" baseline="0"/>
            </a:lvl1pPr>
          </a:lstStyle>
          <a:p>
            <a:pPr lvl="0"/>
            <a:r>
              <a:rPr lang="de-DE" noProof="0" dirty="0"/>
              <a:t>Tel.: +49 241 80-XXXXX</a:t>
            </a:r>
            <a:br>
              <a:rPr lang="de-DE" noProof="0" dirty="0"/>
            </a:br>
            <a:r>
              <a:rPr lang="de-DE" noProof="0" dirty="0"/>
              <a:t>xxx@isea.rwth-aachen.de</a:t>
            </a:r>
            <a:br>
              <a:rPr lang="de-DE" noProof="0" dirty="0"/>
            </a:br>
            <a:r>
              <a:rPr lang="de-DE" noProof="0" dirty="0"/>
              <a:t>batteries@isea.rwth-aachen.de</a:t>
            </a:r>
            <a:endParaRPr lang="de-DE" noProof="0" dirty="0"/>
          </a:p>
        </p:txBody>
      </p:sp>
      <p:sp>
        <p:nvSpPr>
          <p:cNvPr id="26" name="Fußzeilenplatzhalter 27"/>
          <p:cNvSpPr>
            <a:spLocks noGrp="1"/>
          </p:cNvSpPr>
          <p:nvPr>
            <p:ph type="ftr" sz="quarter" idx="13"/>
          </p:nvPr>
        </p:nvSpPr>
        <p:spPr>
          <a:xfrm>
            <a:off x="392649" y="2570401"/>
            <a:ext cx="3886694" cy="334725"/>
          </a:xfrm>
          <a:prstGeom prst="rect">
            <a:avLst/>
          </a:prstGeom>
        </p:spPr>
        <p:txBody>
          <a:bodyPr lIns="90000" tIns="90000" rIns="90000" bIns="90000"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7" name="Bildplatzhalter 25"/>
          <p:cNvSpPr>
            <a:spLocks noGrp="1"/>
          </p:cNvSpPr>
          <p:nvPr>
            <p:ph type="pic" sz="quarter" idx="11" hasCustomPrompt="1"/>
          </p:nvPr>
        </p:nvSpPr>
        <p:spPr>
          <a:xfrm>
            <a:off x="4811297" y="2124075"/>
            <a:ext cx="1137452" cy="14626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de-DE" dirty="0"/>
              <a:t>Eigenes Foto durch Klicken hinzufügen</a:t>
            </a:r>
            <a:endParaRPr lang="en-US" dirty="0"/>
          </a:p>
        </p:txBody>
      </p:sp>
      <p:sp>
        <p:nvSpPr>
          <p:cNvPr id="25" name="Bildplatzhalter 30"/>
          <p:cNvSpPr>
            <a:spLocks noGrp="1"/>
          </p:cNvSpPr>
          <p:nvPr>
            <p:ph type="pic" sz="quarter" idx="14" hasCustomPrompt="1"/>
          </p:nvPr>
        </p:nvSpPr>
        <p:spPr>
          <a:xfrm>
            <a:off x="6361869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7" name="Bildplatzhalter 30"/>
          <p:cNvSpPr>
            <a:spLocks noGrp="1"/>
          </p:cNvSpPr>
          <p:nvPr>
            <p:ph type="pic" sz="quarter" idx="15" hasCustomPrompt="1"/>
          </p:nvPr>
        </p:nvSpPr>
        <p:spPr>
          <a:xfrm>
            <a:off x="9092013" y="257175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8" name="Bildplatzhalter 30"/>
          <p:cNvSpPr>
            <a:spLocks noGrp="1"/>
          </p:cNvSpPr>
          <p:nvPr>
            <p:ph type="pic" sz="quarter" idx="16" hasCustomPrompt="1"/>
          </p:nvPr>
        </p:nvSpPr>
        <p:spPr>
          <a:xfrm>
            <a:off x="6361869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sp>
        <p:nvSpPr>
          <p:cNvPr id="29" name="Bildplatzhalter 30"/>
          <p:cNvSpPr>
            <a:spLocks noGrp="1"/>
          </p:cNvSpPr>
          <p:nvPr>
            <p:ph type="pic" sz="quarter" idx="17" hasCustomPrompt="1"/>
          </p:nvPr>
        </p:nvSpPr>
        <p:spPr>
          <a:xfrm>
            <a:off x="9092013" y="4229100"/>
            <a:ext cx="2591663" cy="1548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Partnerlogo durch Klicken hinzufügen</a:t>
            </a:r>
            <a:endParaRPr lang="en-US" dirty="0"/>
          </a:p>
        </p:txBody>
      </p:sp>
      <p:cxnSp>
        <p:nvCxnSpPr>
          <p:cNvPr id="30" name="Gerader Verbinder 11"/>
          <p:cNvCxnSpPr/>
          <p:nvPr userDrawn="1"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Grafik 1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1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7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11422513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74486B41-BCE2-48B7-876C-2B3490450D97}" type="datetime5">
              <a:rPr lang="zh-CN" altLang="en-US" smtClean="0"/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10" name="Inhaltsplatzhalter 2"/>
          <p:cNvSpPr>
            <a:spLocks noGrp="1"/>
          </p:cNvSpPr>
          <p:nvPr>
            <p:ph idx="1" hasCustomPrompt="1"/>
          </p:nvPr>
        </p:nvSpPr>
        <p:spPr>
          <a:xfrm>
            <a:off x="383950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11" name="Inhaltsplatzhalter 2"/>
          <p:cNvSpPr>
            <a:spLocks noGrp="1"/>
          </p:cNvSpPr>
          <p:nvPr>
            <p:ph idx="13" hasCustomPrompt="1"/>
          </p:nvPr>
        </p:nvSpPr>
        <p:spPr>
          <a:xfrm>
            <a:off x="6191194" y="1151999"/>
            <a:ext cx="5620068" cy="4731275"/>
          </a:xfrm>
          <a:prstGeom prst="rect">
            <a:avLst/>
          </a:prstGeom>
        </p:spPr>
        <p:txBody>
          <a:bodyPr lIns="0" tIns="0" rIns="0" bIns="0"/>
          <a:lstStyle>
            <a:lvl1pPr marL="215900" indent="-215900">
              <a:spcBef>
                <a:spcPts val="0"/>
              </a:spcBef>
              <a:spcAft>
                <a:spcPts val="450"/>
              </a:spcAft>
              <a:buFont typeface="Arial" panose="020B0604020202020204" pitchFamily="34" charset="0"/>
              <a:buChar char="■"/>
              <a:defRPr sz="2000"/>
            </a:lvl1pPr>
            <a:lvl2pPr marL="431800" indent="-215900"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□"/>
              <a:defRPr sz="1800"/>
            </a:lvl2pPr>
            <a:lvl3pPr marL="647700" indent="-215900">
              <a:spcBef>
                <a:spcPts val="0"/>
              </a:spcBef>
              <a:spcAft>
                <a:spcPts val="350"/>
              </a:spcAft>
              <a:buFont typeface="Arial" panose="020B0604020202020204" pitchFamily="34" charset="0"/>
              <a:buChar char="■"/>
              <a:defRPr sz="1800"/>
            </a:lvl3pPr>
            <a:lvl4pPr marL="863600" indent="-215900">
              <a:spcBef>
                <a:spcPts val="0"/>
              </a:spcBef>
              <a:spcAft>
                <a:spcPts val="300"/>
              </a:spcAft>
              <a:buFont typeface="Symbol" panose="05050102010706020507" pitchFamily="18" charset="2"/>
              <a:buChar char="-"/>
              <a:defRPr/>
            </a:lvl4pPr>
            <a:lvl5pPr marL="1080135" indent="-215900">
              <a:spcBef>
                <a:spcPts val="0"/>
              </a:spcBef>
              <a:spcAft>
                <a:spcPts val="250"/>
              </a:spcAft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de-DE"/>
              <a:t>Textmasterformat bearbeiten</a:t>
            </a:r>
            <a:endParaRPr lang="de-DE"/>
          </a:p>
          <a:p>
            <a:pPr lvl="1"/>
            <a:r>
              <a:rPr lang="de-DE"/>
              <a:t>Zweite Ebene</a:t>
            </a:r>
            <a:endParaRPr lang="de-DE"/>
          </a:p>
          <a:p>
            <a:pPr lvl="2"/>
            <a:r>
              <a:rPr lang="de-DE"/>
              <a:t>Dritte Ebene</a:t>
            </a:r>
            <a:endParaRPr lang="de-DE"/>
          </a:p>
          <a:p>
            <a:pPr lvl="3"/>
            <a:r>
              <a:rPr lang="de-DE"/>
              <a:t>Vierte Ebene</a:t>
            </a:r>
            <a:endParaRPr lang="de-DE"/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85D6FCC3-EE37-4749-9624-859AF44EE717}" type="datetime5">
              <a:rPr lang="zh-CN" altLang="en-US" smtClean="0"/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lt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3950" y="201600"/>
            <a:ext cx="11422513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pPr algn="l"/>
            <a:fld id="{E47FF345-F1B3-44B8-9B74-D6676F7F0EE5}" type="datetime5">
              <a:rPr lang="zh-CN" altLang="en-US" smtClean="0"/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.emf"/><Relationship Id="rId8" Type="http://schemas.openxmlformats.org/officeDocument/2006/relationships/oleObject" Target="../embeddings/oleObject3.bin"/><Relationship Id="rId7" Type="http://schemas.openxmlformats.org/officeDocument/2006/relationships/tags" Target="../tags/tag3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vmlDrawing" Target="../drawings/vmlDrawing3.vml"/><Relationship Id="rId10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7.bin"/><Relationship Id="rId8" Type="http://schemas.openxmlformats.org/officeDocument/2006/relationships/tags" Target="../tags/tag7.xml"/><Relationship Id="rId7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3" Type="http://schemas.openxmlformats.org/officeDocument/2006/relationships/theme" Target="../theme/theme2.xml"/><Relationship Id="rId12" Type="http://schemas.openxmlformats.org/officeDocument/2006/relationships/vmlDrawing" Target="../drawings/vmlDrawing7.vml"/><Relationship Id="rId11" Type="http://schemas.openxmlformats.org/officeDocument/2006/relationships/image" Target="../media/image3.emf"/><Relationship Id="rId10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kt 5" hidden="1"/>
          <p:cNvGraphicFramePr>
            <a:graphicFrameLocks noChangeAspect="1"/>
          </p:cNvGraphicFramePr>
          <p:nvPr userDrawn="1">
            <p:custDataLst>
              <p:tags r:id="rId7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8" imgW="9525" imgH="9525" progId="TCLayout.ActiveDocument.1">
                  <p:embed/>
                </p:oleObj>
              </mc:Choice>
              <mc:Fallback>
                <p:oleObj name="think-cell Folie" r:id="rId8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1" name="Gerader Verbinder 10"/>
          <p:cNvCxnSpPr/>
          <p:nvPr/>
        </p:nvCxnSpPr>
        <p:spPr>
          <a:xfrm>
            <a:off x="383068" y="814388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umsplatzhalter 1"/>
          <p:cNvSpPr>
            <a:spLocks noGrp="1"/>
          </p:cNvSpPr>
          <p:nvPr>
            <p:ph type="dt" sz="half" idx="2"/>
          </p:nvPr>
        </p:nvSpPr>
        <p:spPr>
          <a:xfrm>
            <a:off x="935480" y="6361350"/>
            <a:ext cx="5668062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fld id="{D35072EC-9367-4D7B-8652-6A082F0A7E89}" type="datetime5">
              <a:rPr lang="zh-CN" altLang="en-US" smtClean="0"/>
            </a:fld>
            <a:endParaRPr lang="de-DE" dirty="0"/>
          </a:p>
        </p:txBody>
      </p:sp>
      <p:sp>
        <p:nvSpPr>
          <p:cNvPr id="4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818425" y="6361350"/>
            <a:ext cx="4391428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5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383950" y="6361350"/>
            <a:ext cx="974273" cy="39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4D01E63C-D794-4429-8564-635E6253AC5C}" type="slidenum">
              <a:rPr lang="en-US" smtClean="0"/>
            </a:fld>
            <a:endParaRPr lang="en-US" dirty="0"/>
          </a:p>
        </p:txBody>
      </p:sp>
      <p:sp>
        <p:nvSpPr>
          <p:cNvPr id="7" name="Textfeld 4"/>
          <p:cNvSpPr txBox="1"/>
          <p:nvPr/>
        </p:nvSpPr>
        <p:spPr>
          <a:xfrm>
            <a:off x="1706633" y="6352041"/>
            <a:ext cx="3687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100" b="0" dirty="0">
                <a:solidFill>
                  <a:schemeClr val="tx2"/>
                </a:solidFill>
              </a:rPr>
              <a:t>|</a:t>
            </a:r>
            <a:endParaRPr lang="en-US" sz="1200" b="0" dirty="0">
              <a:solidFill>
                <a:schemeClr val="tx2"/>
              </a:solidFill>
            </a:endParaRPr>
          </a:p>
        </p:txBody>
      </p:sp>
      <p:sp>
        <p:nvSpPr>
          <p:cNvPr id="9" name="Textfeld 8"/>
          <p:cNvSpPr txBox="1"/>
          <p:nvPr/>
        </p:nvSpPr>
        <p:spPr>
          <a:xfrm>
            <a:off x="935242" y="6542541"/>
            <a:ext cx="691375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100" b="0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100" b="0" noProof="0" dirty="0">
              <a:solidFill>
                <a:schemeClr val="tx2"/>
              </a:solidFill>
            </a:endParaRPr>
          </a:p>
        </p:txBody>
      </p:sp>
      <p:pic>
        <p:nvPicPr>
          <p:cNvPr id="8" name="Grafik 6"/>
          <p:cNvPicPr>
            <a:picLocks noChangeAspect="1"/>
          </p:cNvPicPr>
          <p:nvPr userDrawn="1"/>
        </p:nvPicPr>
        <p:blipFill>
          <a:blip r:embed="rId10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kt 1" hidden="1"/>
          <p:cNvGraphicFramePr>
            <a:graphicFrameLocks noChangeAspect="1"/>
          </p:cNvGraphicFramePr>
          <p:nvPr userDrawn="1">
            <p:custDataLst>
              <p:tags r:id="rId8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think-cell Folie" r:id="rId9" imgW="9525" imgH="9525" progId="TCLayout.ActiveDocument.1">
                  <p:embed/>
                </p:oleObj>
              </mc:Choice>
              <mc:Fallback>
                <p:oleObj name="think-cell Folie" r:id="rId9" imgW="9525" imgH="9525" progId="TCLayout.ActiveDocument.1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Grafik 3"/>
          <p:cNvPicPr>
            <a:picLocks noChangeAspect="1"/>
          </p:cNvPicPr>
          <p:nvPr userDrawn="1"/>
        </p:nvPicPr>
        <p:blipFill>
          <a:blip r:embed="rId11" cstate="print"/>
          <a:stretch>
            <a:fillRect/>
          </a:stretch>
        </p:blipFill>
        <p:spPr>
          <a:xfrm>
            <a:off x="9137882" y="6205415"/>
            <a:ext cx="2778300" cy="655200"/>
          </a:xfrm>
          <a:prstGeom prst="rect">
            <a:avLst/>
          </a:prstGeom>
        </p:spPr>
      </p:pic>
      <p:cxnSp>
        <p:nvCxnSpPr>
          <p:cNvPr id="11" name="Gerader Verbinder 10"/>
          <p:cNvCxnSpPr/>
          <p:nvPr/>
        </p:nvCxnSpPr>
        <p:spPr>
          <a:xfrm>
            <a:off x="383068" y="814388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Gerader Verbinder 11"/>
          <p:cNvCxnSpPr/>
          <p:nvPr/>
        </p:nvCxnSpPr>
        <p:spPr>
          <a:xfrm>
            <a:off x="383068" y="6202363"/>
            <a:ext cx="1142427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Datumsplatzhalter 1"/>
          <p:cNvSpPr>
            <a:spLocks noGrp="1"/>
          </p:cNvSpPr>
          <p:nvPr>
            <p:ph type="dt" sz="half" idx="2"/>
          </p:nvPr>
        </p:nvSpPr>
        <p:spPr>
          <a:xfrm>
            <a:off x="935480" y="6361350"/>
            <a:ext cx="5668062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fld id="{C2CC8288-72D4-44E2-951D-741F8F954282}" type="datetime5">
              <a:rPr lang="zh-CN" altLang="en-US" smtClean="0"/>
            </a:fld>
            <a:endParaRPr lang="de-DE" dirty="0"/>
          </a:p>
        </p:txBody>
      </p:sp>
      <p:sp>
        <p:nvSpPr>
          <p:cNvPr id="14" name="Fußzeilenplatzhalter 2"/>
          <p:cNvSpPr>
            <a:spLocks noGrp="1"/>
          </p:cNvSpPr>
          <p:nvPr>
            <p:ph type="ftr" sz="quarter" idx="3"/>
          </p:nvPr>
        </p:nvSpPr>
        <p:spPr>
          <a:xfrm>
            <a:off x="1818425" y="6361350"/>
            <a:ext cx="4391428" cy="524824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 b="0">
                <a:solidFill>
                  <a:schemeClr val="tx2"/>
                </a:solidFill>
              </a:defRPr>
            </a:lvl1pPr>
          </a:lstStyle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15" name="Foliennummernplatzhalter 3"/>
          <p:cNvSpPr>
            <a:spLocks noGrp="1"/>
          </p:cNvSpPr>
          <p:nvPr>
            <p:ph type="sldNum" sz="quarter" idx="4"/>
          </p:nvPr>
        </p:nvSpPr>
        <p:spPr>
          <a:xfrm>
            <a:off x="383950" y="6361350"/>
            <a:ext cx="974273" cy="3960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fld id="{4D01E63C-D794-4429-8564-635E6253AC5C}" type="slidenum">
              <a:rPr lang="en-US" smtClean="0"/>
            </a:fld>
            <a:endParaRPr lang="en-US" dirty="0"/>
          </a:p>
        </p:txBody>
      </p:sp>
      <p:sp>
        <p:nvSpPr>
          <p:cNvPr id="16" name="Textfeld 15"/>
          <p:cNvSpPr txBox="1"/>
          <p:nvPr/>
        </p:nvSpPr>
        <p:spPr>
          <a:xfrm>
            <a:off x="1706633" y="6352041"/>
            <a:ext cx="36870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de-DE" sz="1100" b="0" dirty="0">
                <a:solidFill>
                  <a:schemeClr val="tx2"/>
                </a:solidFill>
              </a:rPr>
              <a:t>|</a:t>
            </a:r>
            <a:endParaRPr lang="en-US" sz="1200" b="0" dirty="0">
              <a:solidFill>
                <a:schemeClr val="tx2"/>
              </a:solidFill>
            </a:endParaRPr>
          </a:p>
        </p:txBody>
      </p:sp>
      <p:sp>
        <p:nvSpPr>
          <p:cNvPr id="17" name="Textfeld 16"/>
          <p:cNvSpPr txBox="1"/>
          <p:nvPr/>
        </p:nvSpPr>
        <p:spPr>
          <a:xfrm>
            <a:off x="935242" y="6542541"/>
            <a:ext cx="6913752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100" b="0" baseline="0" noProof="0" dirty="0">
                <a:solidFill>
                  <a:schemeClr val="tx2"/>
                </a:solidFill>
              </a:rPr>
              <a:t>Center for Ageing, Reliability and Lifetime Prediction of Electrochemical and Power Electronic Systems (CARL)</a:t>
            </a:r>
            <a:endParaRPr lang="de-DE" sz="1100" b="0" noProof="0" dirty="0">
              <a:solidFill>
                <a:schemeClr val="tx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</p:sldLayoutIdLst>
  <p:hf hdr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8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8.bin"/><Relationship Id="rId1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.xml"/><Relationship Id="rId4" Type="http://schemas.openxmlformats.org/officeDocument/2006/relationships/tags" Target="../tags/tag9.xml"/><Relationship Id="rId3" Type="http://schemas.openxmlformats.org/officeDocument/2006/relationships/image" Target="../media/image13.GIF"/><Relationship Id="rId2" Type="http://schemas.openxmlformats.org/officeDocument/2006/relationships/image" Target="../media/image12.jpeg"/><Relationship Id="rId1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9.v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emf"/><Relationship Id="rId2" Type="http://schemas.openxmlformats.org/officeDocument/2006/relationships/oleObject" Target="../embeddings/oleObject9.bin"/><Relationship Id="rId1" Type="http://schemas.openxmlformats.org/officeDocument/2006/relationships/tags" Target="../tags/tag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2" imgW="9525" imgH="9525" progId="TCLayout.ActiveDocument.1">
                  <p:embed/>
                </p:oleObj>
              </mc:Choice>
              <mc:Fallback>
                <p:oleObj name="think-cell Folie" r:id="rId2" imgW="9525" imgH="9525" progId="TCLayout.ActiveDocument.1">
                  <p:embed/>
                  <p:pic>
                    <p:nvPicPr>
                      <p:cNvPr id="0" name="图片 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1"/>
          <p:cNvSpPr>
            <a:spLocks noGrp="1"/>
          </p:cNvSpPr>
          <p:nvPr>
            <p:ph type="ctrTitle"/>
          </p:nvPr>
        </p:nvSpPr>
        <p:spPr>
          <a:xfrm>
            <a:off x="384175" y="2725420"/>
            <a:ext cx="11422380" cy="3261995"/>
          </a:xfrm>
        </p:spPr>
        <p:txBody>
          <a:bodyPr/>
          <a:lstStyle/>
          <a:p>
            <a:pPr algn="l"/>
            <a:r>
              <a:rPr lang="en-US" altLang="zh-CN" dirty="0"/>
              <a:t>Chemie</a:t>
            </a:r>
            <a:r>
              <a:rPr lang="en-US" altLang="en-US" dirty="0"/>
              <a:t>ü</a:t>
            </a:r>
            <a:r>
              <a:rPr lang="en-US" altLang="zh-CN" dirty="0"/>
              <a:t>bergreifende Transfer Learning f</a:t>
            </a:r>
            <a:r>
              <a:rPr lang="en-US" altLang="en-US" dirty="0"/>
              <a:t>ü</a:t>
            </a:r>
            <a:r>
              <a:rPr lang="en-US" altLang="zh-CN" dirty="0"/>
              <a:t>r die </a:t>
            </a:r>
            <a:br>
              <a:rPr lang="en-US" altLang="zh-CN" dirty="0"/>
            </a:br>
            <a:r>
              <a:rPr lang="en-US" altLang="zh-CN" dirty="0"/>
              <a:t>Vorhersage der Batteriekapazit</a:t>
            </a:r>
            <a:r>
              <a:rPr lang="en-US" altLang="en-US" dirty="0"/>
              <a:t>ä</a:t>
            </a:r>
            <a:r>
              <a:rPr lang="en-US" altLang="zh-CN" dirty="0"/>
              <a:t>t von Li-Ion-Batterien</a:t>
            </a:r>
            <a:br>
              <a:rPr lang="en-US" altLang="zh-CN" dirty="0"/>
            </a:br>
            <a:br>
              <a:rPr lang="en-US" altLang="zh-CN" dirty="0"/>
            </a:b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pPr algn="l"/>
            <a:fld id="{6D3069C6-0311-4A39-8CC1-DA405FE38D0C}" type="datetime5">
              <a:rPr lang="zh-CN" altLang="en-US" smtClean="0"/>
            </a:fld>
            <a:endParaRPr lang="de-DE" dirty="0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Liang Huang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Aging mechanism in Li ion cells and calendar life predictions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</a:fld>
            <a:endParaRPr lang="de-DE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内容占位符 5"/>
              <p:cNvSpPr>
                <a:spLocks noGrp="1"/>
              </p:cNvSpPr>
              <p:nvPr>
                <p:ph idx="1"/>
              </p:nvPr>
            </p:nvSpPr>
            <p:spPr>
              <a:xfrm>
                <a:off x="384175" y="1151890"/>
                <a:ext cx="8107045" cy="4731385"/>
              </a:xfrm>
            </p:spPr>
            <p:txBody>
              <a:bodyPr/>
              <a:lstStyle/>
              <a:p>
                <a:r>
                  <a:rPr lang="zh-CN" altLang="en-US" sz="2000" b="1" dirty="0">
                    <a:sym typeface="Wingdings" panose="05000000000000000000" pitchFamily="2" charset="2"/>
                  </a:rPr>
                  <a:t>基于</a:t>
                </a:r>
                <a:r>
                  <a:rPr lang="en-US" altLang="zh-CN" sz="2000" b="1" dirty="0">
                    <a:sym typeface="Wingdings" panose="05000000000000000000" pitchFamily="2" charset="2"/>
                  </a:rPr>
                  <a:t>SEI</a:t>
                </a:r>
                <a:r>
                  <a:rPr lang="zh-CN" altLang="en-US" sz="2000" b="1" dirty="0">
                    <a:sym typeface="Wingdings" panose="05000000000000000000" pitchFamily="2" charset="2"/>
                  </a:rPr>
                  <a:t>膜生长的物理动力学推导了电池日历老化的抛物线数学模型，为后续解耦日历老化与循环老化提供了标准公式。</a:t>
                </a:r>
                <a:endParaRPr lang="zh-CN" altLang="en-US" sz="2000" b="1" dirty="0">
                  <a:sym typeface="Wingdings" panose="05000000000000000000" pitchFamily="2" charset="2"/>
                </a:endParaRPr>
              </a:p>
              <a:p>
                <a:r>
                  <a:rPr lang="zh-CN" altLang="en-US" sz="2000" dirty="0">
                    <a:sym typeface="Wingdings" panose="05000000000000000000" pitchFamily="2" charset="2"/>
                  </a:rPr>
                  <a:t>通过对高温老化后的全电池进行拆解重组，证实正极容量未减，衰减完全</a:t>
                </a:r>
                <a:r>
                  <a:rPr lang="zh-CN" alt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来源于石墨负极的活性锂损失</a:t>
                </a:r>
                <a:r>
                  <a:rPr lang="zh-CN" altLang="en-US" sz="2000" dirty="0">
                    <a:sym typeface="Wingdings" panose="05000000000000000000" pitchFamily="2" charset="2"/>
                  </a:rPr>
                  <a:t>（</a:t>
                </a:r>
                <a:r>
                  <a:rPr lang="en-US" altLang="zh-CN" sz="2000" dirty="0">
                    <a:sym typeface="Wingdings" panose="05000000000000000000" pitchFamily="2" charset="2"/>
                  </a:rPr>
                  <a:t>LLI）。</a:t>
                </a:r>
                <a:endParaRPr lang="en-US" altLang="zh-CN" sz="2000" dirty="0">
                  <a:sym typeface="Wingdings" panose="05000000000000000000" pitchFamily="2" charset="2"/>
                </a:endParaRPr>
              </a:p>
              <a:p>
                <a:r>
                  <a:rPr lang="zh-CN" altLang="en-US" sz="2000" dirty="0">
                    <a:sym typeface="+mn-ea"/>
                  </a:rPr>
                  <a:t>日历老化受控于负极</a:t>
                </a:r>
                <a:r>
                  <a:rPr lang="en-US" altLang="zh-CN" sz="2000" dirty="0">
                    <a:sym typeface="+mn-ea"/>
                  </a:rPr>
                  <a:t>SEI</a:t>
                </a:r>
                <a:r>
                  <a:rPr lang="zh-CN" altLang="en-US" sz="2000" dirty="0">
                    <a:sym typeface="+mn-ea"/>
                  </a:rPr>
                  <a:t>膜生长的扩散动力学，其容量衰减在数学上</a:t>
                </a:r>
                <a:endParaRPr lang="zh-CN" altLang="en-US" sz="2000" dirty="0">
                  <a:sym typeface="+mn-ea"/>
                </a:endParaRPr>
              </a:p>
              <a:p>
                <a:pPr marL="215900" lvl="1" indent="0">
                  <a:buNone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1440" dirty="0">
                        <a:latin typeface="Cambria Math" panose="02040503050406030204" charset="0"/>
                        <a:cs typeface="Cambria Math" panose="02040503050406030204" charset="0"/>
                      </a:rPr>
                      <m:t>t</m:t>
                    </m:r>
                    <m:r>
                      <a:rPr lang="en-US" altLang="zh-CN" sz="1440" dirty="0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1440" dirty="0">
                        <a:latin typeface="Cambria Math" panose="02040503050406030204" charset="0"/>
                        <a:cs typeface="Cambria Math" panose="02040503050406030204" charset="0"/>
                      </a:rPr>
                      <m:t>A</m:t>
                    </m:r>
                    <m:sSup>
                      <m:sSupPr>
                        <m:ctrlPr>
                          <a:rPr lang="en-US" altLang="zh-CN" sz="1440" i="1" dirty="0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1440" i="1" dirty="0">
                            <a:latin typeface="Cambria Math" panose="02040503050406030204" charset="0"/>
                            <a:cs typeface="Cambria Math" panose="02040503050406030204" charset="0"/>
                          </a:rPr>
                          <m:t>𝑥</m:t>
                        </m:r>
                      </m:e>
                      <m:sup>
                        <m:r>
                          <a:rPr lang="en-US" altLang="zh-CN" sz="1440" i="1" dirty="0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sz="1440" dirty="0"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1440" dirty="0">
                        <a:latin typeface="Cambria Math" panose="02040503050406030204" charset="0"/>
                        <a:cs typeface="Cambria Math" panose="02040503050406030204" charset="0"/>
                      </a:rPr>
                      <m:t>Bx</m:t>
                    </m:r>
                  </m:oMath>
                </a14:m>
                <a:r>
                  <a:rPr lang="zh-CN" altLang="en-US" sz="1440" dirty="0">
                    <a:sym typeface="+mn-ea"/>
                  </a:rPr>
                  <a:t>（</a:t>
                </a:r>
                <a14:m>
                  <m:oMath xmlns:m="http://schemas.openxmlformats.org/officeDocument/2006/math">
                    <m:r>
                      <a:rPr lang="zh-CN" altLang="en-US" sz="1440" dirty="0">
                        <a:latin typeface="Cambria Math" panose="02040503050406030204" charset="0"/>
                      </a:rPr>
                      <m:t>可简化为</m:t>
                    </m:r>
                    <m:r>
                      <a:rPr lang="en-US" altLang="zh-CN" sz="1440" i="1" dirty="0">
                        <a:latin typeface="Cambria Math" panose="02040503050406030204" charset="0"/>
                        <a:cs typeface="Cambria Math" panose="02040503050406030204" charset="0"/>
                      </a:rPr>
                      <m:t>𝛥</m:t>
                    </m:r>
                    <m:r>
                      <a:rPr lang="en-US" altLang="zh-CN" sz="1440" i="1" dirty="0">
                        <a:latin typeface="Cambria Math" panose="02040503050406030204" charset="0"/>
                        <a:cs typeface="Cambria Math" panose="02040503050406030204" charset="0"/>
                      </a:rPr>
                      <m:t>𝐶</m:t>
                    </m:r>
                    <m:r>
                      <a:rPr lang="en-US" altLang="zh-CN" sz="1440" i="1" dirty="0">
                        <a:latin typeface="Cambria Math" panose="02040503050406030204" charset="0"/>
                        <a:cs typeface="Cambria Math" panose="02040503050406030204" charset="0"/>
                      </a:rPr>
                      <m:t> ∝ √</m:t>
                    </m:r>
                    <m:r>
                      <a:rPr lang="en-US" altLang="zh-CN" sz="1440" i="1" dirty="0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𝑡</m:t>
                    </m:r>
                  </m:oMath>
                </a14:m>
                <a:r>
                  <a:rPr lang="zh-CN" altLang="en-US" sz="1440" dirty="0">
                    <a:sym typeface="+mn-ea"/>
                  </a:rPr>
                  <a:t>）。</a:t>
                </a:r>
                <a:endParaRPr lang="zh-CN" altLang="en-US" sz="1440" dirty="0">
                  <a:sym typeface="+mn-ea"/>
                </a:endParaRPr>
              </a:p>
              <a:p>
                <a:r>
                  <a:rPr lang="en-US" altLang="zh-CN" sz="2000" dirty="0">
                    <a:sym typeface="+mn-ea"/>
                  </a:rPr>
                  <a:t>NCA</a:t>
                </a:r>
                <a:r>
                  <a:rPr lang="zh-CN" altLang="en-US" sz="2000" dirty="0">
                    <a:sym typeface="+mn-ea"/>
                  </a:rPr>
                  <a:t>和</a:t>
                </a:r>
                <a:r>
                  <a:rPr lang="en-US" altLang="zh-CN" sz="2000" dirty="0">
                    <a:sym typeface="+mn-ea"/>
                  </a:rPr>
                  <a:t>LFP</a:t>
                </a:r>
                <a:r>
                  <a:rPr lang="zh-CN" altLang="en-US" sz="2000" dirty="0">
                    <a:sym typeface="+mn-ea"/>
                  </a:rPr>
                  <a:t>均采用石墨负极，两者在老化机理上共享同一个抛物线模型。</a:t>
                </a:r>
                <a:endParaRPr lang="zh-CN" altLang="en-US" sz="2000" dirty="0">
                  <a:sym typeface="+mn-ea"/>
                </a:endParaRPr>
              </a:p>
              <a:p>
                <a:r>
                  <a:rPr lang="zh-CN" altLang="en-US" sz="2000" dirty="0">
                    <a:sym typeface="Wingdings" panose="05000000000000000000" pitchFamily="2" charset="2"/>
                  </a:rPr>
                  <a:t>镍基电池特有的</a:t>
                </a:r>
                <a:r>
                  <a:rPr lang="zh-CN" altLang="en-US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“锂储备（</a:t>
                </a:r>
                <a:r>
                  <a:rPr lang="en-US" altLang="zh-CN" sz="2000" dirty="0">
                    <a:solidFill>
                      <a:srgbClr val="FF0000"/>
                    </a:solidFill>
                    <a:sym typeface="Wingdings" panose="05000000000000000000" pitchFamily="2" charset="2"/>
                  </a:rPr>
                  <a:t>Lithium reserve）”</a:t>
                </a:r>
                <a:r>
                  <a:rPr lang="zh-CN" altLang="en-US" sz="2000" dirty="0">
                    <a:sym typeface="Wingdings" panose="05000000000000000000" pitchFamily="2" charset="2"/>
                  </a:rPr>
                  <a:t>掩蔽效应。如果只在常温（25°</a:t>
                </a:r>
                <a:r>
                  <a:rPr lang="en-US" altLang="zh-CN" sz="2000" dirty="0">
                    <a:sym typeface="Wingdings" panose="05000000000000000000" pitchFamily="2" charset="2"/>
                  </a:rPr>
                  <a:t>C）</a:t>
                </a:r>
                <a:r>
                  <a:rPr lang="zh-CN" altLang="en-US" sz="2000" dirty="0">
                    <a:sym typeface="Wingdings" panose="05000000000000000000" pitchFamily="2" charset="2"/>
                  </a:rPr>
                  <a:t>下测量，电池前4个月容量似乎完全没有衰减；但如果在高温（60°</a:t>
                </a:r>
                <a:r>
                  <a:rPr lang="en-US" altLang="zh-CN" sz="2000" dirty="0">
                    <a:sym typeface="Wingdings" panose="05000000000000000000" pitchFamily="2" charset="2"/>
                  </a:rPr>
                  <a:t>C）</a:t>
                </a:r>
                <a:r>
                  <a:rPr lang="zh-CN" altLang="en-US" sz="2000" dirty="0">
                    <a:sym typeface="Wingdings" panose="05000000000000000000" pitchFamily="2" charset="2"/>
                  </a:rPr>
                  <a:t>下测量，真实的日历老化一直在线性发生。</a:t>
                </a:r>
                <a:endParaRPr lang="en-US" altLang="zh-CN" sz="2000" dirty="0">
                  <a:sym typeface="Wingdings" panose="05000000000000000000" pitchFamily="2" charset="2"/>
                </a:endParaRPr>
              </a:p>
              <a:p>
                <a:r>
                  <a:rPr lang="zh-CN" altLang="en-US" dirty="0"/>
                  <a:t>日历 </a:t>
                </a:r>
                <a:r>
                  <a:rPr lang="en-US" altLang="zh-CN" dirty="0"/>
                  <a:t>vs </a:t>
                </a:r>
                <a:r>
                  <a:rPr lang="zh-CN" altLang="en-US" dirty="0"/>
                  <a:t>循环的分解：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smtClean="0">
                            <a:latin typeface="Cambria Math" panose="02040503050406030204" charset="0"/>
                          </a:rPr>
                          <m:t>loss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 smtClean="0">
                            <a:latin typeface="Cambria Math" panose="02040503050406030204" charset="0"/>
                          </a:rPr>
                          <m:t>total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charset="0"/>
                      </a:rPr>
                      <m:t>= 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 smtClean="0">
                            <a:latin typeface="Cambria Math" panose="02040503050406030204" charset="0"/>
                          </a:rPr>
                          <m:t>loss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 smtClean="0">
                            <a:latin typeface="Cambria Math" panose="02040503050406030204" charset="0"/>
                          </a:rPr>
                          <m:t>cal</m:t>
                        </m:r>
                      </m:sup>
                    </m:sSubSup>
                    <m:r>
                      <a:rPr lang="en-US" altLang="zh-CN" b="0" i="1" smtClean="0">
                        <a:latin typeface="Cambria Math" panose="02040503050406030204" charset="0"/>
                      </a:rPr>
                      <m:t>(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𝑇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𝑉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𝑡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)+ </m:t>
                    </m:r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charset="0"/>
                          </a:rPr>
                          <m:t>𝑄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𝑙𝑜𝑠𝑠</m:t>
                        </m:r>
                      </m:sub>
                      <m:sup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𝑐𝑦𝑐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𝑇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𝐼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𝐷𝑂𝐷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,</m:t>
                    </m:r>
                    <m:r>
                      <a:rPr lang="en-US" altLang="zh-CN" b="0" i="1" smtClean="0">
                        <a:latin typeface="Cambria Math" panose="02040503050406030204" charset="0"/>
                      </a:rPr>
                      <m:t>𝑁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)</m:t>
                    </m:r>
                  </m:oMath>
                </a14:m>
                <a:endParaRPr lang="en-US" altLang="zh-CN" sz="2000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i="1">
                            <a:latin typeface="Cambria Math" panose="02040503050406030204" charset="0"/>
                          </a:rPr>
                        </m:ctrlPr>
                      </m:sSubSupPr>
                      <m:e>
                        <m:r>
                          <a:rPr lang="en-US" altLang="zh-CN" i="1">
                            <a:latin typeface="Cambria Math" panose="02040503050406030204" charset="0"/>
                          </a:rPr>
                          <m:t>𝑄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charset="0"/>
                          </a:rPr>
                          <m:t>loss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charset="0"/>
                          </a:rPr>
                          <m:t>cal</m:t>
                        </m:r>
                      </m:sup>
                    </m:sSubSup>
                    <m:r>
                      <a:rPr lang="en-US" altLang="zh-CN" i="1">
                        <a:latin typeface="Cambria Math" panose="02040503050406030204" charset="0"/>
                      </a:rPr>
                      <m:t>(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𝑇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𝑉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,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𝑡</m:t>
                    </m:r>
                    <m:r>
                      <a:rPr lang="en-US" altLang="zh-CN" i="1">
                        <a:latin typeface="Cambria Math" panose="02040503050406030204" charset="0"/>
                      </a:rPr>
                      <m:t>)</m:t>
                    </m:r>
                    <m:r>
                      <a:rPr lang="zh-CN" altLang="en-US" i="1" smtClean="0">
                        <a:latin typeface="Cambria Math" panose="02040503050406030204" charset="0"/>
                      </a:rPr>
                      <m:t>可以</m:t>
                    </m:r>
                    <m:r>
                      <m:rPr>
                        <m:nor/>
                      </m:rPr>
                      <a:rPr lang="zh-CN" altLang="en-US">
                        <a:latin typeface="Cambria Math" panose="02040503050406030204" charset="0"/>
                      </a:rPr>
                      <m:t>用本文</m:t>
                    </m:r>
                    <m:r>
                      <a:rPr lang="zh-CN" altLang="en-US" i="1" smtClean="0">
                        <a:latin typeface="Cambria Math" panose="02040503050406030204" charset="0"/>
                      </a:rPr>
                      <m:t>的</m:t>
                    </m:r>
                    <m:r>
                      <m:rPr>
                        <m:nor/>
                      </m:rPr>
                      <a:rPr lang="zh-CN" altLang="en-US">
                        <a:latin typeface="Cambria Math" panose="02040503050406030204" charset="0"/>
                      </a:rPr>
                      <m:t>抛物线模型</m:t>
                    </m:r>
                  </m:oMath>
                </a14:m>
                <a:endParaRPr lang="zh-CN" altLang="en-US" dirty="0"/>
              </a:p>
              <a:p>
                <a:endParaRPr lang="zh-CN" altLang="en-US" sz="2000" dirty="0">
                  <a:sym typeface="Wingdings" panose="05000000000000000000" pitchFamily="2" charset="2"/>
                </a:endParaRPr>
              </a:p>
              <a:p>
                <a:endParaRPr lang="zh-CN" altLang="en-US" dirty="0">
                  <a:sym typeface="Wingdings" panose="05000000000000000000" pitchFamily="2" charset="2"/>
                </a:endParaRPr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6" name="内容占位符 5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4175" y="1151890"/>
                <a:ext cx="8107045" cy="4731385"/>
              </a:xfrm>
              <a:blipFill rotWithShape="1">
                <a:blip r:embed="rId1"/>
                <a:stretch>
                  <a:fillRect r="-2749" b="-7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图片 2"/>
          <p:cNvPicPr/>
          <p:nvPr/>
        </p:nvPicPr>
        <p:blipFill>
          <a:blip r:embed="rId2"/>
          <a:stretch>
            <a:fillRect/>
          </a:stretch>
        </p:blipFill>
        <p:spPr>
          <a:xfrm>
            <a:off x="8491220" y="1533525"/>
            <a:ext cx="3259455" cy="1895475"/>
          </a:xfrm>
          <a:prstGeom prst="rect">
            <a:avLst/>
          </a:prstGeom>
        </p:spPr>
      </p:pic>
      <p:pic>
        <p:nvPicPr>
          <p:cNvPr id="7" name="图片 6"/>
          <p:cNvPicPr/>
          <p:nvPr/>
        </p:nvPicPr>
        <p:blipFill>
          <a:blip r:embed="rId3"/>
          <a:stretch>
            <a:fillRect/>
          </a:stretch>
        </p:blipFill>
        <p:spPr>
          <a:xfrm>
            <a:off x="8515350" y="3690620"/>
            <a:ext cx="3235325" cy="1642745"/>
          </a:xfrm>
          <a:prstGeom prst="rect">
            <a:avLst/>
          </a:prstGeom>
        </p:spPr>
      </p:pic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Data-driven state of health and state of safety estimation for alternative battery chemistries— A comparative review focusing on sodium-ion and LFP lithium-ion batteries</a:t>
            </a:r>
            <a:endParaRPr lang="en-US" altLang="zh-CN" sz="2000" dirty="0"/>
          </a:p>
        </p:txBody>
      </p:sp>
      <p:sp>
        <p:nvSpPr>
          <p:cNvPr id="9" name="内容占位符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dirty="0">
                <a:sym typeface="Wingdings" panose="05000000000000000000" pitchFamily="2" charset="2"/>
              </a:rPr>
              <a:t>对比了数据驱动方法在不同化学电池上的应用差异，重点</a:t>
            </a:r>
            <a:r>
              <a:rPr lang="zh-CN" altLang="en-US" b="1" dirty="0">
                <a:sym typeface="Wingdings" panose="05000000000000000000" pitchFamily="2" charset="2"/>
              </a:rPr>
              <a:t>强调了</a:t>
            </a:r>
            <a:r>
              <a:rPr lang="en-US" altLang="zh-CN" b="1" dirty="0">
                <a:sym typeface="Wingdings" panose="05000000000000000000" pitchFamily="2" charset="2"/>
              </a:rPr>
              <a:t>LFP</a:t>
            </a:r>
            <a:r>
              <a:rPr lang="zh-CN" altLang="en-US" b="1" dirty="0">
                <a:sym typeface="Wingdings" panose="05000000000000000000" pitchFamily="2" charset="2"/>
              </a:rPr>
              <a:t>电池“平坦电压平台”给跨化学迁移模型带来的挑战</a:t>
            </a:r>
            <a:endParaRPr lang="zh-CN" altLang="en-US" b="1" dirty="0">
              <a:sym typeface="Wingdings" panose="05000000000000000000" pitchFamily="2" charset="2"/>
            </a:endParaRPr>
          </a:p>
          <a:p>
            <a:r>
              <a:rPr lang="zh-CN" altLang="en-US" dirty="0">
                <a:sym typeface="Wingdings" panose="05000000000000000000" pitchFamily="2" charset="2"/>
              </a:rPr>
              <a:t>依赖电压–</a:t>
            </a:r>
            <a:r>
              <a:rPr lang="en-US" altLang="zh-CN" dirty="0">
                <a:sym typeface="Wingdings" panose="05000000000000000000" pitchFamily="2" charset="2"/>
              </a:rPr>
              <a:t>SoC </a:t>
            </a:r>
            <a:r>
              <a:rPr lang="zh-CN" altLang="en-US" dirty="0">
                <a:sym typeface="Wingdings" panose="05000000000000000000" pitchFamily="2" charset="2"/>
              </a:rPr>
              <a:t>单调映射的特征会在目标域失效</a:t>
            </a:r>
            <a:endParaRPr lang="zh-CN" altLang="en-US" dirty="0">
              <a:sym typeface="Wingdings" panose="05000000000000000000" pitchFamily="2" charset="2"/>
            </a:endParaRPr>
          </a:p>
          <a:p>
            <a:pPr lvl="1"/>
            <a:r>
              <a:rPr lang="en-US" altLang="zh-CN" sz="1800" dirty="0">
                <a:sym typeface="Wingdings" panose="05000000000000000000" pitchFamily="2" charset="2"/>
              </a:rPr>
              <a:t>LFP</a:t>
            </a:r>
            <a:r>
              <a:rPr lang="zh-CN" altLang="en-US" sz="1800" dirty="0">
                <a:sym typeface="Wingdings" panose="05000000000000000000" pitchFamily="2" charset="2"/>
              </a:rPr>
              <a:t>：</a:t>
            </a:r>
            <a:r>
              <a:rPr lang="en-US" altLang="zh-CN" sz="1800" dirty="0">
                <a:sym typeface="Wingdings" panose="05000000000000000000" pitchFamily="2" charset="2"/>
              </a:rPr>
              <a:t>OCV–SoC </a:t>
            </a:r>
            <a:r>
              <a:rPr lang="zh-CN" altLang="en-US" sz="1800" dirty="0">
                <a:sym typeface="Wingdings" panose="05000000000000000000" pitchFamily="2" charset="2"/>
              </a:rPr>
              <a:t>曲线非常平坦（宽恒压平台），导致基于 </a:t>
            </a:r>
            <a:r>
              <a:rPr lang="en-US" altLang="zh-CN" sz="1800" dirty="0">
                <a:sym typeface="Wingdings" panose="05000000000000000000" pitchFamily="2" charset="2"/>
              </a:rPr>
              <a:t>SoC/OCV </a:t>
            </a:r>
            <a:r>
              <a:rPr lang="zh-CN" altLang="en-US" sz="1800" dirty="0">
                <a:sym typeface="Wingdings" panose="05000000000000000000" pitchFamily="2" charset="2"/>
              </a:rPr>
              <a:t>的方法在 </a:t>
            </a:r>
            <a:r>
              <a:rPr lang="en-US" altLang="zh-CN" sz="1800" dirty="0">
                <a:sym typeface="Wingdings" panose="05000000000000000000" pitchFamily="2" charset="2"/>
              </a:rPr>
              <a:t>LFP </a:t>
            </a:r>
            <a:r>
              <a:rPr lang="zh-CN" altLang="en-US" sz="1800" dirty="0">
                <a:sym typeface="Wingdings" panose="05000000000000000000" pitchFamily="2" charset="2"/>
              </a:rPr>
              <a:t>上精度受限</a:t>
            </a:r>
            <a:endParaRPr lang="zh-CN" altLang="en-US" sz="1800" dirty="0">
              <a:sym typeface="Wingdings" panose="05000000000000000000" pitchFamily="2" charset="2"/>
            </a:endParaRPr>
          </a:p>
          <a:p>
            <a:pPr lvl="1"/>
            <a:r>
              <a:rPr lang="en-US" altLang="zh-CN" sz="2000" dirty="0">
                <a:sym typeface="Wingdings" panose="05000000000000000000" pitchFamily="2" charset="2"/>
              </a:rPr>
              <a:t>NCA / NMC：OCV </a:t>
            </a:r>
            <a:r>
              <a:rPr lang="zh-CN" altLang="en-US" sz="2000" dirty="0">
                <a:sym typeface="Wingdings" panose="05000000000000000000" pitchFamily="2" charset="2"/>
              </a:rPr>
              <a:t>随 </a:t>
            </a:r>
            <a:r>
              <a:rPr lang="en-US" altLang="zh-CN" sz="2000" dirty="0">
                <a:sym typeface="Wingdings" panose="05000000000000000000" pitchFamily="2" charset="2"/>
              </a:rPr>
              <a:t>SoC </a:t>
            </a:r>
            <a:r>
              <a:rPr lang="zh-CN" altLang="en-US" sz="2000" dirty="0">
                <a:sym typeface="Wingdings" panose="05000000000000000000" pitchFamily="2" charset="2"/>
              </a:rPr>
              <a:t>变化较显著</a:t>
            </a:r>
            <a:endParaRPr lang="zh-CN" altLang="en-US" sz="2000" dirty="0">
              <a:sym typeface="Wingdings" panose="05000000000000000000" pitchFamily="2" charset="2"/>
            </a:endParaRPr>
          </a:p>
          <a:p>
            <a:pPr lvl="0"/>
            <a:r>
              <a:rPr lang="en-US" altLang="zh-CN" sz="2000" dirty="0">
                <a:sym typeface="Wingdings" panose="05000000000000000000" pitchFamily="2" charset="2"/>
              </a:rPr>
              <a:t>LFP </a:t>
            </a:r>
            <a:r>
              <a:rPr lang="zh-CN" altLang="en-US" sz="2000" dirty="0">
                <a:sym typeface="Wingdings" panose="05000000000000000000" pitchFamily="2" charset="2"/>
              </a:rPr>
              <a:t>的 </a:t>
            </a:r>
            <a:r>
              <a:rPr lang="en-US" altLang="zh-CN" sz="2000" dirty="0">
                <a:sym typeface="Wingdings" panose="05000000000000000000" pitchFamily="2" charset="2"/>
              </a:rPr>
              <a:t>OCV </a:t>
            </a:r>
            <a:r>
              <a:rPr lang="zh-CN" altLang="en-US" sz="2000" dirty="0">
                <a:sym typeface="Wingdings" panose="05000000000000000000" pitchFamily="2" charset="2"/>
              </a:rPr>
              <a:t>滞后效应明显，建模时需引入滞后子模型</a:t>
            </a:r>
            <a:endParaRPr lang="zh-CN" altLang="en-US" sz="2000" dirty="0">
              <a:sym typeface="Wingdings" panose="05000000000000000000" pitchFamily="2" charset="2"/>
            </a:endParaRPr>
          </a:p>
          <a:p>
            <a:pPr lvl="0"/>
            <a:r>
              <a:rPr lang="en-US" altLang="zh-CN" sz="2000" dirty="0">
                <a:sym typeface="Wingdings" panose="05000000000000000000" pitchFamily="2" charset="2"/>
              </a:rPr>
              <a:t>C-rate </a:t>
            </a:r>
            <a:r>
              <a:rPr lang="zh-CN" altLang="en-US" sz="2000" dirty="0">
                <a:sym typeface="Wingdings" panose="05000000000000000000" pitchFamily="2" charset="2"/>
              </a:rPr>
              <a:t>敏感性：</a:t>
            </a:r>
            <a:r>
              <a:rPr lang="en-US" altLang="zh-CN" sz="2000" dirty="0">
                <a:sym typeface="Wingdings" panose="05000000000000000000" pitchFamily="2" charset="2"/>
              </a:rPr>
              <a:t>LFP</a:t>
            </a:r>
            <a:r>
              <a:rPr lang="zh-CN" altLang="en-US" sz="2000" dirty="0">
                <a:sym typeface="Wingdings" panose="05000000000000000000" pitchFamily="2" charset="2"/>
              </a:rPr>
              <a:t>在低 </a:t>
            </a:r>
            <a:r>
              <a:rPr lang="en-US" altLang="zh-CN" sz="2000" dirty="0">
                <a:sym typeface="Wingdings" panose="05000000000000000000" pitchFamily="2" charset="2"/>
              </a:rPr>
              <a:t>C-rate </a:t>
            </a:r>
            <a:r>
              <a:rPr lang="zh-CN" altLang="en-US" sz="2000" dirty="0">
                <a:sym typeface="Wingdings" panose="05000000000000000000" pitchFamily="2" charset="2"/>
              </a:rPr>
              <a:t>下衰减离散度显著降低</a:t>
            </a:r>
            <a:endParaRPr lang="zh-CN" altLang="en-US" sz="2000" dirty="0">
              <a:sym typeface="Wingdings" panose="05000000000000000000" pitchFamily="2" charset="2"/>
            </a:endParaRPr>
          </a:p>
          <a:p>
            <a:pPr lvl="0"/>
            <a:r>
              <a:rPr lang="en-US" altLang="zh-CN" sz="2000" dirty="0">
                <a:sym typeface="Wingdings" panose="05000000000000000000" pitchFamily="2" charset="2"/>
              </a:rPr>
              <a:t>Attention-based RNN </a:t>
            </a:r>
            <a:r>
              <a:rPr lang="zh-CN" altLang="en-US" sz="2000" dirty="0">
                <a:sym typeface="Wingdings" panose="05000000000000000000" pitchFamily="2" charset="2"/>
              </a:rPr>
              <a:t>通用模型：基于 </a:t>
            </a:r>
            <a:r>
              <a:rPr lang="en-US" altLang="zh-CN" sz="2000" dirty="0">
                <a:sym typeface="Wingdings" panose="05000000000000000000" pitchFamily="2" charset="2"/>
              </a:rPr>
              <a:t>LSTM encoder-decoder </a:t>
            </a:r>
            <a:r>
              <a:rPr lang="zh-CN" altLang="en-US" sz="2000" dirty="0">
                <a:sym typeface="Wingdings" panose="05000000000000000000" pitchFamily="2" charset="2"/>
              </a:rPr>
              <a:t>架构，能在锂离子与钠离子上工作</a:t>
            </a:r>
            <a:endParaRPr lang="zh-CN" altLang="en-US" sz="2000" dirty="0">
              <a:sym typeface="Wingdings" panose="05000000000000000000" pitchFamily="2" charset="2"/>
            </a:endParaRPr>
          </a:p>
          <a:p>
            <a:pPr lvl="0"/>
            <a:r>
              <a:rPr lang="en-US" altLang="zh-CN" sz="2000" dirty="0">
                <a:sym typeface="Wingdings" panose="05000000000000000000" pitchFamily="2" charset="2"/>
              </a:rPr>
              <a:t>renormalization </a:t>
            </a:r>
            <a:r>
              <a:rPr lang="zh-CN" altLang="en-US" sz="2000" dirty="0">
                <a:sym typeface="Wingdings" panose="05000000000000000000" pitchFamily="2" charset="2"/>
              </a:rPr>
              <a:t>迁移策略：在锂离子上训练</a:t>
            </a:r>
            <a:r>
              <a:rPr lang="en-US" altLang="zh-CN" sz="2000" dirty="0">
                <a:sym typeface="Wingdings" panose="05000000000000000000" pitchFamily="2" charset="2"/>
              </a:rPr>
              <a:t>RNN</a:t>
            </a:r>
            <a:r>
              <a:rPr lang="zh-CN" altLang="en-US" sz="2000" dirty="0">
                <a:sym typeface="Wingdings" panose="05000000000000000000" pitchFamily="2" charset="2"/>
              </a:rPr>
              <a:t>，然后重归一化后应用到钠离子</a:t>
            </a:r>
            <a:r>
              <a:rPr lang="zh-CN" altLang="en-US" dirty="0">
                <a:sym typeface="Wingdings" panose="05000000000000000000" pitchFamily="2" charset="2"/>
              </a:rPr>
              <a:t>，</a:t>
            </a:r>
            <a:r>
              <a:rPr lang="zh-CN" altLang="en-US" sz="2000" dirty="0">
                <a:sym typeface="Wingdings" panose="05000000000000000000" pitchFamily="2" charset="2"/>
              </a:rPr>
              <a:t>能捕捉主趋势但有显著偏差</a:t>
            </a:r>
            <a:endParaRPr lang="zh-CN" altLang="en-US" sz="2000" dirty="0">
              <a:sym typeface="Wingdings" panose="05000000000000000000" pitchFamily="2" charset="2"/>
            </a:endParaRPr>
          </a:p>
          <a:p>
            <a:pPr lvl="0"/>
            <a:r>
              <a:rPr lang="en-US" altLang="zh-CN" sz="2000" dirty="0">
                <a:sym typeface="Wingdings" panose="05000000000000000000" pitchFamily="2" charset="2"/>
              </a:rPr>
              <a:t>“</a:t>
            </a:r>
            <a:r>
              <a:rPr lang="zh-CN" altLang="en-US" sz="2000" dirty="0">
                <a:sym typeface="Wingdings" panose="05000000000000000000" pitchFamily="2" charset="2"/>
              </a:rPr>
              <a:t>不存在 </a:t>
            </a:r>
            <a:r>
              <a:rPr lang="en-US" altLang="zh-CN" sz="2000" dirty="0">
                <a:sym typeface="Wingdings" panose="05000000000000000000" pitchFamily="2" charset="2"/>
              </a:rPr>
              <a:t>Li-ion </a:t>
            </a:r>
            <a:r>
              <a:rPr lang="zh-CN" altLang="en-US" sz="2000" dirty="0">
                <a:sym typeface="Wingdings" panose="05000000000000000000" pitchFamily="2" charset="2"/>
              </a:rPr>
              <a:t>与 </a:t>
            </a:r>
            <a:r>
              <a:rPr lang="en-US" altLang="zh-CN" sz="2000" dirty="0">
                <a:sym typeface="Wingdings" panose="05000000000000000000" pitchFamily="2" charset="2"/>
              </a:rPr>
              <a:t>Na-ion / NMC </a:t>
            </a:r>
            <a:r>
              <a:rPr lang="zh-CN" altLang="en-US" sz="2000" dirty="0">
                <a:sym typeface="Wingdings" panose="05000000000000000000" pitchFamily="2" charset="2"/>
              </a:rPr>
              <a:t>与 </a:t>
            </a:r>
            <a:r>
              <a:rPr lang="en-US" altLang="zh-CN" sz="2000" dirty="0">
                <a:sym typeface="Wingdings" panose="05000000000000000000" pitchFamily="2" charset="2"/>
              </a:rPr>
              <a:t>LFP </a:t>
            </a:r>
            <a:r>
              <a:rPr lang="zh-CN" altLang="en-US" sz="2000" dirty="0">
                <a:sym typeface="Wingdings" panose="05000000000000000000" pitchFamily="2" charset="2"/>
              </a:rPr>
              <a:t>之间的根本差异，使得它们必须采用完全不同类型的方法 —— 经验/半经验、</a:t>
            </a:r>
            <a:r>
              <a:rPr lang="en-US" altLang="zh-CN" sz="2000" dirty="0">
                <a:sym typeface="Wingdings" panose="05000000000000000000" pitchFamily="2" charset="2"/>
              </a:rPr>
              <a:t>ECM、</a:t>
            </a:r>
            <a:r>
              <a:rPr lang="zh-CN" altLang="en-US" sz="2000" dirty="0">
                <a:sym typeface="Wingdings" panose="05000000000000000000" pitchFamily="2" charset="2"/>
              </a:rPr>
              <a:t>电化学、机器学习方法都可以跨化学使用</a:t>
            </a:r>
            <a:r>
              <a:rPr lang="zh-CN" altLang="en-US" dirty="0">
                <a:sym typeface="Wingdings" panose="05000000000000000000" pitchFamily="2" charset="2"/>
              </a:rPr>
              <a:t>，</a:t>
            </a:r>
            <a:r>
              <a:rPr lang="zh-CN" altLang="en-US" sz="2000" dirty="0">
                <a:sym typeface="Wingdings" panose="05000000000000000000" pitchFamily="2" charset="2"/>
              </a:rPr>
              <a:t>前提是</a:t>
            </a:r>
            <a:r>
              <a:rPr lang="zh-CN" altLang="en-US" sz="2000" dirty="0">
                <a:solidFill>
                  <a:srgbClr val="FF0000"/>
                </a:solidFill>
                <a:sym typeface="Wingdings" panose="05000000000000000000" pitchFamily="2" charset="2"/>
              </a:rPr>
              <a:t>对目标体系进行训练、标定、微调和验证</a:t>
            </a:r>
            <a:r>
              <a:rPr lang="zh-CN" altLang="en-US" sz="2000" dirty="0">
                <a:sym typeface="Wingdings" panose="05000000000000000000" pitchFamily="2" charset="2"/>
              </a:rPr>
              <a:t>。</a:t>
            </a:r>
            <a:r>
              <a:rPr lang="en-US" altLang="zh-CN" sz="2000" dirty="0">
                <a:sym typeface="Wingdings" panose="05000000000000000000" pitchFamily="2" charset="2"/>
              </a:rPr>
              <a:t>”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endParaRPr lang="zh-CN" alt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5">
              <a:rPr lang="zh-CN" altLang="zh-CN" dirty="0">
                <a:effectLst/>
              </a:rPr>
            </a:fld>
            <a:endParaRPr lang="de-DE" altLang="zh-CN" dirty="0">
              <a:effectLst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Liang Huang</a:t>
            </a:r>
            <a:endParaRPr 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Cycle life prediction of lithium-ion batteries based on data-driven methods</a:t>
            </a:r>
            <a:endParaRPr lang="en-US" altLang="zh-CN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83950" y="900936"/>
            <a:ext cx="11422513" cy="4731276"/>
          </a:xfrm>
        </p:spPr>
        <p:txBody>
          <a:bodyPr/>
          <a:lstStyle/>
          <a:p>
            <a:pPr lvl="0"/>
            <a:r>
              <a:rPr lang="zh-CN" altLang="en-US" b="1" dirty="0"/>
              <a:t>对比了人工特征与</a:t>
            </a:r>
            <a:r>
              <a:rPr lang="en-US" altLang="zh-CN" b="1" dirty="0"/>
              <a:t>CNN</a:t>
            </a:r>
            <a:r>
              <a:rPr lang="zh-CN" altLang="en-US" b="1" dirty="0"/>
              <a:t>自动提取特征在</a:t>
            </a:r>
            <a:r>
              <a:rPr lang="en-US" altLang="zh-CN" b="1" dirty="0"/>
              <a:t>NCA</a:t>
            </a:r>
            <a:r>
              <a:rPr lang="zh-CN" altLang="en-US" b="1" dirty="0"/>
              <a:t>电池循环寿命预测中的效果，为源域（</a:t>
            </a:r>
            <a:r>
              <a:rPr lang="en-US" altLang="zh-CN" b="1" dirty="0"/>
              <a:t>NCA）</a:t>
            </a:r>
            <a:r>
              <a:rPr lang="zh-CN" altLang="en-US" b="1" dirty="0"/>
              <a:t>提供了数据驱动的预测基准方案。</a:t>
            </a:r>
            <a:endParaRPr lang="zh-CN" altLang="en-US" b="1" dirty="0"/>
          </a:p>
          <a:p>
            <a:pPr lvl="0"/>
            <a:r>
              <a:rPr lang="zh-CN" altLang="en-US" dirty="0"/>
              <a:t>数据集特征</a:t>
            </a:r>
            <a:endParaRPr lang="zh-CN" altLang="en-US" dirty="0"/>
          </a:p>
          <a:p>
            <a:pPr lvl="1"/>
            <a:r>
              <a:rPr lang="zh-CN" altLang="en-US" dirty="0">
                <a:sym typeface="Wingdings" panose="05000000000000000000" pitchFamily="2" charset="2"/>
              </a:rPr>
              <a:t>温度、充电倍率</a:t>
            </a:r>
            <a:r>
              <a:rPr lang="en-US" altLang="zh-CN" dirty="0">
                <a:sym typeface="Wingdings" panose="05000000000000000000" pitchFamily="2" charset="2"/>
              </a:rPr>
              <a:t>、</a:t>
            </a:r>
            <a:r>
              <a:rPr lang="zh-CN" altLang="en-US" dirty="0">
                <a:sym typeface="Wingdings" panose="05000000000000000000" pitchFamily="2" charset="2"/>
              </a:rPr>
              <a:t>放电倍率</a:t>
            </a:r>
            <a:r>
              <a:rPr lang="en-US" altLang="zh-CN" dirty="0">
                <a:sym typeface="Wingdings" panose="05000000000000000000" pitchFamily="2" charset="2"/>
              </a:rPr>
              <a:t>、</a:t>
            </a:r>
            <a:r>
              <a:rPr lang="zh-CN" altLang="en-US" dirty="0">
                <a:sym typeface="Wingdings" panose="05000000000000000000" pitchFamily="2" charset="2"/>
              </a:rPr>
              <a:t>充电截止电压、</a:t>
            </a:r>
            <a:r>
              <a:rPr lang="zh-CN" altLang="en-US" dirty="0">
                <a:sym typeface="+mn-ea"/>
              </a:rPr>
              <a:t>放电截止电压、最大电压充电期间的保持时间、最小电压放电期间的保持时间</a:t>
            </a:r>
            <a:endParaRPr lang="zh-CN" altLang="en-US" dirty="0">
              <a:sym typeface="+mn-ea"/>
            </a:endParaRPr>
          </a:p>
          <a:p>
            <a:pPr lvl="0"/>
            <a:r>
              <a:rPr lang="en-US" altLang="zh-CN" dirty="0"/>
              <a:t>C-rate </a:t>
            </a:r>
            <a:r>
              <a:rPr lang="zh-CN" altLang="en-US" dirty="0"/>
              <a:t>归一化（"曲线形状归一化"）</a:t>
            </a:r>
            <a:endParaRPr lang="zh-CN" altLang="en-US" dirty="0"/>
          </a:p>
          <a:p>
            <a:pPr lvl="1"/>
            <a:r>
              <a:rPr lang="zh-CN" altLang="en-US" dirty="0"/>
              <a:t>将放电曲线的电压与容量分别归一化到 [0,1] 区间，再以两曲线差的统计矩作为特征</a:t>
            </a:r>
            <a:endParaRPr lang="zh-CN" altLang="en-US" dirty="0"/>
          </a:p>
          <a:p>
            <a:pPr lvl="0"/>
            <a:r>
              <a:rPr lang="en-US" altLang="zh-CN" dirty="0"/>
              <a:t>"NCA→LFP </a:t>
            </a:r>
            <a:r>
              <a:rPr lang="zh-CN" altLang="en-US" dirty="0"/>
              <a:t>跨化学迁移"的必要性</a:t>
            </a:r>
            <a:endParaRPr lang="zh-CN" altLang="en-US" dirty="0"/>
          </a:p>
          <a:p>
            <a:pPr lvl="1"/>
            <a:r>
              <a:rPr lang="en-US" altLang="zh-CN" dirty="0"/>
              <a:t>Severson </a:t>
            </a:r>
            <a:r>
              <a:rPr lang="zh-CN" altLang="en-US" dirty="0"/>
              <a:t>在 </a:t>
            </a:r>
            <a:r>
              <a:rPr lang="en-US" altLang="zh-CN" dirty="0"/>
              <a:t>LFP </a:t>
            </a:r>
            <a:r>
              <a:rPr lang="zh-CN" altLang="en-US" dirty="0"/>
              <a:t>上达到 9.1% 误差，</a:t>
            </a:r>
            <a:endParaRPr lang="zh-CN" altLang="en-US" dirty="0"/>
          </a:p>
          <a:p>
            <a:pPr marL="215900" lvl="1" indent="0">
              <a:buNone/>
            </a:pPr>
            <a:r>
              <a:rPr lang="en-US" altLang="zh-CN" dirty="0"/>
              <a:t>    </a:t>
            </a:r>
            <a:r>
              <a:rPr lang="zh-CN" altLang="en-US" dirty="0"/>
              <a:t>本文在 </a:t>
            </a:r>
            <a:r>
              <a:rPr lang="en-US" altLang="zh-CN" dirty="0"/>
              <a:t>NCA </a:t>
            </a:r>
            <a:r>
              <a:rPr lang="zh-CN" altLang="en-US" dirty="0"/>
              <a:t>上同方法误差更大</a:t>
            </a:r>
            <a:endParaRPr lang="zh-CN" altLang="en-US" dirty="0"/>
          </a:p>
          <a:p>
            <a:pPr lvl="0"/>
            <a:r>
              <a:rPr lang="zh-CN" altLang="en-US" dirty="0"/>
              <a:t>12个特征（基于前40个循环的充电和放电曲线提取）</a:t>
            </a:r>
            <a:endParaRPr lang="zh-CN" altLang="en-US" dirty="0"/>
          </a:p>
          <a:p>
            <a:pPr lvl="1"/>
            <a:r>
              <a:rPr lang="zh-CN" altLang="en-US" dirty="0"/>
              <a:t>包括放电曲线的四个矩（均值、方差、偏度、峰度）、</a:t>
            </a:r>
            <a:endParaRPr lang="zh-CN" altLang="en-US" dirty="0"/>
          </a:p>
          <a:p>
            <a:pPr marL="215900" lvl="1" indent="0">
              <a:buNone/>
            </a:pPr>
            <a:r>
              <a:rPr lang="en-US" altLang="zh-CN" dirty="0"/>
              <a:t>   </a:t>
            </a:r>
            <a:r>
              <a:rPr lang="zh-CN" altLang="en-US" dirty="0"/>
              <a:t>充电曲线的四个矩、充电容量、放电容量、充电能量和放电能量。</a:t>
            </a:r>
            <a:endParaRPr lang="en-US" altLang="zh-CN" dirty="0"/>
          </a:p>
          <a:p>
            <a:r>
              <a:rPr lang="zh-CN" altLang="en-US" dirty="0"/>
              <a:t>可作为 </a:t>
            </a:r>
            <a:r>
              <a:rPr lang="en-US" altLang="zh-CN" dirty="0"/>
              <a:t>NCA </a:t>
            </a:r>
            <a:r>
              <a:rPr lang="zh-CN" altLang="en-US" dirty="0"/>
              <a:t>源域单域基准</a:t>
            </a:r>
            <a:endParaRPr lang="zh-CN" alt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5">
              <a:rPr lang="zh-CN" altLang="zh-CN" dirty="0">
                <a:effectLst/>
              </a:rPr>
            </a:fld>
            <a:endParaRPr lang="de-DE" altLang="zh-CN" dirty="0">
              <a:effectLst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Liang Huang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2610" y="3242310"/>
            <a:ext cx="4838065" cy="1644650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2000" dirty="0"/>
              <a:t>Transfer learning for state-of-health prognostics of lithium-ion batteries:A survey</a:t>
            </a:r>
            <a:endParaRPr lang="en-US" altLang="zh-CN" sz="20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b="1" dirty="0"/>
              <a:t>系统梳理了迁移学习在电池</a:t>
            </a:r>
            <a:r>
              <a:rPr lang="en-US" altLang="zh-CN" b="1" dirty="0"/>
              <a:t>SOH</a:t>
            </a:r>
            <a:r>
              <a:rPr lang="zh-CN" altLang="en-US" b="1" dirty="0"/>
              <a:t>预测中的三大主流方法（实例/对抗/参数迁移）。</a:t>
            </a:r>
            <a:endParaRPr lang="zh-CN" altLang="en-US" b="1" dirty="0"/>
          </a:p>
          <a:p>
            <a:pPr lvl="0"/>
            <a:r>
              <a:rPr lang="en-US" altLang="zh-CN" dirty="0"/>
              <a:t>TL </a:t>
            </a:r>
            <a:r>
              <a:rPr lang="zh-CN" altLang="en-US" dirty="0"/>
              <a:t>方法三大分类</a:t>
            </a:r>
            <a:endParaRPr lang="zh-CN" altLang="en-US" dirty="0"/>
          </a:p>
          <a:p>
            <a:pPr lvl="1"/>
            <a:r>
              <a:rPr lang="zh-CN" altLang="en-US" b="1" dirty="0"/>
              <a:t>实例迁移（</a:t>
            </a:r>
            <a:r>
              <a:rPr lang="en-US" altLang="zh-CN" b="1" dirty="0"/>
              <a:t>Instance-based）</a:t>
            </a:r>
            <a:r>
              <a:rPr lang="en-US" altLang="zh-CN" dirty="0"/>
              <a:t>：</a:t>
            </a:r>
            <a:r>
              <a:rPr lang="zh-CN" altLang="en-US" dirty="0"/>
              <a:t>通过对源域样本重加权减小分布差异；适合源域数据丰富、与目标域工况相似的场景；负迁移风险较低</a:t>
            </a:r>
            <a:endParaRPr lang="zh-CN" altLang="en-US" dirty="0"/>
          </a:p>
          <a:p>
            <a:pPr lvl="1"/>
            <a:r>
              <a:rPr lang="zh-CN" altLang="en-US" b="1" dirty="0"/>
              <a:t>对抗迁移（</a:t>
            </a:r>
            <a:r>
              <a:rPr lang="en-US" altLang="zh-CN" b="1" dirty="0"/>
              <a:t>Adversarial）</a:t>
            </a:r>
            <a:r>
              <a:rPr lang="en-US" altLang="zh-CN" dirty="0"/>
              <a:t>：</a:t>
            </a:r>
            <a:r>
              <a:rPr lang="zh-CN" altLang="en-US" dirty="0"/>
              <a:t>通过特征提取器与域判别器的 </a:t>
            </a:r>
            <a:r>
              <a:rPr lang="en-US" altLang="zh-CN" dirty="0"/>
              <a:t>minimax </a:t>
            </a:r>
            <a:r>
              <a:rPr lang="zh-CN" altLang="en-US" dirty="0"/>
              <a:t>博弈学习域不变特征；适合无标签或大跨度迁移（如</a:t>
            </a:r>
            <a:r>
              <a:rPr lang="zh-CN" altLang="en-US" dirty="0">
                <a:solidFill>
                  <a:srgbClr val="FF0000"/>
                </a:solidFill>
              </a:rPr>
              <a:t>跨化学</a:t>
            </a:r>
            <a:r>
              <a:rPr lang="zh-CN" altLang="en-US" dirty="0"/>
              <a:t>）；训练不稳定、计算成本高</a:t>
            </a:r>
            <a:endParaRPr lang="zh-CN" altLang="en-US" dirty="0"/>
          </a:p>
          <a:p>
            <a:pPr lvl="1"/>
            <a:r>
              <a:rPr lang="zh-CN" altLang="en-US" b="1" dirty="0"/>
              <a:t>参数迁移（</a:t>
            </a:r>
            <a:r>
              <a:rPr lang="en-US" altLang="zh-CN" b="1" dirty="0"/>
              <a:t>Parameter）</a:t>
            </a:r>
            <a:r>
              <a:rPr lang="en-US" altLang="zh-CN" dirty="0"/>
              <a:t>：</a:t>
            </a:r>
            <a:r>
              <a:rPr lang="zh-CN" altLang="en-US" dirty="0"/>
              <a:t>预训练 + 微调，计算成本最低；最适合 </a:t>
            </a:r>
            <a:r>
              <a:rPr lang="en-US" altLang="zh-CN" dirty="0"/>
              <a:t>BMS </a:t>
            </a:r>
            <a:r>
              <a:rPr lang="zh-CN" altLang="en-US" dirty="0"/>
              <a:t>在线部署；存在"灾难性遗忘"风险</a:t>
            </a:r>
            <a:endParaRPr lang="zh-CN" altLang="en-US" dirty="0"/>
          </a:p>
          <a:p>
            <a:pPr lvl="0"/>
            <a:r>
              <a:rPr lang="zh-CN" altLang="en-US" dirty="0">
                <a:sym typeface="Wingdings" panose="05000000000000000000" pitchFamily="2" charset="2"/>
              </a:rPr>
              <a:t>跨化学迁移会导致 </a:t>
            </a:r>
            <a:r>
              <a:rPr lang="en-US" altLang="zh-CN" dirty="0">
                <a:sym typeface="Wingdings" panose="05000000000000000000" pitchFamily="2" charset="2"/>
              </a:rPr>
              <a:t>RMSE </a:t>
            </a:r>
            <a:r>
              <a:rPr lang="zh-CN" altLang="en-US" dirty="0">
                <a:sym typeface="Wingdings" panose="05000000000000000000" pitchFamily="2" charset="2"/>
              </a:rPr>
              <a:t>上升 30–50%</a:t>
            </a:r>
            <a:endParaRPr lang="zh-CN" altLang="en-US" dirty="0">
              <a:sym typeface="Wingdings" panose="05000000000000000000" pitchFamily="2" charset="2"/>
            </a:endParaRPr>
          </a:p>
          <a:p>
            <a:pPr lvl="0"/>
            <a:r>
              <a:rPr lang="zh-CN" altLang="en-US" dirty="0"/>
              <a:t>统一评价指标体系：</a:t>
            </a:r>
            <a:r>
              <a:rPr lang="en-US" altLang="zh-CN" dirty="0"/>
              <a:t>MSE(</a:t>
            </a:r>
            <a:r>
              <a:rPr lang="zh-CN" altLang="en-US" dirty="0"/>
              <a:t>均方误差</a:t>
            </a:r>
            <a:r>
              <a:rPr lang="en-US" altLang="zh-CN" dirty="0"/>
              <a:t>)、RMSE(</a:t>
            </a:r>
            <a:r>
              <a:rPr lang="zh-CN" altLang="en-US" dirty="0"/>
              <a:t>均方根误差</a:t>
            </a:r>
            <a:r>
              <a:rPr lang="en-US" altLang="zh-CN" dirty="0"/>
              <a:t>)、MAE(</a:t>
            </a:r>
            <a:r>
              <a:rPr lang="zh-CN" altLang="en-US" dirty="0"/>
              <a:t>平均绝对误差</a:t>
            </a:r>
            <a:r>
              <a:rPr lang="en-US" altLang="zh-CN" dirty="0"/>
              <a:t>)、R</a:t>
            </a:r>
            <a:r>
              <a:rPr lang="en-US" altLang="zh-CN" baseline="30000" dirty="0"/>
              <a:t>2</a:t>
            </a:r>
            <a:r>
              <a:rPr lang="en-US" altLang="zh-CN" dirty="0"/>
              <a:t>(</a:t>
            </a:r>
            <a:r>
              <a:rPr lang="zh-CN" altLang="en-US" dirty="0"/>
              <a:t>决定系数</a:t>
            </a:r>
            <a:r>
              <a:rPr lang="en-US" altLang="zh-CN" dirty="0"/>
              <a:t>)</a:t>
            </a:r>
            <a:r>
              <a:rPr lang="zh-CN" altLang="en-US" dirty="0"/>
              <a:t>并辅以 </a:t>
            </a:r>
            <a:r>
              <a:rPr lang="en-US" altLang="zh-CN" dirty="0"/>
              <a:t>RE(</a:t>
            </a:r>
            <a:r>
              <a:rPr lang="zh-CN" altLang="en-US" dirty="0"/>
              <a:t>相对误差</a:t>
            </a:r>
            <a:r>
              <a:rPr lang="en-US" altLang="zh-CN" dirty="0"/>
              <a:t>)、MAPE(</a:t>
            </a:r>
            <a:r>
              <a:rPr lang="zh-CN" altLang="en-US" dirty="0"/>
              <a:t>平均绝对百分误差</a:t>
            </a:r>
            <a:r>
              <a:rPr lang="en-US" altLang="zh-CN" dirty="0"/>
              <a:t>)。</a:t>
            </a:r>
            <a:endParaRPr lang="en-US" altLang="zh-CN" dirty="0"/>
          </a:p>
          <a:p>
            <a:pPr lvl="0"/>
            <a:r>
              <a:rPr lang="zh-CN" altLang="en-US" dirty="0"/>
              <a:t>物理可解释性</a:t>
            </a:r>
            <a:r>
              <a:rPr lang="en-US" altLang="zh-CN" dirty="0"/>
              <a:t>: </a:t>
            </a:r>
            <a:r>
              <a:rPr lang="zh-CN" altLang="en-US" dirty="0"/>
              <a:t>指出未来方向是"物理约束 + 数据驱动"融合</a:t>
            </a:r>
            <a:endParaRPr lang="zh-CN" altLang="en-US" dirty="0"/>
          </a:p>
          <a:p>
            <a:pPr lvl="0"/>
            <a:r>
              <a:rPr lang="en-US" altLang="zh-CN" dirty="0"/>
              <a:t>C-rate / </a:t>
            </a:r>
            <a:r>
              <a:rPr lang="zh-CN" altLang="en-US" dirty="0"/>
              <a:t>工况差异处理参考</a:t>
            </a:r>
            <a:r>
              <a:rPr lang="en-US" altLang="zh-CN" dirty="0"/>
              <a:t>:</a:t>
            </a:r>
            <a:endParaRPr lang="en-US" altLang="zh-CN" dirty="0"/>
          </a:p>
          <a:p>
            <a:pPr lvl="1"/>
            <a:r>
              <a:rPr lang="en-US" altLang="zh-CN" dirty="0"/>
              <a:t>Cycle-Synchronization TL</a:t>
            </a:r>
            <a:endParaRPr lang="zh-CN" altLang="en-US" dirty="0"/>
          </a:p>
          <a:p>
            <a:pPr lvl="1"/>
            <a:r>
              <a:rPr lang="en-US" altLang="zh-CN" dirty="0"/>
              <a:t>MF-TLF</a:t>
            </a:r>
            <a:r>
              <a:rPr lang="zh-CN" altLang="en-US" dirty="0"/>
              <a:t>（多特征实例迁移框架，旨在进行少样本、多条件预测）</a:t>
            </a:r>
            <a:endParaRPr lang="zh-CN" alt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962C8B-B14F-4D97-AF65-F5344CB8AC3E}" type="datetime5">
              <a:rPr lang="zh-CN" altLang="zh-CN" dirty="0">
                <a:effectLst/>
              </a:rPr>
            </a:fld>
            <a:endParaRPr lang="de-DE" altLang="zh-CN" dirty="0">
              <a:effectLst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Liang Huang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Robust and data-efficient battery state of charge estimation via transfer learning-enhanced physics-informed neural networks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b="1" dirty="0"/>
                  <a:t>提出一种融合物理信息与迁移学习的神经网络（</a:t>
                </a:r>
                <a:r>
                  <a:rPr lang="en-US" altLang="zh-CN" b="1" dirty="0"/>
                  <a:t>TL-PINN），</a:t>
                </a:r>
                <a:r>
                  <a:rPr lang="zh-CN" altLang="en-US" b="1" dirty="0"/>
                  <a:t>实现了数据稀缺场景下跨化学体系的高精度状态估计。</a:t>
                </a:r>
                <a:endParaRPr lang="zh-CN" altLang="en-US" b="1" dirty="0"/>
              </a:p>
              <a:p>
                <a:r>
                  <a:rPr lang="zh-CN" altLang="en-US" dirty="0"/>
                  <a:t>三组件 </a:t>
                </a:r>
                <a:r>
                  <a:rPr lang="en-US" altLang="zh-CN" dirty="0"/>
                  <a:t>TL-PINN </a:t>
                </a:r>
                <a:r>
                  <a:rPr lang="zh-CN" altLang="en-US" dirty="0"/>
                  <a:t>框架：</a:t>
                </a:r>
                <a:endParaRPr lang="zh-CN" altLang="en-US" dirty="0"/>
              </a:p>
              <a:p>
                <a:pPr lvl="1"/>
                <a:r>
                  <a:rPr lang="en-US" altLang="zh-CN" dirty="0"/>
                  <a:t>PINN </a:t>
                </a:r>
                <a:r>
                  <a:rPr lang="zh-CN" altLang="en-US" dirty="0"/>
                  <a:t>嵌入一阶 </a:t>
                </a:r>
                <a:r>
                  <a:rPr lang="en-US" altLang="zh-CN" dirty="0"/>
                  <a:t>ECM </a:t>
                </a:r>
                <a:r>
                  <a:rPr lang="zh-CN" altLang="en-US" dirty="0"/>
                  <a:t>物理方程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电池模型使用开路电压（</a:t>
                </a:r>
                <a:r>
                  <a:rPr lang="en-US" altLang="zh-CN" dirty="0"/>
                  <a:t>OCV</a:t>
                </a:r>
                <a:r>
                  <a:rPr lang="zh-CN" altLang="en-US" dirty="0"/>
                  <a:t>）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欧姆电阻 </a:t>
                </a:r>
                <a:r>
                  <a:rPr lang="en-US" altLang="zh-CN" i="1" dirty="0"/>
                  <a:t>R</a:t>
                </a:r>
                <a:r>
                  <a:rPr lang="zh-CN" altLang="en-US" dirty="0"/>
                  <a:t> </a:t>
                </a:r>
                <a:r>
                  <a:rPr lang="en-US" altLang="zh-CN" baseline="-25000" dirty="0"/>
                  <a:t>0</a:t>
                </a:r>
                <a:r>
                  <a:rPr lang="zh-CN" altLang="en-US" dirty="0"/>
                  <a:t> 和并联 </a:t>
                </a:r>
                <a:r>
                  <a:rPr lang="en-US" altLang="zh-CN" dirty="0"/>
                  <a:t>R-C </a:t>
                </a:r>
                <a:r>
                  <a:rPr lang="zh-CN" altLang="en-US" dirty="0"/>
                  <a:t>电容对进行近似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其中 </a:t>
                </a:r>
                <a:r>
                  <a:rPr lang="en-US" altLang="zh-CN" i="1" dirty="0"/>
                  <a:t>R</a:t>
                </a:r>
                <a:r>
                  <a:rPr lang="zh-CN" altLang="en-US" dirty="0"/>
                  <a:t> </a:t>
                </a:r>
                <a:r>
                  <a:rPr lang="en-US" altLang="zh-CN" i="1" baseline="-25000" dirty="0"/>
                  <a:t>p</a:t>
                </a:r>
                <a:r>
                  <a:rPr lang="zh-CN" altLang="en-US" dirty="0"/>
                  <a:t> 和 </a:t>
                </a:r>
                <a:r>
                  <a:rPr lang="en-US" altLang="zh-CN" i="1" dirty="0"/>
                  <a:t>C</a:t>
                </a:r>
                <a:r>
                  <a:rPr lang="zh-CN" altLang="en-US" dirty="0"/>
                  <a:t> </a:t>
                </a:r>
                <a:r>
                  <a:rPr lang="en-US" altLang="zh-CN" i="1" baseline="-25000" dirty="0"/>
                  <a:t>p</a:t>
                </a:r>
                <a:r>
                  <a:rPr lang="zh-CN" altLang="en-US" dirty="0"/>
                  <a:t> 分别代表极化电阻和电容</a:t>
                </a:r>
                <a:endParaRPr lang="en-US" altLang="zh-CN" dirty="0"/>
              </a:p>
              <a:p>
                <a:pPr lvl="2"/>
                <a:r>
                  <a:rPr lang="zh-CN" altLang="en-US" dirty="0"/>
                  <a:t>用于表征电池行为的状态变量为荷电状态（</a:t>
                </a:r>
                <a:r>
                  <a:rPr lang="en-US" altLang="zh-CN" dirty="0"/>
                  <a:t>SOC</a:t>
                </a:r>
                <a:r>
                  <a:rPr lang="zh-CN" altLang="en-US" dirty="0"/>
                  <a:t>）和扩散电压 </a:t>
                </a:r>
                <a:r>
                  <a:rPr lang="en-US" altLang="zh-CN" i="1" dirty="0"/>
                  <a:t>V</a:t>
                </a:r>
                <a:r>
                  <a:rPr lang="zh-CN" altLang="en-US" dirty="0"/>
                  <a:t> </a:t>
                </a:r>
                <a:r>
                  <a:rPr lang="en-US" altLang="zh-CN" i="1" baseline="-25000" dirty="0"/>
                  <a:t>p</a:t>
                </a:r>
                <a:r>
                  <a:rPr lang="zh-CN" altLang="en-US" dirty="0"/>
                  <a:t> 。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迁移学习模块通过冻结浅层、微调深层实现领域适配</a:t>
                </a:r>
                <a:endParaRPr lang="zh-CN" altLang="en-US" dirty="0"/>
              </a:p>
              <a:p>
                <a:pPr lvl="1"/>
                <a:r>
                  <a:rPr lang="zh-CN" altLang="en-US" dirty="0"/>
                  <a:t>混合损失函数同时平衡数据拟合与物理一致性</a:t>
                </a:r>
                <a:endParaRPr lang="en-US" altLang="zh-CN" dirty="0"/>
              </a:p>
              <a:p>
                <a:r>
                  <a:rPr lang="zh-CN" altLang="en-US" dirty="0"/>
                  <a:t>混合损失函数公式：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𝑡𝑜𝑡𝑎𝑙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charset="0"/>
                      </a:rPr>
                      <m:t>=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charset="0"/>
                          </a:rPr>
                          <m:t>𝜔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𝑔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𝑔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charset="0"/>
                      </a:rPr>
                      <m:t>+ 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</a:rPr>
                        </m:ctrlPr>
                      </m:sSubPr>
                      <m:e>
                        <m:r>
                          <a:rPr lang="zh-CN" altLang="en-US" b="0" i="1" smtClean="0">
                            <a:latin typeface="Cambria Math" panose="02040503050406030204" charset="0"/>
                          </a:rPr>
                          <m:t>𝜔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ℎ</m:t>
                        </m:r>
                      </m:sub>
                    </m:sSub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en-US" altLang="zh-CN" dirty="0"/>
                  <a:t>,</a:t>
                </a:r>
                <a:r>
                  <a:rPr lang="zh-CN" altLang="en-US" dirty="0"/>
                  <a:t>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dirty="0" smtClean="0">
                            <a:latin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charset="0"/>
                          </a:rPr>
                          <m:t>𝑔</m:t>
                        </m:r>
                      </m:sub>
                    </m:sSub>
                    <m:r>
                      <a:rPr lang="en-US" altLang="zh-CN" b="0" i="0" dirty="0" smtClean="0">
                        <a:latin typeface="Cambria Math" panose="02040503050406030204" charset="0"/>
                      </a:rPr>
                      <m:t>=</m:t>
                    </m:r>
                    <m:sSubSup>
                      <m:sSubSupPr>
                        <m:ctrlPr>
                          <a:rPr lang="en-US" altLang="zh-CN" i="1" dirty="0" smtClean="0">
                            <a:latin typeface="Cambria Math" panose="02040503050406030204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zh-CN" i="1" dirty="0" smtClean="0">
                                <a:latin typeface="Cambria Math" panose="02040503050406030204" charset="0"/>
                              </a:rPr>
                            </m:ctrlPr>
                          </m:dPr>
                          <m:e>
                            <m:r>
                              <a:rPr lang="en-US" altLang="zh-CN" b="0" i="1" dirty="0" smtClean="0">
                                <a:latin typeface="Cambria Math" panose="02040503050406030204" charset="0"/>
                              </a:rPr>
                              <m:t>𝑦</m:t>
                            </m:r>
                            <m:r>
                              <a:rPr lang="en-US" altLang="zh-CN" b="0" i="0" dirty="0" smtClean="0">
                                <a:latin typeface="Cambria Math" panose="02040503050406030204" charset="0"/>
                              </a:rPr>
                              <m:t>−</m:t>
                            </m:r>
                            <m:acc>
                              <m:accPr>
                                <m:ctrlPr>
                                  <a:rPr lang="en-US" altLang="zh-CN" i="1" dirty="0" smtClean="0">
                                    <a:latin typeface="Cambria Math" panose="02040503050406030204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b="0" i="1" dirty="0" smtClean="0">
                                    <a:latin typeface="Cambria Math" panose="02040503050406030204" charset="0"/>
                                  </a:rPr>
                                  <m:t>𝑦</m:t>
                                </m:r>
                              </m:e>
                            </m:acc>
                          </m:e>
                        </m:d>
                      </m:e>
                      <m:sub>
                        <m:r>
                          <a:rPr lang="en-US" altLang="zh-CN" b="0" i="0" dirty="0" smtClean="0">
                            <a:latin typeface="Cambria Math" panose="02040503050406030204" charset="0"/>
                          </a:rPr>
                          <m:t>2</m:t>
                        </m:r>
                      </m:sub>
                      <m:sup>
                        <m:r>
                          <a:rPr lang="en-US" altLang="zh-CN" b="0" i="0" dirty="0" smtClean="0">
                            <a:latin typeface="Cambria Math" panose="02040503050406030204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zh-CN" altLang="en-US" dirty="0"/>
                  <a:t>，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ℎ</m:t>
                        </m:r>
                      </m:sub>
                    </m:sSub>
                  </m:oMath>
                </a14:m>
                <a:r>
                  <a:rPr lang="zh-CN" altLang="en-US" dirty="0"/>
                  <a:t>包含初始条件、电压上下限等物理约束</a:t>
                </a:r>
                <a:endParaRPr lang="en-US" altLang="zh-CN" dirty="0"/>
              </a:p>
              <a:p>
                <a:r>
                  <a:rPr lang="zh-CN" altLang="en-US" dirty="0"/>
                  <a:t>领域适配损失：迁移阶段使用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zh-CN"/>
                        </m:ctrlPr>
                      </m:sSubPr>
                      <m:e>
                        <m:r>
                          <a:rPr lang="zh-CN" altLang="ar-AE" b="0" i="1" smtClean="0">
                            <a:latin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zh-CN" altLang="ar-AE" b="0" i="1" smtClean="0">
                            <a:latin typeface="Cambria Math" panose="02040503050406030204" charset="0"/>
                          </a:rPr>
                          <m:t>𝐷𝐴</m:t>
                        </m:r>
                      </m:sub>
                    </m:sSub>
                    <m:r>
                      <a:rPr lang="ar-AE" altLang="zh-CN" b="0" smtClean="0">
                        <a:latin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ar-AE" altLang="zh-CN" i="1"/>
                        </m:ctrlPr>
                      </m:sSubPr>
                      <m:e>
                        <m:r>
                          <a:rPr lang="zh-CN" altLang="ar-AE" b="0" i="1" smtClean="0">
                            <a:latin typeface="Cambria Math" panose="02040503050406030204" charset="0"/>
                          </a:rPr>
                          <m:t>𝐿</m:t>
                        </m:r>
                      </m:e>
                      <m:sub>
                        <m:r>
                          <a:rPr lang="zh-CN" altLang="ar-AE" b="0" i="1" smtClean="0">
                            <a:latin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ar-AE" altLang="zh-CN" b="0" smtClean="0">
                        <a:latin typeface="Cambria Math" panose="02040503050406030204" charset="0"/>
                      </a:rPr>
                      <m:t>+</m:t>
                    </m:r>
                    <m:r>
                      <a:rPr lang="zh-CN" altLang="ar-AE" b="0" i="1" smtClean="0">
                        <a:latin typeface="Cambria Math" panose="02040503050406030204" charset="0"/>
                      </a:rPr>
                      <m:t>𝛽</m:t>
                    </m:r>
                    <m:r>
                      <m:rPr>
                        <m:nor/>
                      </m:rPr>
                      <a:rPr lang="ar-AE" altLang="zh-CN" i="1">
                        <a:latin typeface="Cambria Math" panose="02040503050406030204" charset="0"/>
                      </a:rPr>
                      <m:t> </m:t>
                    </m:r>
                    <m:r>
                      <a:rPr lang="zh-CN" altLang="ar-AE" b="0" i="1" smtClean="0">
                        <a:latin typeface="Cambria Math" panose="02040503050406030204" charset="0"/>
                      </a:rPr>
                      <m:t>𝑑</m:t>
                    </m:r>
                    <m:d>
                      <m:dPr>
                        <m:sepChr m:val=","/>
                        <m:ctrlPr>
                          <a:rPr lang="ar-AE" altLang="zh-CN" i="1" smtClean="0"/>
                        </m:ctrlPr>
                      </m:dPr>
                      <m:e>
                        <m:sSub>
                          <m:sSubPr>
                            <m:ctrlPr>
                              <a:rPr lang="ar-AE" altLang="zh-CN" i="1"/>
                            </m:ctrlPr>
                          </m:sSubPr>
                          <m:e>
                            <m:r>
                              <a:rPr lang="zh-CN" altLang="ar-AE" b="0" i="1" smtClean="0">
                                <a:latin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zh-CN" altLang="ar-AE" b="0" i="1" smtClean="0">
                                <a:latin typeface="Cambria Math" panose="02040503050406030204" charset="0"/>
                              </a:rPr>
                              <m:t>𝑠</m:t>
                            </m:r>
                          </m:sub>
                        </m:sSub>
                      </m:e>
                      <m:e>
                        <m:r>
                          <a:rPr lang="en-US" altLang="zh-CN" b="0" i="1" smtClean="0">
                            <a:latin typeface="Cambria Math" panose="02040503050406030204" charset="0"/>
                          </a:rPr>
                          <m:t> </m:t>
                        </m:r>
                        <m:sSub>
                          <m:sSubPr>
                            <m:ctrlPr>
                              <a:rPr lang="ar-AE" altLang="zh-CN" i="1"/>
                            </m:ctrlPr>
                          </m:sSubPr>
                          <m:e>
                            <m:r>
                              <a:rPr lang="zh-CN" altLang="ar-AE" b="0" i="1" smtClean="0">
                                <a:latin typeface="Cambria Math" panose="02040503050406030204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zh-CN" altLang="ar-AE" b="0" i="1" smtClean="0">
                                <a:latin typeface="Cambria Math" panose="02040503050406030204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zh-CN" altLang="en-US" dirty="0"/>
                  <a:t>其中 </a:t>
                </a: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charset="0"/>
                      </a:rPr>
                      <m:t>𝑑</m:t>
                    </m:r>
                    <m:d>
                      <m:dPr>
                        <m:ctrlPr>
                          <a:rPr lang="ar-AE" altLang="zh-CN" i="1"/>
                        </m:ctrlPr>
                      </m:dPr>
                      <m:e>
                        <m:r>
                          <a:rPr lang="ar-AE" altLang="zh-CN" b="0" smtClean="0">
                            <a:latin typeface="Cambria Math" panose="02040503050406030204" charset="0"/>
                          </a:rPr>
                          <m:t>⋅</m:t>
                        </m:r>
                      </m:e>
                    </m:d>
                  </m:oMath>
                </a14:m>
                <a:r>
                  <a:rPr lang="zh-CN" altLang="en-US" dirty="0"/>
                  <a:t>采用 </a:t>
                </a:r>
                <a:r>
                  <a:rPr lang="en-US" altLang="zh-CN" dirty="0"/>
                  <a:t>MMD</a:t>
                </a:r>
                <a:r>
                  <a:rPr lang="zh-CN" altLang="en-US" dirty="0"/>
                  <a:t>（最大均值差异）</a:t>
                </a:r>
                <a:r>
                  <a:rPr lang="en-US" altLang="zh-CN" dirty="0"/>
                  <a:t> </a:t>
                </a:r>
                <a:r>
                  <a:rPr lang="zh-CN" altLang="en-US" dirty="0"/>
                  <a:t>度量源域与目标域特征分布距离</a:t>
                </a:r>
                <a:endParaRPr lang="en-US" altLang="zh-CN" dirty="0"/>
              </a:p>
            </p:txBody>
          </p:sp>
        </mc:Choice>
        <mc:Fallback>
          <p:sp>
            <p:nvSpPr>
              <p:cNvPr id="3" name="内容占位符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 l="-4" t="-2" r="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</a:fld>
            <a:endParaRPr lang="de-DE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Liang Huang</a:t>
            </a:r>
            <a:endParaRPr lang="en-US" dirty="0"/>
          </a:p>
        </p:txBody>
      </p:sp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3422" y="1580515"/>
            <a:ext cx="2918777" cy="14916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1442" y="1580515"/>
            <a:ext cx="3165021" cy="1834689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kt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" name="think-cell Folie" r:id="rId2" imgW="9525" imgH="9525" progId="TCLayout.ActiveDocument.1">
                  <p:embed/>
                </p:oleObj>
              </mc:Choice>
              <mc:Fallback>
                <p:oleObj name="think-cell Folie" r:id="rId2" imgW="9525" imgH="9525" progId="TCLayout.ActiveDocument.1">
                  <p:embed/>
                  <p:pic>
                    <p:nvPicPr>
                      <p:cNvPr id="0" name="Objekt 6" hidden="1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Literature Review</a:t>
            </a:r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Liang Huang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BB962C8B-B14F-4D97-AF65-F5344CB8AC3E}" type="datetime5">
              <a:rPr lang="zh-CN" altLang="zh-CN" dirty="0">
                <a:effectLst/>
              </a:rPr>
            </a:fld>
            <a:endParaRPr lang="de-DE" altLang="zh-CN" dirty="0">
              <a:effectLst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Wingdings" panose="05000000000000000000" pitchFamily="2" charset="2"/>
              </a:rPr>
              <a:t>LFP </a:t>
            </a:r>
            <a:r>
              <a:rPr lang="zh-CN" altLang="en-US" dirty="0">
                <a:sym typeface="Wingdings" panose="05000000000000000000" pitchFamily="2" charset="2"/>
              </a:rPr>
              <a:t>的 </a:t>
            </a:r>
            <a:r>
              <a:rPr lang="en-US" altLang="zh-CN" dirty="0">
                <a:sym typeface="Wingdings" panose="05000000000000000000" pitchFamily="2" charset="2"/>
              </a:rPr>
              <a:t>OCV </a:t>
            </a:r>
            <a:r>
              <a:rPr lang="zh-CN" altLang="en-US" dirty="0">
                <a:sym typeface="Wingdings" panose="05000000000000000000" pitchFamily="2" charset="2"/>
              </a:rPr>
              <a:t>滞后效应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84200" lvl="2" indent="-342900">
              <a:buFont typeface="Wingdings" panose="05000000000000000000" charset="0"/>
              <a:buChar char="n"/>
            </a:pPr>
            <a:r>
              <a:rPr lang="en-US" altLang="zh-CN" sz="2000" dirty="0">
                <a:sym typeface="Wingdings" panose="05000000000000000000" pitchFamily="2" charset="2"/>
              </a:rPr>
              <a:t>LFP</a:t>
            </a:r>
            <a:r>
              <a:rPr lang="zh-CN" altLang="en-US" sz="2000" dirty="0">
                <a:sym typeface="Wingdings" panose="05000000000000000000" pitchFamily="2" charset="2"/>
              </a:rPr>
              <a:t>在同一个 </a:t>
            </a:r>
            <a:r>
              <a:rPr lang="en-US" altLang="zh-CN" sz="2000" dirty="0">
                <a:sym typeface="Wingdings" panose="05000000000000000000" pitchFamily="2" charset="2"/>
              </a:rPr>
              <a:t>SOC </a:t>
            </a:r>
            <a:r>
              <a:rPr lang="zh-CN" altLang="en-US" sz="2000" dirty="0">
                <a:sym typeface="Wingdings" panose="05000000000000000000" pitchFamily="2" charset="2"/>
              </a:rPr>
              <a:t>下，开路电压 </a:t>
            </a:r>
            <a:r>
              <a:rPr lang="en-US" altLang="zh-CN" sz="2000" dirty="0">
                <a:sym typeface="Wingdings" panose="05000000000000000000" pitchFamily="2" charset="2"/>
              </a:rPr>
              <a:t>OCV </a:t>
            </a:r>
            <a:r>
              <a:rPr lang="zh-CN" altLang="en-US" sz="2000" dirty="0">
                <a:sym typeface="Wingdings" panose="05000000000000000000" pitchFamily="2" charset="2"/>
              </a:rPr>
              <a:t>不是唯一值，而会取决于它之前是从充电方向到达这个 </a:t>
            </a:r>
            <a:r>
              <a:rPr lang="en-US" altLang="zh-CN" sz="2000" dirty="0">
                <a:sym typeface="Wingdings" panose="05000000000000000000" pitchFamily="2" charset="2"/>
              </a:rPr>
              <a:t>SOC，</a:t>
            </a:r>
            <a:r>
              <a:rPr lang="zh-CN" altLang="en-US" sz="2000" dirty="0">
                <a:sym typeface="Wingdings" panose="05000000000000000000" pitchFamily="2" charset="2"/>
              </a:rPr>
              <a:t>还是从放电方向到达这个 </a:t>
            </a:r>
            <a:r>
              <a:rPr lang="en-US" altLang="zh-CN" sz="2000" dirty="0">
                <a:sym typeface="Wingdings" panose="05000000000000000000" pitchFamily="2" charset="2"/>
              </a:rPr>
              <a:t>SOC。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pPr marL="1041400" lvl="3" indent="-342900">
              <a:buFont typeface="Wingdings" panose="05000000000000000000" charset="0"/>
              <a:buChar char="n"/>
            </a:pPr>
            <a:r>
              <a:rPr lang="zh-CN" altLang="en-US" sz="2000" dirty="0">
                <a:sym typeface="Wingdings" panose="05000000000000000000" pitchFamily="2" charset="2"/>
              </a:rPr>
              <a:t>刚充到某个 </a:t>
            </a:r>
            <a:r>
              <a:rPr lang="en-US" altLang="zh-CN" sz="2000" dirty="0">
                <a:sym typeface="Wingdings" panose="05000000000000000000" pitchFamily="2" charset="2"/>
              </a:rPr>
              <a:t>SOC </a:t>
            </a:r>
            <a:r>
              <a:rPr lang="zh-CN" altLang="en-US" sz="2000" dirty="0">
                <a:sym typeface="Wingdings" panose="05000000000000000000" pitchFamily="2" charset="2"/>
              </a:rPr>
              <a:t>后静置，测得的 </a:t>
            </a:r>
            <a:r>
              <a:rPr lang="en-US" altLang="zh-CN" sz="2000" dirty="0">
                <a:sym typeface="Wingdings" panose="05000000000000000000" pitchFamily="2" charset="2"/>
              </a:rPr>
              <a:t>OCV </a:t>
            </a:r>
            <a:r>
              <a:rPr lang="zh-CN" altLang="en-US" sz="2000" dirty="0">
                <a:sym typeface="Wingdings" panose="05000000000000000000" pitchFamily="2" charset="2"/>
              </a:rPr>
              <a:t>往往偏高；</a:t>
            </a:r>
            <a:endParaRPr lang="en-US" altLang="zh-CN" sz="2000" dirty="0">
              <a:sym typeface="Wingdings" panose="05000000000000000000" pitchFamily="2" charset="2"/>
            </a:endParaRPr>
          </a:p>
          <a:p>
            <a:pPr marL="1041400" lvl="3" indent="-342900">
              <a:buFont typeface="Wingdings" panose="05000000000000000000" charset="0"/>
              <a:buChar char="n"/>
            </a:pPr>
            <a:r>
              <a:rPr lang="zh-CN" altLang="en-US" sz="2000" dirty="0">
                <a:sym typeface="Wingdings" panose="05000000000000000000" pitchFamily="2" charset="2"/>
              </a:rPr>
              <a:t>刚放到同一个 </a:t>
            </a:r>
            <a:r>
              <a:rPr lang="en-US" altLang="zh-CN" sz="2000" dirty="0">
                <a:sym typeface="Wingdings" panose="05000000000000000000" pitchFamily="2" charset="2"/>
              </a:rPr>
              <a:t>SOC </a:t>
            </a:r>
            <a:r>
              <a:rPr lang="zh-CN" altLang="en-US" sz="2000" dirty="0">
                <a:sym typeface="Wingdings" panose="05000000000000000000" pitchFamily="2" charset="2"/>
              </a:rPr>
              <a:t>后静置，测得的 </a:t>
            </a:r>
            <a:r>
              <a:rPr lang="en-US" altLang="zh-CN" sz="2000" dirty="0">
                <a:sym typeface="Wingdings" panose="05000000000000000000" pitchFamily="2" charset="2"/>
              </a:rPr>
              <a:t>OCV </a:t>
            </a:r>
            <a:r>
              <a:rPr lang="zh-CN" altLang="en-US" sz="2000" dirty="0">
                <a:sym typeface="Wingdings" panose="05000000000000000000" pitchFamily="2" charset="2"/>
              </a:rPr>
              <a:t>往往偏低；</a:t>
            </a:r>
            <a:endParaRPr lang="zh-CN" altLang="en-US" sz="2000" dirty="0">
              <a:sym typeface="Wingdings" panose="05000000000000000000" pitchFamily="2" charset="2"/>
            </a:endParaRPr>
          </a:p>
          <a:p>
            <a:pPr marL="1041400" lvl="3" indent="-342900">
              <a:buFont typeface="Wingdings" panose="05000000000000000000" charset="0"/>
              <a:buChar char="n"/>
            </a:pPr>
            <a:r>
              <a:rPr lang="zh-CN" altLang="en-US" sz="2000" dirty="0">
                <a:sym typeface="Wingdings" panose="05000000000000000000" pitchFamily="2" charset="2"/>
              </a:rPr>
              <a:t>原因是 </a:t>
            </a:r>
            <a:r>
              <a:rPr lang="en-US" altLang="zh-CN" sz="2000" dirty="0">
                <a:sym typeface="Wingdings" panose="05000000000000000000" pitchFamily="2" charset="2"/>
              </a:rPr>
              <a:t>LFP </a:t>
            </a:r>
            <a:r>
              <a:rPr lang="zh-CN" altLang="en-US" sz="2000" dirty="0">
                <a:sym typeface="Wingdings" panose="05000000000000000000" pitchFamily="2" charset="2"/>
              </a:rPr>
              <a:t>正极材料在充放电过程中存在 </a:t>
            </a:r>
            <a:r>
              <a:rPr lang="en-US" altLang="zh-CN" sz="2000" dirty="0">
                <a:sym typeface="Wingdings" panose="05000000000000000000" pitchFamily="2" charset="2"/>
              </a:rPr>
              <a:t>LiFePO₄ / FePO₄ </a:t>
            </a:r>
            <a:r>
              <a:rPr lang="zh-CN" altLang="en-US" sz="2000" dirty="0">
                <a:sym typeface="Wingdings" panose="05000000000000000000" pitchFamily="2" charset="2"/>
              </a:rPr>
              <a:t>两相反应</a:t>
            </a:r>
            <a:endParaRPr lang="zh-CN" altLang="en-US" sz="2000" dirty="0">
              <a:sym typeface="Wingdings" panose="05000000000000000000" pitchFamily="2" charset="2"/>
            </a:endParaRPr>
          </a:p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l"/>
            <a:fld id="{F887C18F-21B2-48B8-9586-9343C0AE58EE}" type="datetime5">
              <a:rPr lang="zh-CN" altLang="en-US" smtClean="0"/>
            </a:fld>
            <a:endParaRPr lang="de-DE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Liang Huang</a:t>
            </a:r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D01E63C-D794-4429-8564-635E6253AC5C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HINKCELLSHAPEDONOTDELETE" val="thinkcellActiveDocDoNotDelete"/>
</p:tagLst>
</file>

<file path=ppt/tags/tag2.xml><?xml version="1.0" encoding="utf-8"?>
<p:tagLst xmlns:p="http://schemas.openxmlformats.org/presentationml/2006/main">
  <p:tag name="THINKCELLSHAPEDONOTDELETE" val="thinkcellActiveDocDoNotDelete"/>
</p:tagLst>
</file>

<file path=ppt/tags/tag3.xml><?xml version="1.0" encoding="utf-8"?>
<p:tagLst xmlns:p="http://schemas.openxmlformats.org/presentationml/2006/main">
  <p:tag name="THINKCELLSHAPEDONOTDELETE" val="thinkcellActiveDocDoNotDelete"/>
</p:tagLst>
</file>

<file path=ppt/tags/tag4.xml><?xml version="1.0" encoding="utf-8"?>
<p:tagLst xmlns:p="http://schemas.openxmlformats.org/presentationml/2006/main">
  <p:tag name="THINKCELLSHAPEDONOTDELETE" val="thinkcellActiveDocDoNotDelete"/>
</p:tagLst>
</file>

<file path=ppt/tags/tag5.xml><?xml version="1.0" encoding="utf-8"?>
<p:tagLst xmlns:p="http://schemas.openxmlformats.org/presentationml/2006/main">
  <p:tag name="THINKCELLSHAPEDONOTDELETE" val="thinkcellActiveDocDoNotDelete"/>
</p:tagLst>
</file>

<file path=ppt/tags/tag6.xml><?xml version="1.0" encoding="utf-8"?>
<p:tagLst xmlns:p="http://schemas.openxmlformats.org/presentationml/2006/main">
  <p:tag name="THINKCELLSHAPEDONOTDELETE" val="thinkcellActiveDocDoNotDelete"/>
</p:tagLst>
</file>

<file path=ppt/tags/tag7.xml><?xml version="1.0" encoding="utf-8"?>
<p:tagLst xmlns:p="http://schemas.openxmlformats.org/presentationml/2006/main">
  <p:tag name="THINKCELLSHAPEDONOTDELETE" val="thinkcellActiveDocDoNotDelete"/>
</p:tagLst>
</file>

<file path=ppt/tags/tag8.xml><?xml version="1.0" encoding="utf-8"?>
<p:tagLst xmlns:p="http://schemas.openxmlformats.org/presentationml/2006/main">
  <p:tag name="THINKCELLSHAPEDONOTDELETE" val="thinkcellActiveDocDoNotDelete"/>
</p:tagLst>
</file>

<file path=ppt/tags/tag9.xml><?xml version="1.0" encoding="utf-8"?>
<p:tagLst xmlns:p="http://schemas.openxmlformats.org/presentationml/2006/main">
  <p:tag name="KSO_WM_AICARD_INVALID" val="Invalid"/>
</p:tagLst>
</file>

<file path=ppt/tags/tag10.xml><?xml version="1.0" encoding="utf-8"?>
<p:tagLst xmlns:p="http://schemas.openxmlformats.org/presentationml/2006/main">
  <p:tag name="KSO_WM_AICARD_INVALID" val="Invalid"/>
</p:tagLst>
</file>

<file path=ppt/tags/tag11.xml><?xml version="1.0" encoding="utf-8"?>
<p:tagLst xmlns:p="http://schemas.openxmlformats.org/presentationml/2006/main">
  <p:tag name="THINKCELLSHAPEDONOTDELETE" val="thinkcellActiveDocDoNotDelete"/>
</p:tagLst>
</file>

<file path=ppt/tags/tag12.xml><?xml version="1.0" encoding="utf-8"?>
<p:tagLst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CARL 16zu9">
  <a:themeElements>
    <a:clrScheme name="Benutzerdefiniert 4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549F"/>
      </a:accent1>
      <a:accent2>
        <a:srgbClr val="0098A1"/>
      </a:accent2>
      <a:accent3>
        <a:srgbClr val="57AB27"/>
      </a:accent3>
      <a:accent4>
        <a:srgbClr val="F6A800"/>
      </a:accent4>
      <a:accent5>
        <a:srgbClr val="CC071E"/>
      </a:accent5>
      <a:accent6>
        <a:srgbClr val="612158"/>
      </a:accent6>
      <a:hlink>
        <a:srgbClr val="00549F"/>
      </a:hlink>
      <a:folHlink>
        <a:srgbClr val="8EBAE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2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ARL English">
  <a:themeElements>
    <a:clrScheme name="Benutzerdefiniert 1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549F"/>
      </a:accent1>
      <a:accent2>
        <a:srgbClr val="0098A1"/>
      </a:accent2>
      <a:accent3>
        <a:srgbClr val="57AB27"/>
      </a:accent3>
      <a:accent4>
        <a:srgbClr val="F6A800"/>
      </a:accent4>
      <a:accent5>
        <a:srgbClr val="CC071E"/>
      </a:accent5>
      <a:accent6>
        <a:srgbClr val="612158"/>
      </a:accent6>
      <a:hlink>
        <a:srgbClr val="00549F"/>
      </a:hlink>
      <a:folHlink>
        <a:srgbClr val="8EBAE5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solidFill>
            <a:schemeClr val="tx2"/>
          </a:solidFill>
        </a:ln>
      </a:spPr>
      <a:bodyPr rtlCol="0" anchor="ctr"/>
      <a:lstStyle>
        <a:defPPr algn="ctr"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2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CARL</Template>
  <TotalTime>0</TotalTime>
  <Words>3004</Words>
  <Application>WPS 演示</Application>
  <PresentationFormat>自定义</PresentationFormat>
  <Paragraphs>126</Paragraphs>
  <Slides>8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9</vt:i4>
      </vt:variant>
      <vt:variant>
        <vt:lpstr>幻灯片标题</vt:lpstr>
      </vt:variant>
      <vt:variant>
        <vt:i4>8</vt:i4>
      </vt:variant>
    </vt:vector>
  </HeadingPairs>
  <TitlesOfParts>
    <vt:vector size="31" baseType="lpstr">
      <vt:lpstr>Arial</vt:lpstr>
      <vt:lpstr>宋体</vt:lpstr>
      <vt:lpstr>Wingdings</vt:lpstr>
      <vt:lpstr>Symbol</vt:lpstr>
      <vt:lpstr>Cambria Math</vt:lpstr>
      <vt:lpstr>MS Mincho</vt:lpstr>
      <vt:lpstr>AMGDT</vt:lpstr>
      <vt:lpstr>Wingdings</vt:lpstr>
      <vt:lpstr>微软雅黑</vt:lpstr>
      <vt:lpstr>Arial Unicode MS</vt:lpstr>
      <vt:lpstr>黑体</vt:lpstr>
      <vt:lpstr>Calibri</vt:lpstr>
      <vt:lpstr>CARL 16zu9</vt:lpstr>
      <vt:lpstr>CARL English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TCLayout.ActiveDocument.1</vt:lpstr>
      <vt:lpstr>Chemieübergreifende Transfer Learning für die  Vorhersage der Batteriekapazität von Li-Ion-Batterien  </vt:lpstr>
      <vt:lpstr>Aging mechanism in Li ion cells and calendar life predictions</vt:lpstr>
      <vt:lpstr>Data-driven state of health and state of safety estimation for alternative battery chemistries— A comparative review focusing on sodium-ion and LFP lithium-ion batteries</vt:lpstr>
      <vt:lpstr>Cycle life prediction of lithium-ion batteries based on data-driven methods</vt:lpstr>
      <vt:lpstr>Transfer learning for state-of-health prognostics of lithium-ion batteries:A survey</vt:lpstr>
      <vt:lpstr>Robust and data-efficient battery state of charge estimation via transfer learning-enhanced physics-informed neural networks</vt:lpstr>
      <vt:lpstr>Literature Review</vt:lpstr>
      <vt:lpstr>LFP 的 OCV 滞后效应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Verwendung der PowerPoint-Vorlage</dc:title>
  <dc:creator>Zijuan Hong</dc:creator>
  <cp:lastModifiedBy>1407726071</cp:lastModifiedBy>
  <cp:revision>27</cp:revision>
  <cp:lastPrinted>2016-04-11T06:30:00Z</cp:lastPrinted>
  <dcterms:created xsi:type="dcterms:W3CDTF">2026-04-21T09:31:00Z</dcterms:created>
  <dcterms:modified xsi:type="dcterms:W3CDTF">2026-05-06T05:48:34Z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DEF269845E534A35A1B17EC5BF2174C8_12</vt:lpwstr>
  </property>
</Properties>
</file>