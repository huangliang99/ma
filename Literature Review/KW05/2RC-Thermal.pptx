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11"/>
  </p:notesMasterIdLst>
  <p:handoutMasterIdLst>
    <p:handoutMasterId r:id="rId12"/>
  </p:handoutMasterIdLst>
  <p:sldIdLst>
    <p:sldId id="285" r:id="rId4"/>
    <p:sldId id="312" r:id="rId5"/>
    <p:sldId id="316" r:id="rId6"/>
    <p:sldId id="313" r:id="rId7"/>
    <p:sldId id="314" r:id="rId8"/>
    <p:sldId id="317" r:id="rId9"/>
    <p:sldId id="304" r:id="rId10"/>
  </p:sldIdLst>
  <p:sldSz cx="12190095" cy="6858000"/>
  <p:notesSz cx="6797675" cy="9926320"/>
  <p:custDataLst>
    <p:tags r:id="rId16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25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60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20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105" d="100"/>
          <a:sy n="105" d="100"/>
        </p:scale>
        <p:origin x="76" y="176"/>
      </p:cViewPr>
      <p:guideLst>
        <p:guide orient="horz" pos="2160"/>
        <p:guide orient="horz" pos="725"/>
        <p:guide orient="horz" pos="3706"/>
        <p:guide pos="242"/>
        <p:guide pos="3760"/>
        <p:guide pos="7437"/>
        <p:guide pos="427"/>
        <p:guide pos="7263"/>
        <p:guide pos="392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  <a:endParaRPr lang="de-DE" noProof="0" dirty="0"/>
          </a:p>
          <a:p>
            <a:pPr lvl="1"/>
            <a:r>
              <a:rPr lang="de-DE" noProof="0" dirty="0"/>
              <a:t>Zweite Ebene</a:t>
            </a:r>
            <a:endParaRPr lang="de-DE" noProof="0" dirty="0"/>
          </a:p>
          <a:p>
            <a:pPr lvl="2"/>
            <a:r>
              <a:rPr lang="de-DE" noProof="0" dirty="0"/>
              <a:t>Dritte Ebene</a:t>
            </a:r>
            <a:endParaRPr lang="de-DE" noProof="0" dirty="0"/>
          </a:p>
          <a:p>
            <a:pPr lvl="3"/>
            <a:r>
              <a:rPr lang="de-DE" noProof="0" dirty="0"/>
              <a:t>Vierte Ebene</a:t>
            </a:r>
            <a:endParaRPr lang="de-DE" noProof="0" dirty="0"/>
          </a:p>
          <a:p>
            <a:pPr lvl="4"/>
            <a:r>
              <a:rPr lang="de-DE" noProof="0" dirty="0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1" Type="http://schemas.openxmlformats.org/officeDocument/2006/relationships/vmlDrawing" Target="../drawings/vmlDrawing1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1" Type="http://schemas.openxmlformats.org/officeDocument/2006/relationships/vmlDrawing" Target="../drawings/vmlDrawing4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  <a:endParaRPr lang="en-US" dirty="0"/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  <a:endParaRPr lang="en-US" noProof="0" dirty="0"/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  <a:endParaRPr lang="de-DE" noProof="0" dirty="0"/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e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vmlDrawing" Target="../drawings/vmlDrawing3.vml"/><Relationship Id="rId10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vmlDrawing" Target="../drawings/vmlDrawing7.vml"/><Relationship Id="rId11" Type="http://schemas.openxmlformats.org/officeDocument/2006/relationships/image" Target="../media/image3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8" imgW="9525" imgH="9525" progId="TCLayout.ActiveDocument.1">
                  <p:embed/>
                </p:oleObj>
              </mc:Choice>
              <mc:Fallback>
                <p:oleObj name="think-cell Folie" r:id="rId8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10.bin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2RC</a:t>
            </a:r>
            <a:r>
              <a:rPr lang="zh-CN" altLang="en-US" dirty="0"/>
              <a:t>参数</a:t>
            </a:r>
            <a:r>
              <a:rPr lang="en-US" altLang="zh-CN" dirty="0"/>
              <a:t>-Comparative Study of Equivalent Circuit Models Performance</a:t>
            </a:r>
            <a:br>
              <a:rPr lang="en-US" altLang="zh-CN" dirty="0"/>
            </a:br>
            <a:r>
              <a:rPr lang="en-US" altLang="zh-CN" dirty="0"/>
              <a:t>in Four Common Lithium-Ion Batteries: LFP, NMC, LMO, NCA</a:t>
            </a:r>
            <a:endParaRPr lang="en-US" altLang="zh-CN" dirty="0"/>
          </a:p>
        </p:txBody>
      </p:sp>
      <p:graphicFrame>
        <p:nvGraphicFramePr>
          <p:cNvPr id="6" name="内容占位符 5"/>
          <p:cNvGraphicFramePr/>
          <p:nvPr>
            <p:ph idx="1"/>
          </p:nvPr>
        </p:nvGraphicFramePr>
        <p:xfrm>
          <a:off x="383950" y="1151999"/>
          <a:ext cx="8102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650"/>
                <a:gridCol w="2025650"/>
                <a:gridCol w="2025650"/>
                <a:gridCol w="20256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graphicFrame>
        <p:nvGraphicFramePr>
          <p:cNvPr id="7" name="表格 6"/>
          <p:cNvGraphicFramePr/>
          <p:nvPr/>
        </p:nvGraphicFramePr>
        <p:xfrm>
          <a:off x="384175" y="1151890"/>
          <a:ext cx="7952740" cy="1924050"/>
        </p:xfrm>
        <a:graphic>
          <a:graphicData uri="http://schemas.openxmlformats.org/drawingml/2006/table">
            <a:tbl>
              <a:tblPr/>
              <a:tblGrid>
                <a:gridCol w="1988185"/>
                <a:gridCol w="1988185"/>
                <a:gridCol w="1988185"/>
                <a:gridCol w="1988185"/>
              </a:tblGrid>
              <a:tr h="384810">
                <a:tc>
                  <a:txBody>
                    <a:bodyPr/>
                    <a:p>
                      <a:r>
                        <a:rPr lang="zh-CN" altLang="en-US" sz="1400">
                          <a:latin typeface="Arial" panose="020B0604020202020204" pitchFamily="34" charset="0"/>
                        </a:rPr>
                        <a:t>电池体系</a:t>
                      </a:r>
                      <a:endParaRPr lang="zh-CN" altLang="en-US" sz="14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厂商 </a:t>
                      </a:r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</a:t>
                      </a:r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型号</a:t>
                      </a:r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400">
                          <a:latin typeface="Arial" panose="020B0604020202020204" pitchFamily="34" charset="0"/>
                        </a:rPr>
                        <a:t>标称容量</a:t>
                      </a:r>
                      <a:endParaRPr lang="zh-CN" altLang="en-US" sz="14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400">
                          <a:latin typeface="Arial" panose="020B0604020202020204" pitchFamily="34" charset="0"/>
                        </a:rPr>
                        <a:t>标称电压</a:t>
                      </a:r>
                      <a:endParaRPr lang="zh-CN" altLang="en-US" sz="14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810"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LFP </a:t>
                      </a:r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磷酸铁锂</a:t>
                      </a:r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K2 Energy Solutions LFP26650P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2600 mAh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3.20 V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810"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NMC </a:t>
                      </a:r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镍锰钴酸锂</a:t>
                      </a:r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Samsung SDI INR18650-20S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 mAh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3.60 V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810"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LMO </a:t>
                      </a:r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锰酸锂</a:t>
                      </a:r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EFEST IMR18650V1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2600 mAh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3.70 V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810"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NCA </a:t>
                      </a:r>
                      <a:r>
                        <a:rPr lang="zh-CN" alt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镍钴铝酸锂</a:t>
                      </a:r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Panasonic NCR18650B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3200 mAh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3.60 V</a:t>
                      </a:r>
                      <a:endParaRPr lang="en-US" altLang="zh-C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75" y="3159760"/>
            <a:ext cx="9186545" cy="30714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2RC</a:t>
            </a:r>
            <a:r>
              <a:rPr lang="zh-CN" altLang="en-US" dirty="0">
                <a:sym typeface="+mn-ea"/>
              </a:rPr>
              <a:t>参数</a:t>
            </a:r>
            <a:r>
              <a:rPr lang="en-US" altLang="zh-CN" dirty="0">
                <a:sym typeface="+mn-ea"/>
              </a:rPr>
              <a:t>-Comparative Study of Equivalent Circuit Models Performance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in Four Common Lithium-Ion Batteries: LFP, NMC, LMO, NCA</a:t>
            </a:r>
            <a:endParaRPr lang="zh-CN" alt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文献采用的是等效电路模型参数辨识方法。它比较了三种 </a:t>
            </a:r>
            <a:r>
              <a:rPr lang="en-US" altLang="zh-CN">
                <a:sym typeface="+mn-ea"/>
              </a:rPr>
              <a:t>ECM：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zh-CN" altLang="en-US">
                <a:sym typeface="+mn-ea"/>
              </a:rPr>
              <a:t>一阶 </a:t>
            </a:r>
            <a:r>
              <a:rPr lang="en-US" altLang="zh-CN">
                <a:sym typeface="+mn-ea"/>
              </a:rPr>
              <a:t>RC </a:t>
            </a:r>
            <a:r>
              <a:rPr lang="zh-CN" altLang="en-US">
                <a:sym typeface="+mn-ea"/>
              </a:rPr>
              <a:t>模型，1</a:t>
            </a:r>
            <a:r>
              <a:rPr lang="en-US" altLang="zh-CN">
                <a:sym typeface="+mn-ea"/>
              </a:rPr>
              <a:t>RC；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zh-CN" altLang="en-US">
                <a:sym typeface="+mn-ea"/>
              </a:rPr>
              <a:t>二阶 </a:t>
            </a:r>
            <a:r>
              <a:rPr lang="en-US" altLang="zh-CN">
                <a:sym typeface="+mn-ea"/>
              </a:rPr>
              <a:t>RC </a:t>
            </a:r>
            <a:r>
              <a:rPr lang="zh-CN" altLang="en-US">
                <a:sym typeface="+mn-ea"/>
              </a:rPr>
              <a:t>模型，2</a:t>
            </a:r>
            <a:r>
              <a:rPr lang="en-US" altLang="zh-CN">
                <a:sym typeface="+mn-ea"/>
              </a:rPr>
              <a:t>RC；</a:t>
            </a:r>
            <a:endParaRPr lang="en-US" altLang="zh-CN">
              <a:cs typeface="Arial" panose="020B0604020202020204" pitchFamily="34" charset="0"/>
            </a:endParaRPr>
          </a:p>
          <a:p>
            <a:pPr lvl="1"/>
            <a:r>
              <a:rPr lang="zh-CN" altLang="en-US">
                <a:sym typeface="+mn-ea"/>
              </a:rPr>
              <a:t>带滞</a:t>
            </a:r>
            <a:r>
              <a:rPr lang="zh-CN" altLang="en-US">
                <a:sym typeface="+mn-ea"/>
              </a:rPr>
              <a:t>后的一阶 </a:t>
            </a:r>
            <a:r>
              <a:rPr lang="en-US" altLang="zh-CN">
                <a:sym typeface="+mn-ea"/>
              </a:rPr>
              <a:t>RC </a:t>
            </a:r>
            <a:r>
              <a:rPr lang="zh-CN" altLang="en-US">
                <a:sym typeface="+mn-ea"/>
              </a:rPr>
              <a:t>模型，1</a:t>
            </a:r>
            <a:r>
              <a:rPr lang="en-US" altLang="zh-CN">
                <a:sym typeface="+mn-ea"/>
              </a:rPr>
              <a:t>RC with hysteresis。</a:t>
            </a:r>
            <a:endParaRPr lang="zh-CN" altLang="en-US">
              <a:cs typeface="Arial" panose="020B0604020202020204" pitchFamily="34" charset="0"/>
            </a:endParaRP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参数辨识流程包括三步：</a:t>
            </a:r>
            <a:endParaRPr lang="zh-CN" altLang="en-US"/>
          </a:p>
          <a:p>
            <a:pPr lvl="1"/>
            <a:r>
              <a:rPr lang="zh-CN" altLang="en-US"/>
              <a:t>容量测试：用 1</a:t>
            </a:r>
            <a:r>
              <a:rPr lang="en-US" altLang="zh-CN"/>
              <a:t>C </a:t>
            </a:r>
            <a:r>
              <a:rPr lang="zh-CN" altLang="en-US"/>
              <a:t>充放电循环确认电池实际容量；</a:t>
            </a:r>
            <a:endParaRPr lang="zh-CN" altLang="en-US"/>
          </a:p>
          <a:p>
            <a:pPr lvl="1"/>
            <a:r>
              <a:rPr lang="en-US" altLang="zh-CN"/>
              <a:t>SOC–OCV </a:t>
            </a:r>
            <a:r>
              <a:rPr lang="zh-CN" altLang="en-US"/>
              <a:t>测试：用 </a:t>
            </a:r>
            <a:r>
              <a:rPr lang="en-US" altLang="zh-CN"/>
              <a:t>C/25 </a:t>
            </a:r>
            <a:r>
              <a:rPr lang="zh-CN" altLang="en-US"/>
              <a:t>小电流充放电建立 </a:t>
            </a:r>
            <a:r>
              <a:rPr lang="en-US" altLang="zh-CN"/>
              <a:t>SOC </a:t>
            </a:r>
            <a:r>
              <a:rPr lang="zh-CN" altLang="en-US"/>
              <a:t>与开路电压 </a:t>
            </a:r>
            <a:r>
              <a:rPr lang="en-US" altLang="zh-CN"/>
              <a:t>OCV </a:t>
            </a:r>
            <a:r>
              <a:rPr lang="zh-CN" altLang="en-US"/>
              <a:t>的关系；</a:t>
            </a:r>
            <a:endParaRPr lang="zh-CN" altLang="en-US"/>
          </a:p>
          <a:p>
            <a:pPr lvl="1"/>
            <a:r>
              <a:rPr lang="en-US" altLang="zh-CN"/>
              <a:t>HPPC </a:t>
            </a:r>
            <a:r>
              <a:rPr lang="zh-CN" altLang="en-US"/>
              <a:t>脉冲测试：在不同 </a:t>
            </a:r>
            <a:r>
              <a:rPr lang="en-US" altLang="zh-CN"/>
              <a:t>SOC </a:t>
            </a:r>
            <a:r>
              <a:rPr lang="zh-CN" altLang="en-US"/>
              <a:t>下施加放电脉冲、静置、充电脉冲，用电压响应辨识 </a:t>
            </a:r>
            <a:r>
              <a:rPr lang="en-US" altLang="zh-CN"/>
              <a:t>R0、R1、R2、C1、C2。</a:t>
            </a:r>
            <a:endParaRPr lang="en-US" altLang="zh-CN"/>
          </a:p>
          <a:p>
            <a:pPr lvl="0"/>
            <a:r>
              <a:rPr lang="zh-CN" altLang="en-US"/>
              <a:t>随后，作者使用 </a:t>
            </a:r>
            <a:r>
              <a:rPr lang="en-US" altLang="zh-CN"/>
              <a:t>MATLAB </a:t>
            </a:r>
            <a:r>
              <a:rPr lang="zh-CN" altLang="en-US"/>
              <a:t>中的 </a:t>
            </a:r>
            <a:r>
              <a:rPr lang="en-US" altLang="zh-CN"/>
              <a:t>nlinfit </a:t>
            </a:r>
            <a:r>
              <a:rPr lang="zh-CN" altLang="en-US"/>
              <a:t>非线性最小二乘拟合方法，基于 </a:t>
            </a:r>
            <a:r>
              <a:rPr lang="en-US" altLang="zh-CN"/>
              <a:t>HPPC </a:t>
            </a:r>
            <a:r>
              <a:rPr lang="zh-CN" altLang="en-US"/>
              <a:t>测得的电流和电压数据拟合 </a:t>
            </a:r>
            <a:r>
              <a:rPr lang="en-US" altLang="zh-CN"/>
              <a:t>ECM </a:t>
            </a:r>
            <a:r>
              <a:rPr lang="zh-CN" altLang="en-US"/>
              <a:t>参数。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11800" y="4445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2743200" imgH="4267200" progId="Equation.DSMT4">
                  <p:embed/>
                </p:oleObj>
              </mc:Choice>
              <mc:Fallback>
                <p:oleObj name="Equation" r:id="rId1" imgW="2743200" imgH="4267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11800" y="4445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热学参数</a:t>
            </a:r>
            <a:r>
              <a:rPr lang="en-US" altLang="zh-CN" dirty="0"/>
              <a:t>-Low-effort determination of heat capacity and thermal conductivity for cylindrical 18650 and 21700 lithium-ion cells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文献采用改进的</a:t>
            </a:r>
            <a:r>
              <a:rPr lang="en-US" altLang="zh-CN" dirty="0"/>
              <a:t>Bryden</a:t>
            </a:r>
            <a:r>
              <a:rPr lang="zh-CN" altLang="en-US" dirty="0"/>
              <a:t>热参数辨识方法:</a:t>
            </a:r>
            <a:endParaRPr lang="zh-CN" altLang="en-US" dirty="0"/>
          </a:p>
          <a:p>
            <a:pPr lvl="1"/>
            <a:r>
              <a:rPr lang="zh-CN" altLang="en-US" dirty="0"/>
              <a:t>1.用正弦交流电流给电芯内部产热;</a:t>
            </a:r>
            <a:endParaRPr lang="zh-CN" altLang="en-US" dirty="0"/>
          </a:p>
          <a:p>
            <a:pPr lvl="1"/>
            <a:r>
              <a:rPr lang="zh-CN" altLang="en-US" dirty="0"/>
              <a:t>2.在两种不同风速下加热/冷却电芯;</a:t>
            </a:r>
            <a:endParaRPr lang="zh-CN" altLang="en-US" dirty="0"/>
          </a:p>
          <a:p>
            <a:pPr lvl="1"/>
            <a:r>
              <a:rPr lang="zh-CN" altLang="en-US" dirty="0"/>
              <a:t>3.测量电芯壳体温度响应;</a:t>
            </a:r>
            <a:endParaRPr lang="zh-CN" altLang="en-US" dirty="0"/>
          </a:p>
          <a:p>
            <a:pPr lvl="1"/>
            <a:r>
              <a:rPr lang="zh-CN" altLang="en-US" dirty="0"/>
              <a:t>4.根据温升和热时间常数反算:</a:t>
            </a:r>
            <a:r>
              <a:rPr lang="en-US" altLang="zh-CN" dirty="0"/>
              <a:t>C</a:t>
            </a:r>
            <a:r>
              <a:rPr lang="en-US" altLang="zh-CN" baseline="-25000" dirty="0"/>
              <a:t>cell</a:t>
            </a:r>
            <a:r>
              <a:rPr lang="en-US" altLang="zh-CN" dirty="0"/>
              <a:t>, R</a:t>
            </a:r>
            <a:r>
              <a:rPr lang="en-US" altLang="zh-CN" baseline="-25000" dirty="0"/>
              <a:t>in</a:t>
            </a:r>
            <a:r>
              <a:rPr lang="en-US" altLang="zh-CN" dirty="0"/>
              <a:t>, R</a:t>
            </a:r>
            <a:r>
              <a:rPr lang="en-US" altLang="zh-CN" baseline="-25000" dirty="0"/>
              <a:t>out</a:t>
            </a:r>
            <a:endParaRPr lang="en-US" altLang="zh-CN" dirty="0"/>
          </a:p>
          <a:p>
            <a:pPr lvl="1"/>
            <a:r>
              <a:rPr lang="zh-CN" altLang="en-US" dirty="0"/>
              <a:t>5.进一步结合</a:t>
            </a:r>
            <a:r>
              <a:rPr lang="en-US" altLang="zh-CN" dirty="0"/>
              <a:t>CT</a:t>
            </a:r>
            <a:r>
              <a:rPr lang="zh-CN" altLang="en-US" dirty="0"/>
              <a:t>扫描和二维</a:t>
            </a:r>
            <a:r>
              <a:rPr lang="en-US" altLang="zh-CN" dirty="0"/>
              <a:t>FEM</a:t>
            </a:r>
            <a:r>
              <a:rPr lang="zh-CN" altLang="en-US" dirty="0"/>
              <a:t>模型，将</a:t>
            </a:r>
            <a:r>
              <a:rPr lang="en-US" altLang="zh-CN" dirty="0"/>
              <a:t>Rin</a:t>
            </a:r>
            <a:r>
              <a:rPr lang="zh-CN" altLang="en-US" dirty="0"/>
              <a:t>转换为径向导热系数。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  <a:p>
            <a:pPr lvl="0"/>
            <a:r>
              <a:rPr lang="zh-CN" altLang="en-US" dirty="0"/>
              <a:t>工况:</a:t>
            </a:r>
            <a:endParaRPr lang="zh-CN" altLang="en-US" dirty="0"/>
          </a:p>
          <a:p>
            <a:pPr lvl="1"/>
            <a:r>
              <a:rPr lang="zh-CN" altLang="en-US" dirty="0"/>
              <a:t>温度:约10°</a:t>
            </a:r>
            <a:r>
              <a:rPr lang="en-US" altLang="zh-CN" dirty="0"/>
              <a:t>C、25°C、40°C</a:t>
            </a:r>
            <a:endParaRPr lang="en-US" altLang="zh-CN" dirty="0"/>
          </a:p>
          <a:p>
            <a:pPr lvl="1"/>
            <a:r>
              <a:rPr lang="en-US" altLang="zh-CN" dirty="0"/>
              <a:t>S0C:</a:t>
            </a:r>
            <a:r>
              <a:rPr lang="zh-CN" altLang="en-US" dirty="0"/>
              <a:t>约10%/33%/70%</a:t>
            </a:r>
            <a:endParaRPr lang="zh-CN" altLang="en-US" dirty="0"/>
          </a:p>
          <a:p>
            <a:pPr lvl="1"/>
            <a:r>
              <a:rPr lang="zh-CN" altLang="en-US" dirty="0"/>
              <a:t>每个状态重复4-10次</a:t>
            </a:r>
            <a:endParaRPr lang="zh-CN" altLang="en-US" dirty="0"/>
          </a:p>
          <a:p>
            <a:pPr lvl="1"/>
            <a:r>
              <a:rPr lang="zh-CN" altLang="en-US" dirty="0"/>
              <a:t>风速:0.6 </a:t>
            </a:r>
            <a:r>
              <a:rPr lang="en-US" altLang="zh-CN" dirty="0"/>
              <a:t>m/s</a:t>
            </a:r>
            <a:r>
              <a:rPr lang="zh-CN" altLang="en-US" dirty="0"/>
              <a:t>与3.1 </a:t>
            </a:r>
            <a:r>
              <a:rPr lang="en-US" altLang="zh-CN" dirty="0"/>
              <a:t>m/s</a:t>
            </a:r>
            <a:endParaRPr lang="en-US" altLang="zh-CN" dirty="0"/>
          </a:p>
          <a:p>
            <a:pPr lvl="1"/>
            <a:r>
              <a:rPr lang="zh-CN" altLang="en-US" dirty="0"/>
              <a:t>加热电流:18650为3.35</a:t>
            </a:r>
            <a:r>
              <a:rPr lang="en-US" altLang="zh-CN" dirty="0"/>
              <a:t>A,21700</a:t>
            </a:r>
            <a:r>
              <a:rPr lang="zh-CN" altLang="en-US" dirty="0"/>
              <a:t>为3.5</a:t>
            </a:r>
            <a:r>
              <a:rPr lang="en-US" altLang="zh-CN" dirty="0"/>
              <a:t>A</a:t>
            </a:r>
            <a:endParaRPr lang="en-US" altLang="zh-CN" dirty="0"/>
          </a:p>
        </p:txBody>
      </p:sp>
      <p:graphicFrame>
        <p:nvGraphicFramePr>
          <p:cNvPr id="11" name="表格 10"/>
          <p:cNvGraphicFramePr/>
          <p:nvPr/>
        </p:nvGraphicFramePr>
        <p:xfrm>
          <a:off x="3274695" y="3112770"/>
          <a:ext cx="85324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电池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型号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正极 </a:t>
                      </a:r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负极</a:t>
                      </a:r>
                      <a:endParaRPr lang="zh-CN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容量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18650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Chem INR18650 MJ1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NMC811 / 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硅</a:t>
                      </a:r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石墨</a:t>
                      </a:r>
                      <a:endParaRPr lang="zh-CN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3.35 Ah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21700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Chem INR21700 M50T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NMC811 / 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硅</a:t>
                      </a:r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石墨</a:t>
                      </a:r>
                      <a:endParaRPr lang="zh-CN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4.85 Ah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热学参数</a:t>
            </a:r>
            <a:r>
              <a:rPr lang="en-US" altLang="zh-CN" dirty="0">
                <a:sym typeface="+mn-ea"/>
              </a:rPr>
              <a:t>-Low-effort determination of heat capacity and thermal conductivity for cylindrical 18650 and 21700 lithium-ion cells</a:t>
            </a:r>
            <a:endParaRPr lang="zh-CN" altLang="en-US"/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外部热阻</a:t>
            </a:r>
            <a:r>
              <a:rPr lang="en-US" altLang="zh-CN"/>
              <a:t>R</a:t>
            </a:r>
            <a:r>
              <a:rPr lang="en-US" altLang="zh-CN" baseline="-25000"/>
              <a:t>out</a:t>
            </a:r>
            <a:r>
              <a:rPr lang="zh-CN" altLang="en-US"/>
              <a:t>也有具体值，与风速/冷却条件有关:</a:t>
            </a:r>
            <a:endParaRPr lang="zh-CN" altLang="en-US"/>
          </a:p>
          <a:p>
            <a:pPr lvl="1"/>
            <a:r>
              <a:rPr lang="zh-CN" altLang="en-US"/>
              <a:t>18650 的 </a:t>
            </a:r>
            <a:r>
              <a:rPr lang="en-US" altLang="zh-CN"/>
              <a:t>R</a:t>
            </a:r>
            <a:r>
              <a:rPr lang="en-US" altLang="zh-CN" baseline="-25000"/>
              <a:t>out</a:t>
            </a:r>
            <a:r>
              <a:rPr lang="en-US" altLang="zh-CN"/>
              <a:t> </a:t>
            </a:r>
            <a:r>
              <a:rPr lang="zh-CN" altLang="en-US"/>
              <a:t>约为 13.2-14.4 </a:t>
            </a:r>
            <a:r>
              <a:rPr lang="en-US" altLang="zh-CN"/>
              <a:t>K/W </a:t>
            </a:r>
            <a:r>
              <a:rPr lang="zh-CN" altLang="en-US"/>
              <a:t>与4.1-4.3 </a:t>
            </a:r>
            <a:r>
              <a:rPr lang="en-US" altLang="zh-CN"/>
              <a:t>K/W;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15" name="标题 1"/>
          <p:cNvSpPr>
            <a:spLocks noGrp="1"/>
          </p:cNvSpPr>
          <p:nvPr/>
        </p:nvSpPr>
        <p:spPr>
          <a:xfrm>
            <a:off x="510950" y="328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zh-CN" dirty="0"/>
          </a:p>
        </p:txBody>
      </p:sp>
      <p:graphicFrame>
        <p:nvGraphicFramePr>
          <p:cNvPr id="19" name="表格 18"/>
          <p:cNvGraphicFramePr/>
          <p:nvPr/>
        </p:nvGraphicFramePr>
        <p:xfrm>
          <a:off x="384175" y="1151890"/>
          <a:ext cx="853249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电池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(C_{cell}) / (C_{th})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(R_{in}) / </a:t>
                      </a:r>
                      <a:r>
                        <a:rPr lang="zh-CN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内部 </a:t>
                      </a:r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(R_{th})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说明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18650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42.2–44.9 J/K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0.347–0.467 K/W</a:t>
                      </a:r>
                      <a:endParaRPr lang="en-US" altLang="zh-C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>
                          <a:latin typeface="Arial" panose="020B0604020202020204" pitchFamily="34" charset="0"/>
                        </a:rPr>
                        <a:t>随温度升高，热容增加</a:t>
                      </a:r>
                      <a:endParaRPr lang="zh-CN" altLang="en-US" sz="16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本周计划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Aufschlüsselung</a:t>
            </a:r>
            <a:r>
              <a:rPr lang="en-US" altLang="zh-CN" dirty="0"/>
              <a:t> des </a:t>
            </a:r>
            <a:r>
              <a:rPr lang="en-US" altLang="zh-CN" dirty="0" err="1"/>
              <a:t>Kapazitätsverlusts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KSO_WM_AICARD_INVALID" val="Invalid"/>
</p:tagLst>
</file>

<file path=ppt/tags/tag12.xml><?xml version="1.0" encoding="utf-8"?>
<p:tagLst xmlns:p="http://schemas.openxmlformats.org/presentationml/2006/main">
  <p:tag name="THINKCELLSHAPEDONOTDELETE" val="thinkcellActiveDocDoNotDelete"/>
</p:tagLst>
</file>

<file path=ppt/tags/tag13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0</TotalTime>
  <Words>1698</Words>
  <Application>WPS 演示</Application>
  <PresentationFormat>自定义</PresentationFormat>
  <Paragraphs>168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宋体</vt:lpstr>
      <vt:lpstr>Wingdings</vt:lpstr>
      <vt:lpstr>Symbol</vt:lpstr>
      <vt:lpstr>Cambria Math</vt:lpstr>
      <vt:lpstr>微软雅黑</vt:lpstr>
      <vt:lpstr>Arial Unicode MS</vt:lpstr>
      <vt:lpstr>黑体</vt:lpstr>
      <vt:lpstr>BatangChe</vt:lpstr>
      <vt:lpstr>AMGDT</vt:lpstr>
      <vt:lpstr>CARL 16zu9</vt:lpstr>
      <vt:lpstr>CARL English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Equation.DSMT4</vt:lpstr>
      <vt:lpstr>Chemieübergreifende Transfer Learning für die  Vorhersage der Batteriekapazität von Li-Ion-Batterien  </vt:lpstr>
      <vt:lpstr>Model</vt:lpstr>
      <vt:lpstr>电学模型</vt:lpstr>
      <vt:lpstr>热学</vt:lpstr>
      <vt:lpstr>热学参数-Low-effort determination of heat capacity and thermal conductivity for cylindrical 18650 and 21700 lithium-ion cells</vt:lpstr>
      <vt:lpstr>本周计划</vt:lpstr>
      <vt:lpstr>Aufschlüsselung des Kapazitätsverlusts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1407726071</cp:lastModifiedBy>
  <cp:revision>39</cp:revision>
  <cp:lastPrinted>2016-04-11T06:30:00Z</cp:lastPrinted>
  <dcterms:created xsi:type="dcterms:W3CDTF">2026-04-21T09:31:00Z</dcterms:created>
  <dcterms:modified xsi:type="dcterms:W3CDTF">2026-06-01T11:06:01Z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DEF269845E534A35A1B17EC5BF2174C8_12</vt:lpwstr>
  </property>
</Properties>
</file>