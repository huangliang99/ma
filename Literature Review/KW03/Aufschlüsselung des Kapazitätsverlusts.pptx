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7"/>
  </p:notesMasterIdLst>
  <p:handoutMasterIdLst>
    <p:handoutMasterId r:id="rId10"/>
  </p:handoutMasterIdLst>
  <p:sldIdLst>
    <p:sldId id="285" r:id="rId4"/>
    <p:sldId id="312" r:id="rId5"/>
    <p:sldId id="305" r:id="rId6"/>
    <p:sldId id="313" r:id="rId8"/>
    <p:sldId id="304" r:id="rId9"/>
  </p:sldIdLst>
  <p:sldSz cx="12190095" cy="6858000"/>
  <p:notesSz cx="6797675" cy="9926320"/>
  <p:custDataLst>
    <p:tags r:id="rId14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725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68" d="100"/>
          <a:sy n="68" d="100"/>
        </p:scale>
        <p:origin x="72" y="2082"/>
      </p:cViewPr>
      <p:guideLst>
        <p:guide orient="horz" pos="2160"/>
        <p:guide orient="horz" pos="725"/>
        <p:guide orient="horz" pos="3706"/>
        <p:guide pos="242"/>
        <p:guide pos="3782"/>
        <p:guide pos="7437"/>
        <p:guide pos="427"/>
        <p:guide pos="7263"/>
        <p:guide pos="39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.wmf"/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  <a:endParaRPr lang="de-DE" noProof="0" dirty="0"/>
          </a:p>
          <a:p>
            <a:pPr lvl="1"/>
            <a:r>
              <a:rPr lang="de-DE" noProof="0" dirty="0"/>
              <a:t>Zweite Ebene</a:t>
            </a:r>
            <a:endParaRPr lang="de-DE" noProof="0" dirty="0"/>
          </a:p>
          <a:p>
            <a:pPr lvl="2"/>
            <a:r>
              <a:rPr lang="de-DE" noProof="0" dirty="0"/>
              <a:t>Dritte Ebene</a:t>
            </a:r>
            <a:endParaRPr lang="de-DE" noProof="0" dirty="0"/>
          </a:p>
          <a:p>
            <a:pPr lvl="3"/>
            <a:r>
              <a:rPr lang="de-DE" noProof="0" dirty="0"/>
              <a:t>Vierte Ebene</a:t>
            </a:r>
            <a:endParaRPr lang="de-DE" noProof="0" dirty="0"/>
          </a:p>
          <a:p>
            <a:pPr lvl="4"/>
            <a:r>
              <a:rPr lang="de-DE" noProof="0" dirty="0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1" Type="http://schemas.openxmlformats.org/officeDocument/2006/relationships/vmlDrawing" Target="../drawings/vmlDrawing1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1" Type="http://schemas.openxmlformats.org/officeDocument/2006/relationships/vmlDrawing" Target="../drawings/vmlDrawing4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  <a:endParaRPr lang="en-US" dirty="0"/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  <a:endParaRPr lang="en-US" noProof="0" dirty="0"/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  <a:endParaRPr lang="de-DE" noProof="0" dirty="0"/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e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vmlDrawing" Target="../drawings/vmlDrawing3.vml"/><Relationship Id="rId10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vmlDrawing" Target="../drawings/vmlDrawing7.vml"/><Relationship Id="rId11" Type="http://schemas.openxmlformats.org/officeDocument/2006/relationships/image" Target="../media/image3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8" imgW="9525" imgH="9525" progId="TCLayout.ActiveDocument.1">
                  <p:embed/>
                </p:oleObj>
              </mc:Choice>
              <mc:Fallback>
                <p:oleObj name="think-cell Folie" r:id="rId8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oleObject" Target="../embeddings/oleObject12.bin"/><Relationship Id="rId7" Type="http://schemas.openxmlformats.org/officeDocument/2006/relationships/image" Target="../media/image14.wmf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Relationship Id="rId3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9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10.xml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13.bin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理论</a:t>
            </a:r>
            <a:endParaRPr lang="en-US" altLang="zh-C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zh-CN" altLang="en-US" sz="2000" dirty="0"/>
              </a:p>
              <a:p>
                <a:r>
                  <a:rPr sz="2000" dirty="0" err="1">
                    <a:sym typeface="+mn-ea"/>
                  </a:rPr>
                  <a:t>日历老化遵循</a:t>
                </a:r>
                <a:r>
                  <a:rPr sz="2000" dirty="0">
                    <a:sym typeface="+mn-ea"/>
                  </a:rPr>
                  <a:t> Arrhenius </a:t>
                </a:r>
                <a:r>
                  <a:rPr sz="2000" dirty="0" err="1">
                    <a:sym typeface="+mn-ea"/>
                  </a:rPr>
                  <a:t>与电压应力模型</a:t>
                </a:r>
                <a:r>
                  <a:rPr sz="2000" dirty="0">
                    <a:sym typeface="+mn-ea"/>
                  </a:rPr>
                  <a:t>：</a:t>
                </a:r>
                <a:endParaRPr sz="2000" dirty="0">
                  <a:sym typeface="+mn-ea"/>
                </a:endParaRPr>
              </a:p>
              <a:p>
                <a:pPr lvl="1"/>
                <a:r>
                  <a:rPr sz="2000" dirty="0">
                    <a:sym typeface="+mn-ea"/>
                  </a:rPr>
                  <a:t>  -</a:t>
                </a:r>
                <a:r>
                  <a:rPr lang="en-US" sz="2000" dirty="0">
                    <a:sym typeface="+mn-ea"/>
                  </a:rPr>
                  <a:t> 			   </a:t>
                </a:r>
                <a:endParaRPr lang="en-US" sz="2000" dirty="0">
                  <a:sym typeface="+mn-ea"/>
                </a:endParaRPr>
              </a:p>
              <a:p>
                <a:pPr lvl="1"/>
                <a:endParaRPr lang="en-US" sz="2000" dirty="0">
                  <a:sym typeface="+mn-ea"/>
                </a:endParaRPr>
              </a:p>
              <a:p>
                <a:r>
                  <a:rPr sz="2000" dirty="0" err="1">
                    <a:sym typeface="+mn-ea"/>
                  </a:rPr>
                  <a:t>老化速率系数</a:t>
                </a:r>
                <a:r>
                  <a:rPr sz="2000" dirty="0">
                    <a:sym typeface="+mn-ea"/>
                  </a:rPr>
                  <a:t> α </a:t>
                </a:r>
                <a:r>
                  <a:rPr sz="2000" dirty="0" err="1">
                    <a:sym typeface="+mn-ea"/>
                  </a:rPr>
                  <a:t>的动态计算</a:t>
                </a:r>
                <a:r>
                  <a:rPr sz="2000" dirty="0">
                    <a:sym typeface="+mn-ea"/>
                  </a:rPr>
                  <a:t>：</a:t>
                </a:r>
                <a:endParaRPr sz="2000" dirty="0">
                  <a:sym typeface="+mn-ea"/>
                </a:endParaRPr>
              </a:p>
              <a:p>
                <a:pPr lvl="1"/>
                <a:r>
                  <a:rPr sz="2000" dirty="0">
                    <a:sym typeface="+mn-ea"/>
                  </a:rPr>
                  <a:t>  - </a:t>
                </a:r>
                <a:r>
                  <a:rPr sz="2000" dirty="0" err="1">
                    <a:sym typeface="+mn-ea"/>
                  </a:rPr>
                  <a:t>引入温度</a:t>
                </a:r>
                <a:r>
                  <a:rPr sz="2000" dirty="0">
                    <a:sym typeface="+mn-ea"/>
                  </a:rPr>
                  <a:t> Arrhenius </a:t>
                </a:r>
                <a:r>
                  <a:rPr sz="2000" dirty="0" err="1">
                    <a:sym typeface="+mn-ea"/>
                  </a:rPr>
                  <a:t>项（激活能</a:t>
                </a:r>
                <a:r>
                  <a:rPr sz="2000" dirty="0"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𝐸𝑎</m:t>
                    </m:r>
                  </m:oMath>
                </a14:m>
                <a:r>
                  <a:rPr sz="2000" dirty="0">
                    <a:sym typeface="+mn-ea"/>
                  </a:rPr>
                  <a:t>）</a:t>
                </a:r>
                <a:endParaRPr lang="en-US" sz="2000" dirty="0">
                  <a:sym typeface="+mn-ea"/>
                </a:endParaRPr>
              </a:p>
              <a:p>
                <a:pPr lvl="1"/>
                <a:endParaRPr lang="en-US" sz="2000" dirty="0">
                  <a:sym typeface="+mn-ea"/>
                </a:endParaRPr>
              </a:p>
              <a:p>
                <a:pPr lvl="1"/>
                <a:endParaRPr sz="2000" dirty="0">
                  <a:sym typeface="+mn-ea"/>
                </a:endParaRPr>
              </a:p>
              <a:p>
                <a:pPr lvl="1"/>
                <a:r>
                  <a:rPr sz="2000" dirty="0">
                    <a:sym typeface="+mn-ea"/>
                  </a:rPr>
                  <a:t>  - </a:t>
                </a:r>
                <a:r>
                  <a:rPr sz="2000" dirty="0" err="1">
                    <a:sym typeface="+mn-ea"/>
                  </a:rPr>
                  <a:t>引入电压应力项</a:t>
                </a:r>
                <a:r>
                  <a:rPr sz="2000" dirty="0">
                    <a:sym typeface="+mn-ea"/>
                  </a:rPr>
                  <a:t> </a:t>
                </a:r>
                <a:r>
                  <a:rPr lang="en-US" sz="2000" dirty="0">
                    <a:sym typeface="+mn-ea"/>
                  </a:rPr>
                  <a:t>			</a:t>
                </a:r>
                <a:endParaRPr lang="en-US" sz="2000" dirty="0">
                  <a:sym typeface="+mn-ea"/>
                </a:endParaRPr>
              </a:p>
              <a:p>
                <a:pPr lvl="1"/>
                <a:endParaRPr lang="en-US" sz="2000" dirty="0">
                  <a:sym typeface="+mn-ea"/>
                </a:endParaRPr>
              </a:p>
              <a:p>
                <a:pPr lvl="1"/>
                <a:endParaRPr lang="en-US" sz="2000" dirty="0">
                  <a:sym typeface="+mn-ea"/>
                </a:endParaRPr>
              </a:p>
              <a:p>
                <a:pPr lvl="1"/>
                <a:endParaRPr lang="en-US" altLang="zh-CN" sz="2000" dirty="0"/>
              </a:p>
              <a:p>
                <a:pPr lvl="1"/>
                <a:endParaRPr sz="2000" dirty="0">
                  <a:sym typeface="+mn-ea"/>
                </a:endParaRPr>
              </a:p>
            </p:txBody>
          </p:sp>
        </mc:Choice>
        <mc:Fallback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072579" y="1836166"/>
          <a:ext cx="2417238" cy="5046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1156970" imgH="242570" progId="Equation.DSMT4">
                  <p:embed/>
                </p:oleObj>
              </mc:Choice>
              <mc:Fallback>
                <p:oleObj name="Equation" r:id="rId2" imgW="1156970" imgH="24257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2579" y="1836166"/>
                        <a:ext cx="2417238" cy="5046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112723" y="3801452"/>
          <a:ext cx="3951748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57912000" imgH="7924800" progId="Equation.DSMT4">
                  <p:embed/>
                </p:oleObj>
              </mc:Choice>
              <mc:Fallback>
                <p:oleObj name="Equation" r:id="rId4" imgW="57912000" imgH="79248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12723" y="3801452"/>
                        <a:ext cx="3951748" cy="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71086" y="4517137"/>
          <a:ext cx="38084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6" imgW="40843200" imgH="5791200" progId="Equation.DSMT4">
                  <p:embed/>
                </p:oleObj>
              </mc:Choice>
              <mc:Fallback>
                <p:oleObj name="Equation" r:id="rId6" imgW="40843200" imgH="5791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1086" y="4517137"/>
                        <a:ext cx="380841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974725" y="3287713"/>
          <a:ext cx="1922463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8" imgW="35966400" imgH="12801600" progId="Equation.DSMT4">
                  <p:embed/>
                </p:oleObj>
              </mc:Choice>
              <mc:Fallback>
                <p:oleObj name="Equation" r:id="rId8" imgW="35966400" imgH="12801600" progId="Equation.DSMT4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74725" y="3287713"/>
                        <a:ext cx="1922463" cy="684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箭头: 右 12"/>
          <p:cNvSpPr/>
          <p:nvPr/>
        </p:nvSpPr>
        <p:spPr>
          <a:xfrm>
            <a:off x="5423679" y="3801452"/>
            <a:ext cx="1179863" cy="540000"/>
          </a:xfrm>
          <a:prstGeom prst="rightArrow">
            <a:avLst/>
          </a:prstGeom>
          <a:solidFill>
            <a:schemeClr val="bg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000" dirty="0"/>
              <a:t>老化成分拆解</a:t>
            </a:r>
            <a:endParaRPr lang="en-US" altLang="zh-CN" sz="20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初始已有损耗（灰色）：量化入库时的电池状态（</a:t>
            </a:r>
            <a:r>
              <a:rPr lang="en-US" altLang="zh-CN" dirty="0"/>
              <a:t>SOH 96%</a:t>
            </a:r>
            <a:r>
              <a:rPr lang="zh-CN" altLang="en-US" dirty="0"/>
              <a:t>）。</a:t>
            </a:r>
            <a:endParaRPr lang="zh-CN" altLang="en-US" dirty="0"/>
          </a:p>
          <a:p>
            <a:r>
              <a:rPr lang="zh-CN" altLang="en-US" dirty="0"/>
              <a:t>日历损耗（蓝色）：基于电压积分剥离出的时间相关衰减。</a:t>
            </a:r>
            <a:endParaRPr lang="zh-CN" altLang="en-US" dirty="0"/>
          </a:p>
          <a:p>
            <a:r>
              <a:rPr lang="zh-CN" altLang="en-US" dirty="0"/>
              <a:t>循环损耗（红色）：剔除干扰后的本质循环磨损。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244" y="2631476"/>
            <a:ext cx="11412219" cy="30745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物理验证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数据清洗：剔除前两个处于测量底噪区的初始噪声点</a:t>
            </a:r>
            <a:endParaRPr lang="en-US" altLang="zh-CN" dirty="0"/>
          </a:p>
          <a:p>
            <a:r>
              <a:rPr lang="zh-CN" altLang="en-US" dirty="0"/>
              <a:t>回归分析：</a:t>
            </a:r>
            <a:r>
              <a:rPr lang="en-US" altLang="zh-CN" dirty="0"/>
              <a:t>Pure Cycle Loss vs Cumulative Ah</a:t>
            </a:r>
            <a:endParaRPr lang="en-US" altLang="zh-CN" dirty="0"/>
          </a:p>
          <a:p>
            <a:r>
              <a:rPr lang="zh-CN" altLang="en-US" dirty="0"/>
              <a:t>结果：</a:t>
            </a:r>
            <a:endParaRPr lang="zh-CN" altLang="en-US" dirty="0"/>
          </a:p>
          <a:p>
            <a:pPr lvl="1"/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稳态阶段 </a:t>
            </a:r>
            <a:r>
              <a:rPr lang="en-US" altLang="zh-CN" dirty="0"/>
              <a:t>R² &gt; 0.94</a:t>
            </a:r>
            <a:r>
              <a:rPr lang="zh-CN" altLang="en-US" dirty="0"/>
              <a:t>，证明了剥离逻辑的物理准确性。</a:t>
            </a:r>
            <a:endParaRPr lang="zh-CN" altLang="en-US" dirty="0"/>
          </a:p>
          <a:p>
            <a:pPr lvl="1"/>
            <a:r>
              <a:rPr lang="zh-CN" altLang="en-US" dirty="0"/>
              <a:t>  </a:t>
            </a:r>
            <a:r>
              <a:rPr lang="en-US" altLang="zh-CN" dirty="0"/>
              <a:t>- </a:t>
            </a:r>
            <a:r>
              <a:rPr lang="zh-CN" altLang="en-US" dirty="0"/>
              <a:t>后期散点略低于拟合线：</a:t>
            </a:r>
            <a:endParaRPr lang="en-US" altLang="zh-CN" dirty="0"/>
          </a:p>
          <a:p>
            <a:pPr lvl="2"/>
            <a:r>
              <a:rPr lang="zh-CN" altLang="en-US" dirty="0"/>
              <a:t>可能是日历老化计算占比过多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2492" y="2897054"/>
            <a:ext cx="5010777" cy="2986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Aufschlüsselung</a:t>
            </a:r>
            <a:r>
              <a:rPr lang="en-US" altLang="zh-CN" dirty="0"/>
              <a:t> des </a:t>
            </a:r>
            <a:r>
              <a:rPr lang="en-US" altLang="zh-CN" dirty="0" err="1"/>
              <a:t>Kapazitätsverlusts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0</TotalTime>
  <Words>514</Words>
  <Application>WPS 演示</Application>
  <PresentationFormat>自定义</PresentationFormat>
  <Paragraphs>61</Paragraphs>
  <Slides>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13</vt:i4>
      </vt:variant>
      <vt:variant>
        <vt:lpstr>幻灯片标题</vt:lpstr>
      </vt:variant>
      <vt:variant>
        <vt:i4>5</vt:i4>
      </vt:variant>
    </vt:vector>
  </HeadingPairs>
  <TitlesOfParts>
    <vt:vector size="28" baseType="lpstr">
      <vt:lpstr>Arial</vt:lpstr>
      <vt:lpstr>宋体</vt:lpstr>
      <vt:lpstr>Wingdings</vt:lpstr>
      <vt:lpstr>Symbol</vt:lpstr>
      <vt:lpstr>Cambria Math</vt:lpstr>
      <vt:lpstr>微软雅黑</vt:lpstr>
      <vt:lpstr>Arial Unicode MS</vt:lpstr>
      <vt:lpstr>黑体</vt:lpstr>
      <vt:lpstr>CARL 16zu9</vt:lpstr>
      <vt:lpstr>CARL English</vt:lpstr>
      <vt:lpstr>TCLayout.ActiveDocument.1</vt:lpstr>
      <vt:lpstr>Equation.DSMT4</vt:lpstr>
      <vt:lpstr>Equation.DSMT4</vt:lpstr>
      <vt:lpstr>Equation.DSMT4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Equation.DSMT4</vt:lpstr>
      <vt:lpstr>Chemieübergreifende Transfer Learning für die  Vorhersage der Batteriekapazität von Li-Ion-Batterien  </vt:lpstr>
      <vt:lpstr>理论</vt:lpstr>
      <vt:lpstr>老化成分拆解</vt:lpstr>
      <vt:lpstr>物理验证</vt:lpstr>
      <vt:lpstr>Aufschlüsselung des Kapazitätsverlusts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1407726071</cp:lastModifiedBy>
  <cp:revision>32</cp:revision>
  <cp:lastPrinted>2016-04-11T06:30:00Z</cp:lastPrinted>
  <dcterms:created xsi:type="dcterms:W3CDTF">2026-04-21T09:31:00Z</dcterms:created>
  <dcterms:modified xsi:type="dcterms:W3CDTF">2026-05-17T20:57:51Z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DEF269845E534A35A1B17EC5BF2174C8_12</vt:lpwstr>
  </property>
</Properties>
</file>